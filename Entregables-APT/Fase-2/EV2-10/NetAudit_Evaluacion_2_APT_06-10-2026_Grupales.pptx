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El </a:t>
            </a:r>
            <a:r>
              <a:rPr dirty="0" err="1"/>
              <a:t>avance</a:t>
            </a:r>
            <a:r>
              <a:rPr dirty="0"/>
              <a:t> de </a:t>
            </a:r>
            <a:r>
              <a:rPr dirty="0" err="1"/>
              <a:t>esta</a:t>
            </a:r>
            <a:r>
              <a:rPr dirty="0"/>
              <a:t> </a:t>
            </a:r>
            <a:r>
              <a:rPr dirty="0" err="1"/>
              <a:t>evaluación</a:t>
            </a:r>
            <a:r>
              <a:rPr dirty="0"/>
              <a:t> se </a:t>
            </a:r>
            <a:r>
              <a:rPr dirty="0" err="1"/>
              <a:t>concentra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validación</a:t>
            </a:r>
            <a:r>
              <a:rPr dirty="0"/>
              <a:t> de redes. Las </a:t>
            </a:r>
            <a:r>
              <a:rPr dirty="0" err="1"/>
              <a:t>primeras</a:t>
            </a:r>
            <a:r>
              <a:rPr dirty="0"/>
              <a:t> </a:t>
            </a:r>
            <a:r>
              <a:rPr dirty="0" err="1"/>
              <a:t>cinco</a:t>
            </a:r>
            <a:r>
              <a:rPr dirty="0"/>
              <a:t> </a:t>
            </a:r>
            <a:r>
              <a:rPr dirty="0" err="1"/>
              <a:t>actividades</a:t>
            </a:r>
            <a:r>
              <a:rPr dirty="0"/>
              <a:t> </a:t>
            </a:r>
            <a:r>
              <a:rPr dirty="0" err="1"/>
              <a:t>están</a:t>
            </a:r>
            <a:r>
              <a:rPr dirty="0"/>
              <a:t> </a:t>
            </a:r>
            <a:r>
              <a:rPr dirty="0" err="1"/>
              <a:t>completas</a:t>
            </a:r>
            <a:r>
              <a:rPr dirty="0"/>
              <a:t> para el </a:t>
            </a:r>
            <a:r>
              <a:rPr dirty="0" err="1"/>
              <a:t>alcance</a:t>
            </a:r>
            <a:r>
              <a:rPr dirty="0"/>
              <a:t> actual, no para el </a:t>
            </a:r>
            <a:r>
              <a:rPr dirty="0" err="1"/>
              <a:t>proyecto</a:t>
            </a:r>
            <a:r>
              <a:rPr dirty="0"/>
              <a:t> </a:t>
            </a:r>
            <a:r>
              <a:rPr dirty="0" err="1"/>
              <a:t>completo</a:t>
            </a:r>
            <a:r>
              <a:rPr dirty="0"/>
              <a:t>. El </a:t>
            </a:r>
            <a:r>
              <a:rPr dirty="0" err="1"/>
              <a:t>catálogo</a:t>
            </a:r>
            <a:r>
              <a:rPr dirty="0"/>
              <a:t> </a:t>
            </a:r>
            <a:r>
              <a:rPr dirty="0" err="1"/>
              <a:t>alcanza</a:t>
            </a:r>
            <a:r>
              <a:rPr dirty="0"/>
              <a:t> 21 </a:t>
            </a:r>
            <a:r>
              <a:rPr dirty="0" err="1"/>
              <a:t>controles</a:t>
            </a:r>
            <a:r>
              <a:rPr dirty="0"/>
              <a:t>, </a:t>
            </a:r>
            <a:r>
              <a:rPr dirty="0" err="1"/>
              <a:t>dentro</a:t>
            </a:r>
            <a:r>
              <a:rPr dirty="0"/>
              <a:t> del </a:t>
            </a:r>
            <a:r>
              <a:rPr dirty="0" err="1"/>
              <a:t>rango</a:t>
            </a:r>
            <a:r>
              <a:rPr dirty="0"/>
              <a:t> </a:t>
            </a:r>
            <a:r>
              <a:rPr dirty="0" err="1"/>
              <a:t>objetivo</a:t>
            </a:r>
            <a:r>
              <a:rPr dirty="0"/>
              <a:t> del MVP, con </a:t>
            </a:r>
            <a:r>
              <a:rPr dirty="0" err="1"/>
              <a:t>cobertura</a:t>
            </a:r>
            <a:r>
              <a:rPr dirty="0"/>
              <a:t> </a:t>
            </a:r>
            <a:r>
              <a:rPr dirty="0" err="1"/>
              <a:t>acotada</a:t>
            </a:r>
            <a:r>
              <a:rPr dirty="0"/>
              <a:t> de </a:t>
            </a:r>
            <a:r>
              <a:rPr dirty="0" err="1"/>
              <a:t>sintaxis</a:t>
            </a:r>
            <a:r>
              <a:rPr dirty="0"/>
              <a:t> y </a:t>
            </a:r>
            <a:r>
              <a:rPr dirty="0" err="1"/>
              <a:t>escenarios</a:t>
            </a:r>
            <a:r>
              <a:rPr dirty="0"/>
              <a:t> Cisco IOS/IOS XE.</a:t>
            </a:r>
          </a:p>
          <a:p>
            <a:r>
              <a:rPr dirty="0" err="1"/>
              <a:t>Pruebas</a:t>
            </a:r>
            <a:r>
              <a:rPr dirty="0"/>
              <a:t> y </a:t>
            </a:r>
            <a:r>
              <a:rPr dirty="0" err="1"/>
              <a:t>validación</a:t>
            </a:r>
            <a:r>
              <a:rPr dirty="0"/>
              <a:t>: 65% es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estimación</a:t>
            </a:r>
            <a:r>
              <a:rPr dirty="0"/>
              <a:t> </a:t>
            </a:r>
            <a:r>
              <a:rPr dirty="0" err="1"/>
              <a:t>conservadora</a:t>
            </a:r>
            <a:r>
              <a:rPr dirty="0"/>
              <a:t> del </a:t>
            </a:r>
            <a:r>
              <a:rPr dirty="0" err="1"/>
              <a:t>equipo</a:t>
            </a:r>
            <a:r>
              <a:rPr dirty="0"/>
              <a:t> para la </a:t>
            </a:r>
            <a:r>
              <a:rPr dirty="0" err="1"/>
              <a:t>actividad</a:t>
            </a:r>
            <a:r>
              <a:rPr dirty="0"/>
              <a:t> completa. </a:t>
            </a:r>
            <a:r>
              <a:rPr dirty="0" err="1"/>
              <a:t>Reconoce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suite de 703 </a:t>
            </a:r>
            <a:r>
              <a:rPr dirty="0" err="1"/>
              <a:t>pruebas</a:t>
            </a:r>
            <a:r>
              <a:rPr dirty="0"/>
              <a:t> de software, </a:t>
            </a:r>
            <a:r>
              <a:rPr dirty="0" err="1"/>
              <a:t>tres</a:t>
            </a:r>
            <a:r>
              <a:rPr dirty="0"/>
              <a:t> </a:t>
            </a:r>
            <a:r>
              <a:rPr dirty="0" err="1"/>
              <a:t>escenarios</a:t>
            </a:r>
            <a:r>
              <a:rPr dirty="0"/>
              <a:t> con 63 </a:t>
            </a:r>
            <a:r>
              <a:rPr dirty="0" err="1"/>
              <a:t>comparaciones</a:t>
            </a:r>
            <a:r>
              <a:rPr dirty="0"/>
              <a:t> y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validación</a:t>
            </a:r>
            <a:r>
              <a:rPr dirty="0"/>
              <a:t> manual real de </a:t>
            </a:r>
            <a:r>
              <a:rPr dirty="0" err="1"/>
              <a:t>laboratorio</a:t>
            </a:r>
            <a:r>
              <a:rPr dirty="0"/>
              <a:t>. No es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medición</a:t>
            </a:r>
            <a:r>
              <a:rPr dirty="0"/>
              <a:t> </a:t>
            </a:r>
            <a:r>
              <a:rPr dirty="0" err="1"/>
              <a:t>automática</a:t>
            </a:r>
            <a:r>
              <a:rPr dirty="0"/>
              <a:t> </a:t>
            </a:r>
            <a:r>
              <a:rPr dirty="0" err="1"/>
              <a:t>ni</a:t>
            </a:r>
            <a:r>
              <a:rPr dirty="0"/>
              <a:t> el </a:t>
            </a:r>
            <a:r>
              <a:rPr dirty="0" err="1"/>
              <a:t>promedio</a:t>
            </a:r>
            <a:r>
              <a:rPr dirty="0"/>
              <a:t> de </a:t>
            </a:r>
            <a:r>
              <a:rPr dirty="0" err="1"/>
              <a:t>estas</a:t>
            </a:r>
            <a:r>
              <a:rPr dirty="0"/>
              <a:t> </a:t>
            </a:r>
            <a:r>
              <a:rPr dirty="0" err="1"/>
              <a:t>métricas</a:t>
            </a:r>
            <a:r>
              <a:rPr dirty="0"/>
              <a:t>. Falta </a:t>
            </a:r>
            <a:r>
              <a:rPr dirty="0" err="1"/>
              <a:t>validación</a:t>
            </a:r>
            <a:r>
              <a:rPr dirty="0"/>
              <a:t> final del </a:t>
            </a:r>
            <a:r>
              <a:rPr dirty="0" err="1"/>
              <a:t>prototipo</a:t>
            </a:r>
            <a:r>
              <a:rPr dirty="0"/>
              <a:t> </a:t>
            </a:r>
            <a:r>
              <a:rPr dirty="0" err="1"/>
              <a:t>integrado</a:t>
            </a:r>
            <a:r>
              <a:rPr dirty="0"/>
              <a:t>, </a:t>
            </a:r>
            <a:r>
              <a:rPr dirty="0" err="1"/>
              <a:t>interfaz</a:t>
            </a:r>
            <a:r>
              <a:rPr dirty="0"/>
              <a:t>/</a:t>
            </a:r>
            <a:r>
              <a:rPr dirty="0" err="1"/>
              <a:t>reportes</a:t>
            </a:r>
            <a:r>
              <a:rPr dirty="0"/>
              <a:t>, </a:t>
            </a:r>
            <a:r>
              <a:rPr dirty="0" err="1"/>
              <a:t>revisión</a:t>
            </a:r>
            <a:r>
              <a:rPr dirty="0"/>
              <a:t> </a:t>
            </a:r>
            <a:r>
              <a:rPr dirty="0" err="1"/>
              <a:t>académica</a:t>
            </a:r>
            <a:r>
              <a:rPr dirty="0"/>
              <a:t> de </a:t>
            </a:r>
            <a:r>
              <a:rPr dirty="0" err="1"/>
              <a:t>criterios</a:t>
            </a:r>
            <a:r>
              <a:rPr dirty="0"/>
              <a:t> y </a:t>
            </a:r>
            <a:r>
              <a:rPr dirty="0" err="1"/>
              <a:t>cierre</a:t>
            </a:r>
            <a:r>
              <a:rPr dirty="0"/>
              <a:t>.</a:t>
            </a:r>
          </a:p>
          <a:p>
            <a:r>
              <a:rPr dirty="0"/>
              <a:t>El </a:t>
            </a:r>
            <a:r>
              <a:rPr dirty="0" err="1"/>
              <a:t>equipo</a:t>
            </a:r>
            <a:r>
              <a:rPr dirty="0"/>
              <a:t> </a:t>
            </a:r>
            <a:r>
              <a:rPr dirty="0" err="1"/>
              <a:t>confirma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S8,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transición</a:t>
            </a:r>
            <a:r>
              <a:rPr dirty="0"/>
              <a:t> a S9. </a:t>
            </a:r>
            <a:r>
              <a:rPr dirty="0" err="1"/>
              <a:t>Interfaz</a:t>
            </a:r>
            <a:r>
              <a:rPr dirty="0"/>
              <a:t> y </a:t>
            </a:r>
            <a:r>
              <a:rPr dirty="0" err="1"/>
              <a:t>reportes</a:t>
            </a:r>
            <a:r>
              <a:rPr dirty="0"/>
              <a:t> </a:t>
            </a:r>
            <a:r>
              <a:rPr dirty="0" err="1"/>
              <a:t>registra</a:t>
            </a:r>
            <a:r>
              <a:rPr dirty="0"/>
              <a:t> 0% y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planificada</a:t>
            </a:r>
            <a:r>
              <a:rPr dirty="0"/>
              <a:t> para S10–S13: </a:t>
            </a:r>
            <a:r>
              <a:rPr dirty="0" err="1"/>
              <a:t>aún</a:t>
            </a:r>
            <a:r>
              <a:rPr dirty="0"/>
              <a:t> no </a:t>
            </a:r>
            <a:r>
              <a:rPr dirty="0" err="1"/>
              <a:t>corresponde</a:t>
            </a:r>
            <a:r>
              <a:rPr dirty="0"/>
              <a:t> </a:t>
            </a:r>
            <a:r>
              <a:rPr dirty="0" err="1"/>
              <a:t>iniciarla</a:t>
            </a:r>
            <a:r>
              <a:rPr dirty="0"/>
              <a:t> </a:t>
            </a:r>
            <a:r>
              <a:rPr dirty="0" err="1"/>
              <a:t>según</a:t>
            </a:r>
            <a:r>
              <a:rPr dirty="0"/>
              <a:t> la Gantt y no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atrasada</a:t>
            </a:r>
            <a:r>
              <a:rPr dirty="0"/>
              <a:t>. </a:t>
            </a:r>
            <a:r>
              <a:rPr dirty="0" err="1"/>
              <a:t>Estabilizar</a:t>
            </a:r>
            <a:r>
              <a:rPr dirty="0"/>
              <a:t> motor y </a:t>
            </a:r>
            <a:r>
              <a:rPr dirty="0" err="1"/>
              <a:t>laboratorio</a:t>
            </a:r>
            <a:r>
              <a:rPr dirty="0"/>
              <a:t> e </a:t>
            </a:r>
            <a:r>
              <a:rPr dirty="0" err="1"/>
              <a:t>iniciar</a:t>
            </a:r>
            <a:r>
              <a:rPr dirty="0"/>
              <a:t> </a:t>
            </a:r>
            <a:r>
              <a:rPr dirty="0" err="1"/>
              <a:t>esa</a:t>
            </a:r>
            <a:r>
              <a:rPr dirty="0"/>
              <a:t> </a:t>
            </a:r>
            <a:r>
              <a:rPr dirty="0" err="1"/>
              <a:t>capa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la </a:t>
            </a:r>
            <a:r>
              <a:rPr dirty="0" err="1"/>
              <a:t>siguiente</a:t>
            </a:r>
            <a:r>
              <a:rPr dirty="0"/>
              <a:t> </a:t>
            </a:r>
            <a:r>
              <a:rPr dirty="0" err="1"/>
              <a:t>etapa</a:t>
            </a:r>
            <a:r>
              <a:rPr dirty="0"/>
              <a:t> es </a:t>
            </a:r>
            <a:r>
              <a:rPr dirty="0" err="1"/>
              <a:t>continuidad</a:t>
            </a:r>
            <a:r>
              <a:rPr dirty="0"/>
              <a:t> de la </a:t>
            </a:r>
            <a:r>
              <a:rPr dirty="0" err="1"/>
              <a:t>planificación</a:t>
            </a:r>
            <a:r>
              <a:rPr dirty="0"/>
              <a:t>, no </a:t>
            </a:r>
            <a:r>
              <a:rPr dirty="0" err="1"/>
              <a:t>recuperación</a:t>
            </a:r>
            <a:r>
              <a:rPr dirty="0"/>
              <a:t> de un </a:t>
            </a:r>
            <a:r>
              <a:rPr dirty="0" err="1"/>
              <a:t>retraso</a:t>
            </a:r>
            <a:r>
              <a:rPr dirty="0"/>
              <a:t>. La API actual y las </a:t>
            </a:r>
            <a:r>
              <a:rPr dirty="0" err="1"/>
              <a:t>pruebas</a:t>
            </a:r>
            <a:r>
              <a:rPr dirty="0"/>
              <a:t> </a:t>
            </a:r>
            <a:r>
              <a:rPr dirty="0" err="1"/>
              <a:t>ya</a:t>
            </a:r>
            <a:r>
              <a:rPr dirty="0"/>
              <a:t> </a:t>
            </a:r>
            <a:r>
              <a:rPr dirty="0" err="1"/>
              <a:t>ejecutadas</a:t>
            </a:r>
            <a:r>
              <a:rPr dirty="0"/>
              <a:t> </a:t>
            </a:r>
            <a:r>
              <a:rPr dirty="0" err="1"/>
              <a:t>aportan</a:t>
            </a:r>
            <a:r>
              <a:rPr dirty="0"/>
              <a:t> </a:t>
            </a:r>
            <a:r>
              <a:rPr dirty="0" err="1"/>
              <a:t>trabajo</a:t>
            </a:r>
            <a:r>
              <a:rPr dirty="0"/>
              <a:t> </a:t>
            </a:r>
            <a:r>
              <a:rPr dirty="0" err="1"/>
              <a:t>anticipado</a:t>
            </a:r>
            <a:r>
              <a:rPr dirty="0"/>
              <a:t> </a:t>
            </a:r>
            <a:r>
              <a:rPr dirty="0" err="1"/>
              <a:t>respecto</a:t>
            </a:r>
            <a:r>
              <a:rPr dirty="0"/>
              <a:t> a sus </a:t>
            </a:r>
            <a:r>
              <a:rPr dirty="0" err="1"/>
              <a:t>ventanas</a:t>
            </a:r>
            <a:r>
              <a:rPr dirty="0"/>
              <a:t> </a:t>
            </a:r>
            <a:r>
              <a:rPr dirty="0" err="1"/>
              <a:t>previstas</a:t>
            </a:r>
            <a:r>
              <a:rPr dirty="0"/>
              <a:t>.</a:t>
            </a:r>
          </a:p>
          <a:p>
            <a:r>
              <a:rPr dirty="0"/>
              <a:t>La vista </a:t>
            </a:r>
            <a:r>
              <a:rPr dirty="0" err="1"/>
              <a:t>reducida</a:t>
            </a:r>
            <a:r>
              <a:rPr dirty="0"/>
              <a:t> reproduce </a:t>
            </a:r>
            <a:r>
              <a:rPr dirty="0" err="1"/>
              <a:t>exactamente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ocho</a:t>
            </a:r>
            <a:r>
              <a:rPr dirty="0"/>
              <a:t> </a:t>
            </a:r>
            <a:r>
              <a:rPr dirty="0" err="1"/>
              <a:t>tramos</a:t>
            </a:r>
            <a:r>
              <a:rPr dirty="0"/>
              <a:t> de la Carta Gantt original de Fase 1, </a:t>
            </a:r>
            <a:r>
              <a:rPr dirty="0" err="1"/>
              <a:t>página</a:t>
            </a:r>
            <a:r>
              <a:rPr dirty="0"/>
              <a:t> 6. No </a:t>
            </a:r>
            <a:r>
              <a:rPr dirty="0" err="1"/>
              <a:t>reprograma</a:t>
            </a:r>
            <a:r>
              <a:rPr dirty="0"/>
              <a:t> </a:t>
            </a:r>
            <a:r>
              <a:rPr dirty="0" err="1"/>
              <a:t>actividades</a:t>
            </a:r>
            <a:r>
              <a:rPr dirty="0"/>
              <a:t>. Las </a:t>
            </a:r>
            <a:r>
              <a:rPr dirty="0" err="1"/>
              <a:t>fechas</a:t>
            </a:r>
            <a:r>
              <a:rPr dirty="0"/>
              <a:t> </a:t>
            </a:r>
            <a:r>
              <a:rPr dirty="0" err="1"/>
              <a:t>comprometidas</a:t>
            </a:r>
            <a:r>
              <a:rPr dirty="0"/>
              <a:t> se </a:t>
            </a:r>
            <a:r>
              <a:rPr dirty="0" err="1"/>
              <a:t>expresan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semanas</a:t>
            </a:r>
            <a:r>
              <a:rPr dirty="0"/>
              <a:t> </a:t>
            </a:r>
            <a:r>
              <a:rPr dirty="0" err="1"/>
              <a:t>originales</a:t>
            </a:r>
            <a:r>
              <a:rPr dirty="0"/>
              <a:t>, </a:t>
            </a:r>
            <a:r>
              <a:rPr dirty="0" err="1"/>
              <a:t>pues</a:t>
            </a:r>
            <a:r>
              <a:rPr dirty="0"/>
              <a:t> el </a:t>
            </a:r>
            <a:r>
              <a:rPr dirty="0" err="1"/>
              <a:t>documento</a:t>
            </a:r>
            <a:r>
              <a:rPr dirty="0"/>
              <a:t> no </a:t>
            </a:r>
            <a:r>
              <a:rPr dirty="0" err="1"/>
              <a:t>calendariza</a:t>
            </a:r>
            <a:r>
              <a:rPr dirty="0"/>
              <a:t> S1.</a:t>
            </a:r>
          </a:p>
          <a:p>
            <a:r>
              <a:rPr dirty="0" err="1"/>
              <a:t>Referencia</a:t>
            </a:r>
            <a:r>
              <a:rPr dirty="0"/>
              <a:t> </a:t>
            </a:r>
            <a:r>
              <a:rPr dirty="0" err="1"/>
              <a:t>académica</a:t>
            </a:r>
            <a:r>
              <a:rPr dirty="0"/>
              <a:t> </a:t>
            </a:r>
            <a:r>
              <a:rPr dirty="0" err="1"/>
              <a:t>proporcionada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el </a:t>
            </a:r>
            <a:r>
              <a:rPr dirty="0" err="1"/>
              <a:t>equipo</a:t>
            </a:r>
            <a:r>
              <a:rPr dirty="0"/>
              <a:t>: S8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transición</a:t>
            </a:r>
            <a:r>
              <a:rPr dirty="0"/>
              <a:t> a S9. El </a:t>
            </a:r>
            <a:r>
              <a:rPr dirty="0" err="1"/>
              <a:t>marcador</a:t>
            </a:r>
            <a:r>
              <a:rPr dirty="0"/>
              <a:t> junto a 6 OCT </a:t>
            </a:r>
            <a:r>
              <a:rPr dirty="0" err="1"/>
              <a:t>representa</a:t>
            </a:r>
            <a:r>
              <a:rPr dirty="0"/>
              <a:t> </a:t>
            </a:r>
            <a:r>
              <a:rPr dirty="0" err="1"/>
              <a:t>aproximadamente</a:t>
            </a:r>
            <a:r>
              <a:rPr dirty="0"/>
              <a:t> </a:t>
            </a:r>
            <a:r>
              <a:rPr dirty="0" err="1"/>
              <a:t>esa</a:t>
            </a:r>
            <a:r>
              <a:rPr dirty="0"/>
              <a:t> </a:t>
            </a:r>
            <a:r>
              <a:rPr dirty="0" err="1"/>
              <a:t>transición</a:t>
            </a:r>
            <a:r>
              <a:rPr dirty="0"/>
              <a:t>. No </a:t>
            </a:r>
            <a:r>
              <a:rPr dirty="0" err="1"/>
              <a:t>asigna</a:t>
            </a:r>
            <a:r>
              <a:rPr dirty="0"/>
              <a:t> </a:t>
            </a:r>
            <a:r>
              <a:rPr dirty="0" err="1"/>
              <a:t>fechas</a:t>
            </a:r>
            <a:r>
              <a:rPr dirty="0"/>
              <a:t> </a:t>
            </a:r>
            <a:r>
              <a:rPr dirty="0" err="1"/>
              <a:t>calendario</a:t>
            </a:r>
            <a:r>
              <a:rPr dirty="0"/>
              <a:t> a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semana</a:t>
            </a:r>
            <a:r>
              <a:rPr dirty="0"/>
              <a:t> </a:t>
            </a:r>
            <a:r>
              <a:rPr dirty="0" err="1"/>
              <a:t>ni</a:t>
            </a:r>
            <a:r>
              <a:rPr dirty="0"/>
              <a:t> </a:t>
            </a:r>
            <a:r>
              <a:rPr dirty="0" err="1"/>
              <a:t>supone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fecha</a:t>
            </a:r>
            <a:r>
              <a:rPr dirty="0"/>
              <a:t> de </a:t>
            </a:r>
            <a:r>
              <a:rPr dirty="0" err="1"/>
              <a:t>inicio</a:t>
            </a:r>
            <a:r>
              <a:rPr dirty="0"/>
              <a:t> de S1.</a:t>
            </a:r>
          </a:p>
          <a:p>
            <a:r>
              <a:rPr dirty="0"/>
              <a:t>Fuentes: </a:t>
            </a:r>
            <a:r>
              <a:rPr dirty="0" err="1"/>
              <a:t>Entregables</a:t>
            </a:r>
            <a:r>
              <a:rPr dirty="0"/>
              <a:t>-APT/Fase-1/</a:t>
            </a:r>
            <a:r>
              <a:rPr dirty="0" err="1"/>
              <a:t>Grupales</a:t>
            </a:r>
            <a:r>
              <a:rPr dirty="0"/>
              <a:t>/Grupo-1_Definicion_Proyecto_APT_Fase-1.pdf, </a:t>
            </a:r>
            <a:r>
              <a:rPr dirty="0" err="1"/>
              <a:t>páginas</a:t>
            </a:r>
            <a:r>
              <a:rPr dirty="0"/>
              <a:t> 5–6; README y docs/arquitectura.md del </a:t>
            </a:r>
            <a:r>
              <a:rPr dirty="0" err="1"/>
              <a:t>proyecto</a:t>
            </a:r>
            <a:r>
              <a:rPr dirty="0"/>
              <a:t>; </a:t>
            </a:r>
            <a:r>
              <a:rPr dirty="0" err="1"/>
              <a:t>estado</a:t>
            </a:r>
            <a:r>
              <a:rPr dirty="0"/>
              <a:t> y </a:t>
            </a:r>
            <a:r>
              <a:rPr dirty="0" err="1"/>
              <a:t>porcentajes</a:t>
            </a:r>
            <a:r>
              <a:rPr dirty="0"/>
              <a:t> </a:t>
            </a:r>
            <a:r>
              <a:rPr dirty="0" err="1"/>
              <a:t>solicitados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el </a:t>
            </a:r>
            <a:r>
              <a:rPr dirty="0" err="1"/>
              <a:t>equipo</a:t>
            </a:r>
            <a:r>
              <a:rPr dirty="0"/>
              <a:t>. </a:t>
            </a:r>
            <a:r>
              <a:rPr dirty="0" err="1"/>
              <a:t>Conectividad</a:t>
            </a:r>
            <a:r>
              <a:rPr dirty="0"/>
              <a:t> y Redes es el </a:t>
            </a:r>
            <a:r>
              <a:rPr dirty="0" err="1"/>
              <a:t>foco</a:t>
            </a:r>
            <a:r>
              <a:rPr dirty="0"/>
              <a:t> </a:t>
            </a:r>
            <a:r>
              <a:rPr dirty="0" err="1"/>
              <a:t>profesional</a:t>
            </a:r>
            <a:r>
              <a:rPr dirty="0"/>
              <a:t>. </a:t>
            </a:r>
            <a:r>
              <a:rPr dirty="0" err="1"/>
              <a:t>Ciberseguridad</a:t>
            </a:r>
            <a:r>
              <a:rPr dirty="0"/>
              <a:t>, </a:t>
            </a:r>
            <a:r>
              <a:rPr dirty="0" err="1"/>
              <a:t>automatización</a:t>
            </a:r>
            <a:r>
              <a:rPr dirty="0"/>
              <a:t>/</a:t>
            </a:r>
            <a:r>
              <a:rPr dirty="0" err="1"/>
              <a:t>programación</a:t>
            </a:r>
            <a:r>
              <a:rPr dirty="0"/>
              <a:t> e IA son </a:t>
            </a:r>
            <a:r>
              <a:rPr dirty="0" err="1"/>
              <a:t>complementarias</a:t>
            </a:r>
            <a:r>
              <a:rPr dirty="0"/>
              <a:t>.</a:t>
            </a:r>
          </a:p>
          <a:p>
            <a:r>
              <a:rPr dirty="0"/>
              <a:t>La </a:t>
            </a:r>
            <a:r>
              <a:rPr dirty="0" err="1"/>
              <a:t>Evaluación</a:t>
            </a:r>
            <a:r>
              <a:rPr dirty="0"/>
              <a:t> 2 </a:t>
            </a:r>
            <a:r>
              <a:rPr dirty="0" err="1"/>
              <a:t>amplía</a:t>
            </a:r>
            <a:r>
              <a:rPr dirty="0"/>
              <a:t> la </a:t>
            </a:r>
            <a:r>
              <a:rPr dirty="0" err="1"/>
              <a:t>evidencia</a:t>
            </a:r>
            <a:r>
              <a:rPr dirty="0"/>
              <a:t> de </a:t>
            </a:r>
            <a:r>
              <a:rPr dirty="0" err="1"/>
              <a:t>validación</a:t>
            </a:r>
            <a:r>
              <a:rPr dirty="0"/>
              <a:t> del </a:t>
            </a:r>
            <a:r>
              <a:rPr dirty="0" err="1"/>
              <a:t>prototipo</a:t>
            </a:r>
            <a:r>
              <a:rPr dirty="0"/>
              <a:t>; no </a:t>
            </a:r>
            <a:r>
              <a:rPr dirty="0" err="1"/>
              <a:t>implica</a:t>
            </a:r>
            <a:r>
              <a:rPr dirty="0"/>
              <a:t> el </a:t>
            </a:r>
            <a:r>
              <a:rPr dirty="0" err="1"/>
              <a:t>cierre</a:t>
            </a:r>
            <a:r>
              <a:rPr dirty="0"/>
              <a:t> del </a:t>
            </a:r>
            <a:r>
              <a:rPr dirty="0" err="1"/>
              <a:t>proyecto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Los </a:t>
            </a:r>
            <a:r>
              <a:rPr dirty="0" err="1"/>
              <a:t>criterios</a:t>
            </a:r>
            <a:r>
              <a:rPr dirty="0"/>
              <a:t> de </a:t>
            </a:r>
            <a:r>
              <a:rPr dirty="0" err="1"/>
              <a:t>aceptación</a:t>
            </a:r>
            <a:r>
              <a:rPr dirty="0"/>
              <a:t> </a:t>
            </a:r>
            <a:r>
              <a:rPr dirty="0" err="1"/>
              <a:t>separan</a:t>
            </a:r>
            <a:r>
              <a:rPr dirty="0"/>
              <a:t> </a:t>
            </a:r>
            <a:r>
              <a:rPr dirty="0" err="1"/>
              <a:t>adquisición</a:t>
            </a:r>
            <a:r>
              <a:rPr dirty="0"/>
              <a:t>, </a:t>
            </a:r>
            <a:r>
              <a:rPr dirty="0" err="1"/>
              <a:t>decisión</a:t>
            </a:r>
            <a:r>
              <a:rPr dirty="0"/>
              <a:t> </a:t>
            </a:r>
            <a:r>
              <a:rPr dirty="0" err="1"/>
              <a:t>determinista</a:t>
            </a:r>
            <a:r>
              <a:rPr dirty="0"/>
              <a:t> y </a:t>
            </a:r>
            <a:r>
              <a:rPr dirty="0" err="1"/>
              <a:t>validación</a:t>
            </a:r>
            <a:r>
              <a:rPr dirty="0"/>
              <a:t>. La </a:t>
            </a:r>
            <a:r>
              <a:rPr dirty="0" err="1"/>
              <a:t>recolección</a:t>
            </a:r>
            <a:r>
              <a:rPr dirty="0"/>
              <a:t> </a:t>
            </a:r>
            <a:r>
              <a:rPr dirty="0" err="1"/>
              <a:t>debe</a:t>
            </a:r>
            <a:r>
              <a:rPr dirty="0"/>
              <a:t> </a:t>
            </a:r>
            <a:r>
              <a:rPr dirty="0" err="1"/>
              <a:t>completar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única</a:t>
            </a:r>
            <a:r>
              <a:rPr dirty="0"/>
              <a:t> </a:t>
            </a:r>
            <a:r>
              <a:rPr dirty="0" err="1"/>
              <a:t>sesión</a:t>
            </a:r>
            <a:r>
              <a:rPr dirty="0"/>
              <a:t>, </a:t>
            </a:r>
            <a:r>
              <a:rPr dirty="0" err="1"/>
              <a:t>ocho</a:t>
            </a:r>
            <a:r>
              <a:rPr dirty="0"/>
              <a:t> </a:t>
            </a:r>
            <a:r>
              <a:rPr dirty="0" err="1"/>
              <a:t>consultas</a:t>
            </a:r>
            <a:r>
              <a:rPr dirty="0"/>
              <a:t> </a:t>
            </a:r>
            <a:r>
              <a:rPr dirty="0" err="1"/>
              <a:t>autorizadas</a:t>
            </a:r>
            <a:r>
              <a:rPr dirty="0"/>
              <a:t>, </a:t>
            </a:r>
            <a:r>
              <a:rPr dirty="0" err="1"/>
              <a:t>ocho</a:t>
            </a:r>
            <a:r>
              <a:rPr dirty="0"/>
              <a:t> </a:t>
            </a:r>
            <a:r>
              <a:rPr dirty="0" err="1"/>
              <a:t>evidencias</a:t>
            </a:r>
            <a:r>
              <a:rPr dirty="0"/>
              <a:t> y </a:t>
            </a:r>
            <a:r>
              <a:rPr dirty="0" err="1"/>
              <a:t>desconexión</a:t>
            </a:r>
            <a:r>
              <a:rPr dirty="0"/>
              <a:t>, sin </a:t>
            </a:r>
            <a:r>
              <a:rPr dirty="0" err="1"/>
              <a:t>comandos</a:t>
            </a:r>
            <a:r>
              <a:rPr dirty="0"/>
              <a:t> de </a:t>
            </a:r>
            <a:r>
              <a:rPr dirty="0" err="1"/>
              <a:t>configuración</a:t>
            </a:r>
            <a:r>
              <a:rPr dirty="0"/>
              <a:t>. El motor </a:t>
            </a:r>
            <a:r>
              <a:rPr dirty="0" err="1"/>
              <a:t>conserva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cinco</a:t>
            </a:r>
            <a:r>
              <a:rPr dirty="0"/>
              <a:t> </a:t>
            </a:r>
            <a:r>
              <a:rPr dirty="0" err="1"/>
              <a:t>estados</a:t>
            </a:r>
            <a:r>
              <a:rPr dirty="0"/>
              <a:t> y solo FAIL produce Finding.</a:t>
            </a:r>
          </a:p>
          <a:p>
            <a:r>
              <a:rPr dirty="0"/>
              <a:t>Las </a:t>
            </a:r>
            <a:r>
              <a:rPr dirty="0" err="1"/>
              <a:t>fechas</a:t>
            </a:r>
            <a:r>
              <a:rPr dirty="0"/>
              <a:t> S5–S7, S6–S10 y S11–S15 son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tramos</a:t>
            </a:r>
            <a:r>
              <a:rPr dirty="0"/>
              <a:t> </a:t>
            </a:r>
            <a:r>
              <a:rPr dirty="0" err="1"/>
              <a:t>originales</a:t>
            </a:r>
            <a:r>
              <a:rPr dirty="0"/>
              <a:t> de las </a:t>
            </a:r>
            <a:r>
              <a:rPr dirty="0" err="1"/>
              <a:t>tareas</a:t>
            </a:r>
            <a:r>
              <a:rPr dirty="0"/>
              <a:t> </a:t>
            </a:r>
            <a:r>
              <a:rPr dirty="0" err="1"/>
              <a:t>asociadas</a:t>
            </a:r>
            <a:r>
              <a:rPr dirty="0"/>
              <a:t>, no </a:t>
            </a:r>
            <a:r>
              <a:rPr dirty="0" err="1"/>
              <a:t>nuevos</a:t>
            </a:r>
            <a:r>
              <a:rPr dirty="0"/>
              <a:t> </a:t>
            </a:r>
            <a:r>
              <a:rPr dirty="0" err="1"/>
              <a:t>hitos</a:t>
            </a:r>
            <a:r>
              <a:rPr dirty="0"/>
              <a:t> </a:t>
            </a:r>
            <a:r>
              <a:rPr dirty="0" err="1"/>
              <a:t>calendario</a:t>
            </a:r>
            <a:r>
              <a:rPr dirty="0"/>
              <a:t> </a:t>
            </a:r>
            <a:r>
              <a:rPr dirty="0" err="1"/>
              <a:t>ni</a:t>
            </a:r>
            <a:r>
              <a:rPr dirty="0"/>
              <a:t> </a:t>
            </a:r>
            <a:r>
              <a:rPr dirty="0" err="1"/>
              <a:t>promesas</a:t>
            </a:r>
            <a:r>
              <a:rPr dirty="0"/>
              <a:t> </a:t>
            </a:r>
            <a:r>
              <a:rPr dirty="0" err="1"/>
              <a:t>adicionales</a:t>
            </a:r>
            <a:r>
              <a:rPr dirty="0"/>
              <a:t>.</a:t>
            </a:r>
          </a:p>
          <a:p>
            <a:r>
              <a:rPr dirty="0"/>
              <a:t>El </a:t>
            </a:r>
            <a:r>
              <a:rPr dirty="0" err="1"/>
              <a:t>avance</a:t>
            </a:r>
            <a:r>
              <a:rPr dirty="0"/>
              <a:t> </a:t>
            </a:r>
            <a:r>
              <a:rPr dirty="0" err="1"/>
              <a:t>pasó</a:t>
            </a:r>
            <a:r>
              <a:rPr dirty="0"/>
              <a:t> de cuatro a </a:t>
            </a:r>
            <a:r>
              <a:rPr dirty="0" err="1"/>
              <a:t>ocho</a:t>
            </a:r>
            <a:r>
              <a:rPr dirty="0"/>
              <a:t> </a:t>
            </a:r>
            <a:r>
              <a:rPr dirty="0" err="1"/>
              <a:t>comandos</a:t>
            </a:r>
            <a:r>
              <a:rPr dirty="0"/>
              <a:t> para </a:t>
            </a:r>
            <a:r>
              <a:rPr dirty="0" err="1"/>
              <a:t>obtener</a:t>
            </a:r>
            <a:r>
              <a:rPr dirty="0"/>
              <a:t> </a:t>
            </a:r>
            <a:r>
              <a:rPr dirty="0" err="1"/>
              <a:t>evidencia</a:t>
            </a:r>
            <a:r>
              <a:rPr dirty="0"/>
              <a:t> </a:t>
            </a:r>
            <a:r>
              <a:rPr dirty="0" err="1"/>
              <a:t>operacional</a:t>
            </a:r>
            <a:r>
              <a:rPr dirty="0"/>
              <a:t> de interfaces, ACL, NTP y OSPF. El </a:t>
            </a:r>
            <a:r>
              <a:rPr dirty="0" err="1"/>
              <a:t>catálogo</a:t>
            </a:r>
            <a:r>
              <a:rPr dirty="0"/>
              <a:t> </a:t>
            </a:r>
            <a:r>
              <a:rPr dirty="0" err="1"/>
              <a:t>pasó</a:t>
            </a:r>
            <a:r>
              <a:rPr dirty="0"/>
              <a:t> de </a:t>
            </a:r>
            <a:r>
              <a:rPr dirty="0" err="1"/>
              <a:t>ocho</a:t>
            </a:r>
            <a:r>
              <a:rPr dirty="0"/>
              <a:t> a 21 </a:t>
            </a:r>
            <a:r>
              <a:rPr dirty="0" err="1"/>
              <a:t>controles</a:t>
            </a:r>
            <a:r>
              <a:rPr dirty="0"/>
              <a:t>. IA no </a:t>
            </a:r>
            <a:r>
              <a:rPr dirty="0" err="1"/>
              <a:t>implementada</a:t>
            </a:r>
            <a:r>
              <a:rPr dirty="0"/>
              <a:t> y fuera de EV2: la </a:t>
            </a:r>
            <a:r>
              <a:rPr dirty="0" err="1"/>
              <a:t>siguiente</a:t>
            </a:r>
            <a:r>
              <a:rPr dirty="0"/>
              <a:t> </a:t>
            </a:r>
            <a:r>
              <a:rPr dirty="0" err="1"/>
              <a:t>etapa</a:t>
            </a:r>
            <a:r>
              <a:rPr dirty="0"/>
              <a:t>/</a:t>
            </a:r>
            <a:r>
              <a:rPr dirty="0" err="1"/>
              <a:t>Evaluación</a:t>
            </a:r>
            <a:r>
              <a:rPr dirty="0"/>
              <a:t> 3 </a:t>
            </a:r>
            <a:r>
              <a:rPr dirty="0" err="1"/>
              <a:t>prevé</a:t>
            </a:r>
            <a:r>
              <a:rPr dirty="0"/>
              <a:t> </a:t>
            </a:r>
            <a:r>
              <a:rPr dirty="0" err="1"/>
              <a:t>explicación</a:t>
            </a:r>
            <a:r>
              <a:rPr dirty="0"/>
              <a:t> y </a:t>
            </a:r>
            <a:r>
              <a:rPr dirty="0" err="1"/>
              <a:t>resumen</a:t>
            </a:r>
            <a:r>
              <a:rPr dirty="0"/>
              <a:t> de findings </a:t>
            </a:r>
            <a:r>
              <a:rPr dirty="0" err="1"/>
              <a:t>ya</a:t>
            </a:r>
            <a:r>
              <a:rPr dirty="0"/>
              <a:t> </a:t>
            </a:r>
            <a:r>
              <a:rPr dirty="0" err="1"/>
              <a:t>validados</a:t>
            </a:r>
            <a:r>
              <a:rPr dirty="0"/>
              <a:t>. PostgreSQL/</a:t>
            </a:r>
            <a:r>
              <a:rPr dirty="0" err="1"/>
              <a:t>persistencia</a:t>
            </a:r>
            <a:r>
              <a:rPr dirty="0"/>
              <a:t> </a:t>
            </a:r>
            <a:r>
              <a:rPr dirty="0" err="1"/>
              <a:t>sigue</a:t>
            </a:r>
            <a:r>
              <a:rPr dirty="0"/>
              <a:t> fuera de </a:t>
            </a:r>
            <a:r>
              <a:rPr dirty="0" err="1"/>
              <a:t>este</a:t>
            </a:r>
            <a:r>
              <a:rPr dirty="0"/>
              <a:t> </a:t>
            </a:r>
            <a:r>
              <a:rPr dirty="0" err="1"/>
              <a:t>trabajo</a:t>
            </a:r>
            <a:r>
              <a:rPr dirty="0"/>
              <a:t> y no </a:t>
            </a:r>
            <a:r>
              <a:rPr dirty="0" err="1"/>
              <a:t>implementado</a:t>
            </a:r>
            <a:r>
              <a:rPr dirty="0"/>
              <a:t>.</a:t>
            </a:r>
          </a:p>
          <a:p>
            <a:r>
              <a:rPr dirty="0"/>
              <a:t>El primer </a:t>
            </a:r>
            <a:r>
              <a:rPr dirty="0" err="1"/>
              <a:t>intento</a:t>
            </a:r>
            <a:r>
              <a:rPr dirty="0"/>
              <a:t> de </a:t>
            </a:r>
            <a:r>
              <a:rPr dirty="0" err="1"/>
              <a:t>validación</a:t>
            </a:r>
            <a:r>
              <a:rPr dirty="0"/>
              <a:t> manual </a:t>
            </a:r>
            <a:r>
              <a:rPr dirty="0" err="1"/>
              <a:t>falló</a:t>
            </a:r>
            <a:r>
              <a:rPr dirty="0"/>
              <a:t> antes de </a:t>
            </a:r>
            <a:r>
              <a:rPr dirty="0" err="1"/>
              <a:t>autenticarse</a:t>
            </a:r>
            <a:r>
              <a:rPr dirty="0"/>
              <a:t> con el error </a:t>
            </a:r>
            <a:r>
              <a:rPr dirty="0" err="1"/>
              <a:t>reportado</a:t>
            </a:r>
            <a:r>
              <a:rPr dirty="0"/>
              <a:t>: Incompatible ssh peer (no acceptable kex algorithm). La imagen CSR1000v IOS XE 16.9.5 solo </a:t>
            </a:r>
            <a:r>
              <a:rPr dirty="0" err="1"/>
              <a:t>ofrecía</a:t>
            </a:r>
            <a:r>
              <a:rPr dirty="0"/>
              <a:t> diffie-hellman-group-exchange-sha1 y diffie-hellman-group14-sha1. </a:t>
            </a:r>
            <a:r>
              <a:rPr dirty="0" err="1"/>
              <a:t>Paramiko</a:t>
            </a:r>
            <a:r>
              <a:rPr dirty="0"/>
              <a:t> 5.0.0 no </a:t>
            </a:r>
            <a:r>
              <a:rPr dirty="0" err="1"/>
              <a:t>negoció</a:t>
            </a:r>
            <a:r>
              <a:rPr dirty="0"/>
              <a:t> </a:t>
            </a:r>
            <a:r>
              <a:rPr dirty="0" err="1"/>
              <a:t>esos</a:t>
            </a:r>
            <a:r>
              <a:rPr dirty="0"/>
              <a:t> KEX. La </a:t>
            </a:r>
            <a:r>
              <a:rPr dirty="0" err="1"/>
              <a:t>corrección</a:t>
            </a:r>
            <a:r>
              <a:rPr dirty="0"/>
              <a:t> </a:t>
            </a:r>
            <a:r>
              <a:rPr dirty="0" err="1"/>
              <a:t>limitó</a:t>
            </a:r>
            <a:r>
              <a:rPr dirty="0"/>
              <a:t> el </a:t>
            </a:r>
            <a:r>
              <a:rPr dirty="0" err="1"/>
              <a:t>entorno</a:t>
            </a:r>
            <a:r>
              <a:rPr dirty="0"/>
              <a:t> Python a </a:t>
            </a:r>
            <a:r>
              <a:rPr dirty="0" err="1"/>
              <a:t>paramiko</a:t>
            </a:r>
            <a:r>
              <a:rPr dirty="0"/>
              <a:t>&gt;=4,&lt;5, con </a:t>
            </a:r>
            <a:r>
              <a:rPr dirty="0" err="1"/>
              <a:t>Paramiko</a:t>
            </a:r>
            <a:r>
              <a:rPr dirty="0"/>
              <a:t> 4.0.0 </a:t>
            </a:r>
            <a:r>
              <a:rPr dirty="0" err="1"/>
              <a:t>validado</a:t>
            </a:r>
            <a:r>
              <a:rPr dirty="0"/>
              <a:t>. No se </a:t>
            </a:r>
            <a:r>
              <a:rPr dirty="0" err="1"/>
              <a:t>cambió</a:t>
            </a:r>
            <a:r>
              <a:rPr dirty="0"/>
              <a:t> la </a:t>
            </a:r>
            <a:r>
              <a:rPr dirty="0" err="1"/>
              <a:t>configuración</a:t>
            </a:r>
            <a:r>
              <a:rPr dirty="0"/>
              <a:t> del router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parte</a:t>
            </a:r>
            <a:r>
              <a:rPr dirty="0"/>
              <a:t> de </a:t>
            </a:r>
            <a:r>
              <a:rPr dirty="0" err="1"/>
              <a:t>NetAudit</a:t>
            </a:r>
            <a:r>
              <a:rPr dirty="0"/>
              <a:t>.</a:t>
            </a:r>
          </a:p>
          <a:p>
            <a:r>
              <a:rPr dirty="0"/>
              <a:t>Esto es </a:t>
            </a:r>
            <a:r>
              <a:rPr dirty="0" err="1"/>
              <a:t>exclusivamente</a:t>
            </a:r>
            <a:r>
              <a:rPr dirty="0"/>
              <a:t> </a:t>
            </a:r>
            <a:r>
              <a:rPr dirty="0" err="1"/>
              <a:t>interoperabilidad</a:t>
            </a:r>
            <a:r>
              <a:rPr dirty="0"/>
              <a:t> con el </a:t>
            </a:r>
            <a:r>
              <a:rPr dirty="0" err="1"/>
              <a:t>laboratorio</a:t>
            </a:r>
            <a:r>
              <a:rPr dirty="0"/>
              <a:t> </a:t>
            </a:r>
            <a:r>
              <a:rPr dirty="0" err="1"/>
              <a:t>heredado</a:t>
            </a:r>
            <a:r>
              <a:rPr dirty="0"/>
              <a:t>, no </a:t>
            </a:r>
            <a:r>
              <a:rPr dirty="0" err="1"/>
              <a:t>recomendación</a:t>
            </a:r>
            <a:r>
              <a:rPr dirty="0"/>
              <a:t> de </a:t>
            </a:r>
            <a:r>
              <a:rPr dirty="0" err="1"/>
              <a:t>Paramiko</a:t>
            </a:r>
            <a:r>
              <a:rPr dirty="0"/>
              <a:t> 4 </a:t>
            </a:r>
            <a:r>
              <a:rPr dirty="0" err="1"/>
              <a:t>ni</a:t>
            </a:r>
            <a:r>
              <a:rPr dirty="0"/>
              <a:t> SHA-1 para </a:t>
            </a:r>
            <a:r>
              <a:rPr dirty="0" err="1"/>
              <a:t>producción</a:t>
            </a:r>
            <a:r>
              <a:rPr dirty="0"/>
              <a:t>. No se </a:t>
            </a:r>
            <a:r>
              <a:rPr dirty="0" err="1"/>
              <a:t>certifican</a:t>
            </a:r>
            <a:r>
              <a:rPr dirty="0"/>
              <a:t> </a:t>
            </a:r>
            <a:r>
              <a:rPr dirty="0" err="1"/>
              <a:t>todas</a:t>
            </a:r>
            <a:r>
              <a:rPr dirty="0"/>
              <a:t> las </a:t>
            </a:r>
            <a:r>
              <a:rPr dirty="0" err="1"/>
              <a:t>versiones</a:t>
            </a:r>
            <a:r>
              <a:rPr dirty="0"/>
              <a:t> 4.x </a:t>
            </a:r>
            <a:r>
              <a:rPr dirty="0" err="1"/>
              <a:t>ni</a:t>
            </a:r>
            <a:r>
              <a:rPr dirty="0"/>
              <a:t> </a:t>
            </a:r>
            <a:r>
              <a:rPr dirty="0" err="1"/>
              <a:t>toda</a:t>
            </a:r>
            <a:r>
              <a:rPr dirty="0"/>
              <a:t> </a:t>
            </a:r>
            <a:r>
              <a:rPr dirty="0" err="1"/>
              <a:t>plataforma</a:t>
            </a:r>
            <a:r>
              <a:rPr dirty="0"/>
              <a:t> IOS.</a:t>
            </a:r>
          </a:p>
          <a:p>
            <a:r>
              <a:rPr dirty="0"/>
              <a:t>La </a:t>
            </a:r>
            <a:r>
              <a:rPr dirty="0" err="1"/>
              <a:t>validación</a:t>
            </a:r>
            <a:r>
              <a:rPr dirty="0"/>
              <a:t> posterior </a:t>
            </a:r>
            <a:r>
              <a:rPr dirty="0" err="1"/>
              <a:t>produjo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sesión</a:t>
            </a:r>
            <a:r>
              <a:rPr dirty="0"/>
              <a:t>,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desconexión</a:t>
            </a:r>
            <a:r>
              <a:rPr dirty="0"/>
              <a:t>, </a:t>
            </a:r>
            <a:r>
              <a:rPr dirty="0" err="1"/>
              <a:t>ocho</a:t>
            </a:r>
            <a:r>
              <a:rPr dirty="0"/>
              <a:t> </a:t>
            </a:r>
            <a:r>
              <a:rPr dirty="0" err="1"/>
              <a:t>consultas</a:t>
            </a:r>
            <a:r>
              <a:rPr dirty="0"/>
              <a:t> y </a:t>
            </a:r>
            <a:r>
              <a:rPr dirty="0" err="1"/>
              <a:t>evidencias</a:t>
            </a:r>
            <a:r>
              <a:rPr dirty="0"/>
              <a:t>, 21 </a:t>
            </a:r>
            <a:r>
              <a:rPr dirty="0" err="1"/>
              <a:t>evaluaciones</a:t>
            </a:r>
            <a:r>
              <a:rPr dirty="0"/>
              <a:t> y </a:t>
            </a:r>
            <a:r>
              <a:rPr dirty="0" err="1"/>
              <a:t>tres</a:t>
            </a:r>
            <a:r>
              <a:rPr dirty="0"/>
              <a:t> findings. Es </a:t>
            </a:r>
            <a:r>
              <a:rPr dirty="0" err="1"/>
              <a:t>independiente</a:t>
            </a:r>
            <a:r>
              <a:rPr dirty="0"/>
              <a:t> de </a:t>
            </a:r>
            <a:r>
              <a:rPr dirty="0" err="1"/>
              <a:t>los</a:t>
            </a:r>
            <a:r>
              <a:rPr dirty="0"/>
              <a:t> 703 tests offline y de las 63 </a:t>
            </a:r>
            <a:r>
              <a:rPr dirty="0" err="1"/>
              <a:t>comparaciones</a:t>
            </a:r>
            <a:r>
              <a:rPr dirty="0"/>
              <a:t> </a:t>
            </a:r>
            <a:r>
              <a:rPr dirty="0" err="1"/>
              <a:t>sintéticas</a:t>
            </a:r>
            <a:r>
              <a:rPr dirty="0"/>
              <a:t>.</a:t>
            </a:r>
          </a:p>
          <a:p>
            <a:r>
              <a:rPr dirty="0"/>
              <a:t>Fuentes: Carta Gantt Fase 1 </a:t>
            </a:r>
            <a:r>
              <a:rPr dirty="0" err="1"/>
              <a:t>páginas</a:t>
            </a:r>
            <a:r>
              <a:rPr dirty="0"/>
              <a:t> 5–6; docs/registro-controles-adicionales-evaluacion-2.md, </a:t>
            </a:r>
            <a:r>
              <a:rPr dirty="0" err="1"/>
              <a:t>apartados</a:t>
            </a:r>
            <a:r>
              <a:rPr dirty="0"/>
              <a:t> de </a:t>
            </a:r>
            <a:r>
              <a:rPr dirty="0" err="1"/>
              <a:t>compatibilidad</a:t>
            </a:r>
            <a:r>
              <a:rPr dirty="0"/>
              <a:t> y </a:t>
            </a:r>
            <a:r>
              <a:rPr dirty="0" err="1"/>
              <a:t>resultados</a:t>
            </a:r>
            <a:r>
              <a:rPr dirty="0"/>
              <a:t>; Capturas.docx </a:t>
            </a:r>
            <a:r>
              <a:rPr dirty="0" err="1"/>
              <a:t>página</a:t>
            </a:r>
            <a:r>
              <a:rPr dirty="0"/>
              <a:t> 1, solo </a:t>
            </a:r>
            <a:r>
              <a:rPr dirty="0" err="1"/>
              <a:t>línea</a:t>
            </a:r>
            <a:r>
              <a:rPr dirty="0"/>
              <a:t> KEX, y </a:t>
            </a:r>
            <a:r>
              <a:rPr dirty="0" err="1"/>
              <a:t>página</a:t>
            </a:r>
            <a:r>
              <a:rPr dirty="0"/>
              <a:t> 2, </a:t>
            </a:r>
            <a:r>
              <a:rPr dirty="0" err="1"/>
              <a:t>conteos</a:t>
            </a:r>
            <a:r>
              <a:rPr dirty="0"/>
              <a:t> reales. El </a:t>
            </a:r>
            <a:r>
              <a:rPr dirty="0" err="1"/>
              <a:t>texto</a:t>
            </a:r>
            <a:r>
              <a:rPr dirty="0"/>
              <a:t> del error </a:t>
            </a:r>
            <a:r>
              <a:rPr dirty="0" err="1"/>
              <a:t>procede</a:t>
            </a:r>
            <a:r>
              <a:rPr dirty="0"/>
              <a:t> del </a:t>
            </a:r>
            <a:r>
              <a:rPr dirty="0" err="1"/>
              <a:t>diagnóstico</a:t>
            </a:r>
            <a:r>
              <a:rPr dirty="0"/>
              <a:t> </a:t>
            </a:r>
            <a:r>
              <a:rPr dirty="0" err="1"/>
              <a:t>reportado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el </a:t>
            </a:r>
            <a:r>
              <a:rPr dirty="0" err="1"/>
              <a:t>equipo</a:t>
            </a:r>
            <a:r>
              <a:rPr dirty="0"/>
              <a:t>, no de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captura</a:t>
            </a:r>
            <a:r>
              <a:rPr dirty="0"/>
              <a:t> </a:t>
            </a:r>
            <a:r>
              <a:rPr dirty="0" err="1"/>
              <a:t>fabricada</a:t>
            </a:r>
            <a:r>
              <a:rPr dirty="0"/>
              <a:t>. No usar </a:t>
            </a:r>
            <a:r>
              <a:rPr dirty="0" err="1"/>
              <a:t>página</a:t>
            </a:r>
            <a:r>
              <a:rPr dirty="0"/>
              <a:t> 3 completa: </a:t>
            </a:r>
            <a:r>
              <a:rPr dirty="0" err="1"/>
              <a:t>expone</a:t>
            </a:r>
            <a:r>
              <a:rPr dirty="0"/>
              <a:t> </a:t>
            </a:r>
            <a:r>
              <a:rPr dirty="0" err="1"/>
              <a:t>datos</a:t>
            </a:r>
            <a:r>
              <a:rPr dirty="0"/>
              <a:t> del </a:t>
            </a:r>
            <a:r>
              <a:rPr dirty="0" err="1"/>
              <a:t>laboratorio</a:t>
            </a:r>
            <a:r>
              <a:rPr dirty="0"/>
              <a:t> y modo de </a:t>
            </a:r>
            <a:r>
              <a:rPr dirty="0" err="1"/>
              <a:t>configuración</a:t>
            </a:r>
            <a:r>
              <a:rPr dirty="0"/>
              <a:t>.</a:t>
            </a:r>
          </a:p>
          <a:p>
            <a:r>
              <a:rPr dirty="0"/>
              <a:t>Lista </a:t>
            </a:r>
            <a:r>
              <a:rPr dirty="0" err="1"/>
              <a:t>canónica</a:t>
            </a:r>
            <a:r>
              <a:rPr dirty="0"/>
              <a:t> exacta: show running-config; show version; show </a:t>
            </a:r>
            <a:r>
              <a:rPr dirty="0" err="1"/>
              <a:t>ip</a:t>
            </a:r>
            <a:r>
              <a:rPr dirty="0"/>
              <a:t> interface brief; show </a:t>
            </a:r>
            <a:r>
              <a:rPr dirty="0" err="1"/>
              <a:t>ip</a:t>
            </a:r>
            <a:r>
              <a:rPr dirty="0"/>
              <a:t> ssh; show interfaces; show access-lists; show </a:t>
            </a:r>
            <a:r>
              <a:rPr dirty="0" err="1"/>
              <a:t>ntp</a:t>
            </a:r>
            <a:r>
              <a:rPr dirty="0"/>
              <a:t> associations; show </a:t>
            </a:r>
            <a:r>
              <a:rPr dirty="0" err="1"/>
              <a:t>ip</a:t>
            </a:r>
            <a:r>
              <a:rPr dirty="0"/>
              <a:t> </a:t>
            </a:r>
            <a:r>
              <a:rPr dirty="0" err="1"/>
              <a:t>ospf</a:t>
            </a:r>
            <a:r>
              <a:rPr dirty="0"/>
              <a:t> neighbor.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Nuestro </a:t>
            </a:r>
            <a:r>
              <a:rPr dirty="0" err="1"/>
              <a:t>foco</a:t>
            </a:r>
            <a:r>
              <a:rPr dirty="0"/>
              <a:t> es </a:t>
            </a:r>
            <a:r>
              <a:rPr dirty="0" err="1"/>
              <a:t>conectividad</a:t>
            </a:r>
            <a:r>
              <a:rPr dirty="0"/>
              <a:t> y redes. </a:t>
            </a:r>
            <a:r>
              <a:rPr dirty="0" err="1"/>
              <a:t>Netmiko</a:t>
            </a:r>
            <a:r>
              <a:rPr dirty="0"/>
              <a:t> </a:t>
            </a:r>
            <a:r>
              <a:rPr dirty="0" err="1"/>
              <a:t>obtiene</a:t>
            </a:r>
            <a:r>
              <a:rPr dirty="0"/>
              <a:t> </a:t>
            </a:r>
            <a:r>
              <a:rPr dirty="0" err="1"/>
              <a:t>evidencia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SSH de solo </a:t>
            </a:r>
            <a:r>
              <a:rPr dirty="0" err="1"/>
              <a:t>lectura</a:t>
            </a:r>
            <a:r>
              <a:rPr dirty="0"/>
              <a:t>. Cada </a:t>
            </a:r>
            <a:r>
              <a:rPr dirty="0" err="1"/>
              <a:t>CommandEvidence</a:t>
            </a:r>
            <a:r>
              <a:rPr dirty="0"/>
              <a:t> </a:t>
            </a:r>
            <a:r>
              <a:rPr dirty="0" err="1"/>
              <a:t>conserva</a:t>
            </a:r>
            <a:r>
              <a:rPr dirty="0"/>
              <a:t> el </a:t>
            </a:r>
            <a:r>
              <a:rPr dirty="0" err="1"/>
              <a:t>comando</a:t>
            </a:r>
            <a:r>
              <a:rPr dirty="0"/>
              <a:t>, </a:t>
            </a:r>
            <a:r>
              <a:rPr dirty="0" err="1"/>
              <a:t>fecha</a:t>
            </a:r>
            <a:r>
              <a:rPr dirty="0"/>
              <a:t> UTC y hash SHA-256 para </a:t>
            </a:r>
            <a:r>
              <a:rPr dirty="0" err="1"/>
              <a:t>integridad</a:t>
            </a:r>
            <a:r>
              <a:rPr dirty="0"/>
              <a:t>, no para </a:t>
            </a:r>
            <a:r>
              <a:rPr dirty="0" err="1"/>
              <a:t>cifrado</a:t>
            </a:r>
            <a:r>
              <a:rPr dirty="0"/>
              <a:t>. </a:t>
            </a:r>
            <a:r>
              <a:rPr dirty="0" err="1"/>
              <a:t>CiscoConfParse</a:t>
            </a:r>
            <a:r>
              <a:rPr dirty="0"/>
              <a:t> </a:t>
            </a:r>
            <a:r>
              <a:rPr dirty="0" err="1"/>
              <a:t>estructura</a:t>
            </a:r>
            <a:r>
              <a:rPr dirty="0"/>
              <a:t> running-config y </a:t>
            </a:r>
            <a:r>
              <a:rPr dirty="0" err="1"/>
              <a:t>TextFSM</a:t>
            </a:r>
            <a:r>
              <a:rPr dirty="0"/>
              <a:t> las </a:t>
            </a:r>
            <a:r>
              <a:rPr dirty="0" err="1"/>
              <a:t>salidas</a:t>
            </a:r>
            <a:r>
              <a:rPr dirty="0"/>
              <a:t> show. Los </a:t>
            </a:r>
            <a:r>
              <a:rPr dirty="0" err="1"/>
              <a:t>contextos</a:t>
            </a:r>
            <a:r>
              <a:rPr dirty="0"/>
              <a:t> son </a:t>
            </a:r>
            <a:r>
              <a:rPr dirty="0" err="1"/>
              <a:t>inmutables</a:t>
            </a:r>
            <a:r>
              <a:rPr dirty="0"/>
              <a:t>. El motor decide PASS, FAIL, NOT_APPLICABLE, NOT_EVALUATED o ERROR. Solo FAIL produce Finding; la IA </a:t>
            </a:r>
            <a:r>
              <a:rPr dirty="0" err="1"/>
              <a:t>todavía</a:t>
            </a:r>
            <a:r>
              <a:rPr dirty="0"/>
              <a:t> no </a:t>
            </a:r>
            <a:r>
              <a:rPr dirty="0" err="1"/>
              <a:t>participa</a:t>
            </a:r>
            <a:r>
              <a:rPr dirty="0"/>
              <a:t>.</a:t>
            </a:r>
          </a:p>
          <a:p>
            <a:r>
              <a:rPr dirty="0" err="1"/>
              <a:t>Prueba</a:t>
            </a:r>
            <a:r>
              <a:rPr dirty="0"/>
              <a:t> 1: el </a:t>
            </a:r>
            <a:r>
              <a:rPr dirty="0" err="1"/>
              <a:t>análisis</a:t>
            </a:r>
            <a:r>
              <a:rPr dirty="0"/>
              <a:t> real de CSR1000v </a:t>
            </a:r>
            <a:r>
              <a:rPr dirty="0" err="1"/>
              <a:t>completó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sesión</a:t>
            </a:r>
            <a:r>
              <a:rPr dirty="0"/>
              <a:t> y </a:t>
            </a:r>
            <a:r>
              <a:rPr dirty="0" err="1"/>
              <a:t>desconexión</a:t>
            </a:r>
            <a:r>
              <a:rPr dirty="0"/>
              <a:t>, </a:t>
            </a:r>
            <a:r>
              <a:rPr dirty="0" err="1"/>
              <a:t>ocho</a:t>
            </a:r>
            <a:r>
              <a:rPr dirty="0"/>
              <a:t> </a:t>
            </a:r>
            <a:r>
              <a:rPr dirty="0" err="1"/>
              <a:t>comandos</a:t>
            </a:r>
            <a:r>
              <a:rPr dirty="0"/>
              <a:t> </a:t>
            </a:r>
            <a:r>
              <a:rPr dirty="0" err="1"/>
              <a:t>autorizados</a:t>
            </a:r>
            <a:r>
              <a:rPr dirty="0"/>
              <a:t> y </a:t>
            </a:r>
            <a:r>
              <a:rPr dirty="0" err="1"/>
              <a:t>ocho</a:t>
            </a:r>
            <a:r>
              <a:rPr dirty="0"/>
              <a:t> </a:t>
            </a:r>
            <a:r>
              <a:rPr dirty="0" err="1"/>
              <a:t>evidencias</a:t>
            </a:r>
            <a:r>
              <a:rPr dirty="0"/>
              <a:t>. </a:t>
            </a:r>
            <a:r>
              <a:rPr dirty="0" err="1"/>
              <a:t>Prueba</a:t>
            </a:r>
            <a:r>
              <a:rPr dirty="0"/>
              <a:t> 2: el motor </a:t>
            </a:r>
            <a:r>
              <a:rPr dirty="0" err="1"/>
              <a:t>produjo</a:t>
            </a:r>
            <a:r>
              <a:rPr dirty="0"/>
              <a:t> 21 </a:t>
            </a:r>
            <a:r>
              <a:rPr dirty="0" err="1"/>
              <a:t>evaluaciones</a:t>
            </a:r>
            <a:r>
              <a:rPr dirty="0"/>
              <a:t> y </a:t>
            </a:r>
            <a:r>
              <a:rPr dirty="0" err="1"/>
              <a:t>tres</a:t>
            </a:r>
            <a:r>
              <a:rPr dirty="0"/>
              <a:t> findings: IOS-NTP-001 y IOS-LOG-001 MEDIUM, IOS-AUTH-003 HIGH. Los </a:t>
            </a:r>
            <a:r>
              <a:rPr dirty="0" err="1"/>
              <a:t>recortes</a:t>
            </a:r>
            <a:r>
              <a:rPr dirty="0"/>
              <a:t> son </a:t>
            </a:r>
            <a:r>
              <a:rPr dirty="0" err="1"/>
              <a:t>extractos</a:t>
            </a:r>
            <a:r>
              <a:rPr dirty="0"/>
              <a:t> </a:t>
            </a:r>
            <a:r>
              <a:rPr dirty="0" err="1"/>
              <a:t>independientes</a:t>
            </a:r>
            <a:r>
              <a:rPr dirty="0"/>
              <a:t> de las </a:t>
            </a:r>
            <a:r>
              <a:rPr dirty="0" err="1"/>
              <a:t>filas</a:t>
            </a:r>
            <a:r>
              <a:rPr dirty="0"/>
              <a:t> reales FAIL, no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tabla</a:t>
            </a:r>
            <a:r>
              <a:rPr dirty="0"/>
              <a:t> completa. NOT_EVALUATED </a:t>
            </a:r>
            <a:r>
              <a:rPr dirty="0" err="1"/>
              <a:t>significa</a:t>
            </a:r>
            <a:r>
              <a:rPr dirty="0"/>
              <a:t> </a:t>
            </a:r>
            <a:r>
              <a:rPr dirty="0" err="1"/>
              <a:t>evidencia</a:t>
            </a:r>
            <a:r>
              <a:rPr dirty="0"/>
              <a:t> </a:t>
            </a:r>
            <a:r>
              <a:rPr dirty="0" err="1"/>
              <a:t>insuficiente</a:t>
            </a:r>
            <a:r>
              <a:rPr dirty="0"/>
              <a:t>, no </a:t>
            </a:r>
            <a:r>
              <a:rPr dirty="0" err="1"/>
              <a:t>necesariamente</a:t>
            </a:r>
            <a:r>
              <a:rPr dirty="0"/>
              <a:t> un error.</a:t>
            </a:r>
          </a:p>
          <a:p>
            <a:r>
              <a:rPr dirty="0" err="1"/>
              <a:t>Prueba</a:t>
            </a:r>
            <a:r>
              <a:rPr dirty="0"/>
              <a:t> 3: </a:t>
            </a:r>
            <a:r>
              <a:rPr dirty="0" err="1"/>
              <a:t>tres</a:t>
            </a:r>
            <a:r>
              <a:rPr dirty="0"/>
              <a:t> </a:t>
            </a:r>
            <a:r>
              <a:rPr dirty="0" err="1"/>
              <a:t>escenarios</a:t>
            </a:r>
            <a:r>
              <a:rPr dirty="0"/>
              <a:t> </a:t>
            </a:r>
            <a:r>
              <a:rPr dirty="0" err="1"/>
              <a:t>sintéticos</a:t>
            </a:r>
            <a:r>
              <a:rPr dirty="0"/>
              <a:t> </a:t>
            </a:r>
            <a:r>
              <a:rPr dirty="0" err="1"/>
              <a:t>aportan</a:t>
            </a:r>
            <a:r>
              <a:rPr dirty="0"/>
              <a:t> 63 de 63 </a:t>
            </a:r>
            <a:r>
              <a:rPr dirty="0" err="1"/>
              <a:t>comparaciones</a:t>
            </a:r>
            <a:r>
              <a:rPr dirty="0"/>
              <a:t>, sin </a:t>
            </a:r>
            <a:r>
              <a:rPr dirty="0" err="1"/>
              <a:t>diferencias</a:t>
            </a:r>
            <a:r>
              <a:rPr dirty="0"/>
              <a:t> </a:t>
            </a:r>
            <a:r>
              <a:rPr dirty="0" err="1"/>
              <a:t>ni</a:t>
            </a:r>
            <a:r>
              <a:rPr dirty="0"/>
              <a:t> </a:t>
            </a:r>
            <a:r>
              <a:rPr dirty="0" err="1"/>
              <a:t>errores</a:t>
            </a:r>
            <a:r>
              <a:rPr dirty="0"/>
              <a:t> de </a:t>
            </a:r>
            <a:r>
              <a:rPr dirty="0" err="1"/>
              <a:t>contrato</a:t>
            </a:r>
            <a:r>
              <a:rPr dirty="0"/>
              <a:t>. </a:t>
            </a:r>
            <a:r>
              <a:rPr dirty="0" err="1"/>
              <a:t>Totales</a:t>
            </a:r>
            <a:r>
              <a:rPr dirty="0"/>
              <a:t> 32 PASS, 17 FAIL y 14 NOT_EVALUATED. Los 703 tests son </a:t>
            </a:r>
            <a:r>
              <a:rPr dirty="0" err="1"/>
              <a:t>pruebas</a:t>
            </a:r>
            <a:r>
              <a:rPr dirty="0"/>
              <a:t> </a:t>
            </a:r>
            <a:r>
              <a:rPr dirty="0" err="1"/>
              <a:t>automatizadas</a:t>
            </a:r>
            <a:r>
              <a:rPr dirty="0"/>
              <a:t> de software; no 703 </a:t>
            </a:r>
            <a:r>
              <a:rPr dirty="0" err="1"/>
              <a:t>pruebas</a:t>
            </a:r>
            <a:r>
              <a:rPr dirty="0"/>
              <a:t> </a:t>
            </a:r>
            <a:r>
              <a:rPr dirty="0" err="1"/>
              <a:t>ejecutadas</a:t>
            </a:r>
            <a:r>
              <a:rPr dirty="0"/>
              <a:t> contra el router. Se </a:t>
            </a:r>
            <a:r>
              <a:rPr dirty="0" err="1"/>
              <a:t>conserva</a:t>
            </a:r>
            <a:r>
              <a:rPr dirty="0"/>
              <a:t> el warning </a:t>
            </a:r>
            <a:r>
              <a:rPr dirty="0" err="1"/>
              <a:t>externo</a:t>
            </a:r>
            <a:r>
              <a:rPr dirty="0"/>
              <a:t> Starlette/</a:t>
            </a:r>
            <a:r>
              <a:rPr dirty="0" err="1"/>
              <a:t>AnyIO</a:t>
            </a:r>
            <a:r>
              <a:rPr dirty="0"/>
              <a:t>. CSR1000v es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validación</a:t>
            </a:r>
            <a:r>
              <a:rPr dirty="0"/>
              <a:t> manual real </a:t>
            </a:r>
            <a:r>
              <a:rPr dirty="0" err="1"/>
              <a:t>independiente</a:t>
            </a:r>
            <a:r>
              <a:rPr dirty="0"/>
              <a:t>.</a:t>
            </a:r>
          </a:p>
          <a:p>
            <a:r>
              <a:rPr dirty="0"/>
              <a:t>Demo de Axl: </a:t>
            </a:r>
            <a:r>
              <a:rPr dirty="0" err="1"/>
              <a:t>preparar</a:t>
            </a:r>
            <a:r>
              <a:rPr dirty="0"/>
              <a:t> antes de </a:t>
            </a:r>
            <a:r>
              <a:rPr dirty="0" err="1"/>
              <a:t>proyectar</a:t>
            </a:r>
            <a:r>
              <a:rPr dirty="0"/>
              <a:t> VirtualBox con la CSR1000v </a:t>
            </a:r>
            <a:r>
              <a:rPr dirty="0" err="1"/>
              <a:t>encendida</a:t>
            </a:r>
            <a:r>
              <a:rPr dirty="0"/>
              <a:t>, VS Code y terminal. No </a:t>
            </a:r>
            <a:r>
              <a:rPr dirty="0" err="1"/>
              <a:t>ingresar</a:t>
            </a:r>
            <a:r>
              <a:rPr dirty="0"/>
              <a:t> </a:t>
            </a:r>
            <a:r>
              <a:rPr dirty="0" err="1"/>
              <a:t>credenciales</a:t>
            </a:r>
            <a:r>
              <a:rPr dirty="0"/>
              <a:t> </a:t>
            </a:r>
            <a:r>
              <a:rPr dirty="0" err="1"/>
              <a:t>durante</a:t>
            </a:r>
            <a:r>
              <a:rPr dirty="0"/>
              <a:t> la </a:t>
            </a:r>
            <a:r>
              <a:rPr dirty="0" err="1"/>
              <a:t>exposición</a:t>
            </a:r>
            <a:r>
              <a:rPr dirty="0"/>
              <a:t>. La </a:t>
            </a:r>
            <a:r>
              <a:rPr dirty="0" err="1"/>
              <a:t>ejecución</a:t>
            </a:r>
            <a:r>
              <a:rPr dirty="0"/>
              <a:t> del wrapper </a:t>
            </a:r>
            <a:r>
              <a:rPr dirty="0" err="1"/>
              <a:t>requiere</a:t>
            </a:r>
            <a:r>
              <a:rPr dirty="0"/>
              <a:t> entradas </a:t>
            </a:r>
            <a:r>
              <a:rPr dirty="0" err="1"/>
              <a:t>ocultas</a:t>
            </a:r>
            <a:r>
              <a:rPr dirty="0"/>
              <a:t>, </a:t>
            </a:r>
            <a:r>
              <a:rPr dirty="0" err="1"/>
              <a:t>así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se </a:t>
            </a:r>
            <a:r>
              <a:rPr dirty="0" err="1"/>
              <a:t>realiza</a:t>
            </a:r>
            <a:r>
              <a:rPr dirty="0"/>
              <a:t> antes de la </a:t>
            </a:r>
            <a:r>
              <a:rPr dirty="0" err="1"/>
              <a:t>exposición</a:t>
            </a:r>
            <a:r>
              <a:rPr dirty="0"/>
              <a:t> y se </a:t>
            </a:r>
            <a:r>
              <a:rPr dirty="0" err="1"/>
              <a:t>muestra</a:t>
            </a:r>
            <a:r>
              <a:rPr dirty="0"/>
              <a:t> el </a:t>
            </a:r>
            <a:r>
              <a:rPr dirty="0" err="1"/>
              <a:t>bloque</a:t>
            </a:r>
            <a:r>
              <a:rPr dirty="0"/>
              <a:t> </a:t>
            </a:r>
            <a:r>
              <a:rPr dirty="0" err="1"/>
              <a:t>sanitizado</a:t>
            </a:r>
            <a:r>
              <a:rPr dirty="0"/>
              <a:t> </a:t>
            </a:r>
            <a:r>
              <a:rPr dirty="0" err="1"/>
              <a:t>ya</a:t>
            </a:r>
            <a:r>
              <a:rPr dirty="0"/>
              <a:t> </a:t>
            </a:r>
            <a:r>
              <a:rPr dirty="0" err="1"/>
              <a:t>obtenido</a:t>
            </a:r>
            <a:r>
              <a:rPr dirty="0"/>
              <a:t>, </a:t>
            </a:r>
            <a:r>
              <a:rPr dirty="0" err="1"/>
              <a:t>identificándolo</a:t>
            </a:r>
            <a:r>
              <a:rPr dirty="0"/>
              <a:t> </a:t>
            </a:r>
            <a:r>
              <a:rPr dirty="0" err="1"/>
              <a:t>honestamente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resultado</a:t>
            </a:r>
            <a:r>
              <a:rPr dirty="0"/>
              <a:t> de la </a:t>
            </a:r>
            <a:r>
              <a:rPr dirty="0" err="1"/>
              <a:t>ejecución</a:t>
            </a:r>
            <a:r>
              <a:rPr dirty="0"/>
              <a:t> previa. No </a:t>
            </a:r>
            <a:r>
              <a:rPr dirty="0" err="1"/>
              <a:t>presentar</a:t>
            </a:r>
            <a:r>
              <a:rPr dirty="0"/>
              <a:t> el </a:t>
            </a:r>
            <a:r>
              <a:rPr dirty="0" err="1"/>
              <a:t>resultado</a:t>
            </a:r>
            <a:r>
              <a:rPr dirty="0"/>
              <a:t> </a:t>
            </a:r>
            <a:r>
              <a:rPr dirty="0" err="1"/>
              <a:t>conservado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nueva</a:t>
            </a:r>
            <a:r>
              <a:rPr dirty="0"/>
              <a:t> </a:t>
            </a:r>
            <a:r>
              <a:rPr dirty="0" err="1"/>
              <a:t>sesión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vivo.</a:t>
            </a:r>
          </a:p>
          <a:p>
            <a:r>
              <a:rPr dirty="0"/>
              <a:t>En VS Code </a:t>
            </a:r>
            <a:r>
              <a:rPr dirty="0" err="1"/>
              <a:t>mostrar</a:t>
            </a:r>
            <a:r>
              <a:rPr dirty="0"/>
              <a:t> </a:t>
            </a:r>
            <a:r>
              <a:rPr dirty="0" err="1"/>
              <a:t>únicamente</a:t>
            </a:r>
            <a:r>
              <a:rPr dirty="0"/>
              <a:t> scripts/evaluacion_2/run_csr1000v_validation.py: </a:t>
            </a:r>
            <a:r>
              <a:rPr dirty="0" err="1"/>
              <a:t>request_connection</a:t>
            </a:r>
            <a:r>
              <a:rPr dirty="0"/>
              <a:t>() (entradas </a:t>
            </a:r>
            <a:r>
              <a:rPr dirty="0" err="1"/>
              <a:t>ocultas</a:t>
            </a:r>
            <a:r>
              <a:rPr dirty="0"/>
              <a:t>), main() con </a:t>
            </a:r>
            <a:r>
              <a:rPr dirty="0" err="1"/>
              <a:t>collect_and_analyze_device</a:t>
            </a:r>
            <a:r>
              <a:rPr dirty="0"/>
              <a:t>(), y </a:t>
            </a:r>
            <a:r>
              <a:rPr dirty="0" err="1"/>
              <a:t>render_result</a:t>
            </a:r>
            <a:r>
              <a:rPr dirty="0"/>
              <a:t>() (solo </a:t>
            </a:r>
            <a:r>
              <a:rPr dirty="0" err="1"/>
              <a:t>conteos</a:t>
            </a:r>
            <a:r>
              <a:rPr dirty="0"/>
              <a:t>, ID, </a:t>
            </a:r>
            <a:r>
              <a:rPr dirty="0" err="1"/>
              <a:t>estado</a:t>
            </a:r>
            <a:r>
              <a:rPr dirty="0"/>
              <a:t> y </a:t>
            </a:r>
            <a:r>
              <a:rPr dirty="0" err="1"/>
              <a:t>severidad</a:t>
            </a:r>
            <a:r>
              <a:rPr dirty="0"/>
              <a:t>). No </a:t>
            </a:r>
            <a:r>
              <a:rPr dirty="0" err="1"/>
              <a:t>recorrer</a:t>
            </a:r>
            <a:r>
              <a:rPr dirty="0"/>
              <a:t> </a:t>
            </a:r>
            <a:r>
              <a:rPr dirty="0" err="1"/>
              <a:t>configuración</a:t>
            </a:r>
            <a:r>
              <a:rPr dirty="0"/>
              <a:t> real, </a:t>
            </a:r>
            <a:r>
              <a:rPr dirty="0" err="1"/>
              <a:t>terminales</a:t>
            </a:r>
            <a:r>
              <a:rPr dirty="0"/>
              <a:t> con </a:t>
            </a:r>
            <a:r>
              <a:rPr dirty="0" err="1"/>
              <a:t>historial</a:t>
            </a:r>
            <a:r>
              <a:rPr dirty="0"/>
              <a:t> o variables </a:t>
            </a:r>
            <a:r>
              <a:rPr dirty="0" err="1"/>
              <a:t>privadas</a:t>
            </a:r>
            <a:r>
              <a:rPr dirty="0"/>
              <a:t>.</a:t>
            </a:r>
          </a:p>
          <a:p>
            <a:r>
              <a:rPr dirty="0" err="1"/>
              <a:t>Comando</a:t>
            </a:r>
            <a:r>
              <a:rPr dirty="0"/>
              <a:t> de </a:t>
            </a:r>
            <a:r>
              <a:rPr dirty="0" err="1"/>
              <a:t>preparación</a:t>
            </a:r>
            <a:r>
              <a:rPr dirty="0"/>
              <a:t> </a:t>
            </a:r>
            <a:r>
              <a:rPr dirty="0" err="1"/>
              <a:t>autorizado</a:t>
            </a:r>
            <a:r>
              <a:rPr dirty="0"/>
              <a:t> para </a:t>
            </a:r>
            <a:r>
              <a:rPr dirty="0" err="1"/>
              <a:t>ejecución</a:t>
            </a:r>
            <a:r>
              <a:rPr dirty="0"/>
              <a:t> MANUAL del </a:t>
            </a:r>
            <a:r>
              <a:rPr dirty="0" err="1"/>
              <a:t>responsable</a:t>
            </a:r>
            <a:r>
              <a:rPr dirty="0"/>
              <a:t> antes de </a:t>
            </a:r>
            <a:r>
              <a:rPr dirty="0" err="1"/>
              <a:t>proyectar</a:t>
            </a:r>
            <a:r>
              <a:rPr dirty="0"/>
              <a:t>: .\.</a:t>
            </a:r>
            <a:r>
              <a:rPr dirty="0" err="1"/>
              <a:t>venv</a:t>
            </a:r>
            <a:r>
              <a:rPr dirty="0"/>
              <a:t>\Scripts\python.exe scripts\evaluacion_2\run_csr1000v_validation.py. Un </a:t>
            </a:r>
            <a:r>
              <a:rPr dirty="0" err="1"/>
              <a:t>intento</a:t>
            </a:r>
            <a:r>
              <a:rPr dirty="0"/>
              <a:t>, sin </a:t>
            </a:r>
            <a:r>
              <a:rPr dirty="0" err="1"/>
              <a:t>reintento</a:t>
            </a:r>
            <a:r>
              <a:rPr dirty="0"/>
              <a:t> </a:t>
            </a:r>
            <a:r>
              <a:rPr dirty="0" err="1"/>
              <a:t>automático</a:t>
            </a:r>
            <a:r>
              <a:rPr dirty="0"/>
              <a:t>. Si </a:t>
            </a:r>
            <a:r>
              <a:rPr dirty="0" err="1"/>
              <a:t>falla</a:t>
            </a:r>
            <a:r>
              <a:rPr dirty="0"/>
              <a:t>, </a:t>
            </a:r>
            <a:r>
              <a:rPr dirty="0" err="1"/>
              <a:t>mostrar</a:t>
            </a:r>
            <a:r>
              <a:rPr dirty="0"/>
              <a:t> el error </a:t>
            </a:r>
            <a:r>
              <a:rPr dirty="0" err="1"/>
              <a:t>sanitizado</a:t>
            </a:r>
            <a:r>
              <a:rPr dirty="0"/>
              <a:t> y usar la </a:t>
            </a:r>
            <a:r>
              <a:rPr dirty="0" err="1"/>
              <a:t>evidencia</a:t>
            </a:r>
            <a:r>
              <a:rPr dirty="0"/>
              <a:t> anterior </a:t>
            </a:r>
            <a:r>
              <a:rPr dirty="0" err="1"/>
              <a:t>identificada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tal</a:t>
            </a:r>
            <a:r>
              <a:rPr dirty="0"/>
              <a:t>, sin </a:t>
            </a:r>
            <a:r>
              <a:rPr dirty="0" err="1"/>
              <a:t>inventar</a:t>
            </a:r>
            <a:r>
              <a:rPr dirty="0"/>
              <a:t> </a:t>
            </a:r>
            <a:r>
              <a:rPr dirty="0" err="1"/>
              <a:t>éxito</a:t>
            </a:r>
            <a:r>
              <a:rPr dirty="0"/>
              <a:t>.</a:t>
            </a:r>
          </a:p>
          <a:p>
            <a:r>
              <a:rPr dirty="0"/>
              <a:t>show version / show </a:t>
            </a:r>
            <a:r>
              <a:rPr dirty="0" err="1"/>
              <a:t>ip</a:t>
            </a:r>
            <a:r>
              <a:rPr dirty="0"/>
              <a:t> ssh solo </a:t>
            </a:r>
            <a:r>
              <a:rPr dirty="0" err="1"/>
              <a:t>opcionales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se </a:t>
            </a:r>
            <a:r>
              <a:rPr dirty="0" err="1"/>
              <a:t>asegura</a:t>
            </a:r>
            <a:r>
              <a:rPr dirty="0"/>
              <a:t> un </a:t>
            </a:r>
            <a:r>
              <a:rPr dirty="0" err="1"/>
              <a:t>recorte</a:t>
            </a:r>
            <a:r>
              <a:rPr dirty="0"/>
              <a:t> </a:t>
            </a:r>
            <a:r>
              <a:rPr dirty="0" err="1"/>
              <a:t>seguro</a:t>
            </a:r>
            <a:r>
              <a:rPr dirty="0"/>
              <a:t> y no se </a:t>
            </a:r>
            <a:r>
              <a:rPr dirty="0" err="1"/>
              <a:t>proyectan</a:t>
            </a:r>
            <a:r>
              <a:rPr dirty="0"/>
              <a:t> hostname, </a:t>
            </a:r>
            <a:r>
              <a:rPr dirty="0" err="1"/>
              <a:t>seriales</a:t>
            </a:r>
            <a:r>
              <a:rPr dirty="0"/>
              <a:t>, </a:t>
            </a:r>
            <a:r>
              <a:rPr dirty="0" err="1"/>
              <a:t>direcciones</a:t>
            </a:r>
            <a:r>
              <a:rPr dirty="0"/>
              <a:t> </a:t>
            </a:r>
            <a:r>
              <a:rPr dirty="0" err="1"/>
              <a:t>ni</a:t>
            </a:r>
            <a:r>
              <a:rPr dirty="0"/>
              <a:t> claves. </a:t>
            </a:r>
            <a:r>
              <a:rPr dirty="0" err="1"/>
              <a:t>Preferir</a:t>
            </a:r>
            <a:r>
              <a:rPr dirty="0"/>
              <a:t> el </a:t>
            </a:r>
            <a:r>
              <a:rPr dirty="0" err="1"/>
              <a:t>recorte</a:t>
            </a:r>
            <a:r>
              <a:rPr dirty="0"/>
              <a:t> de </a:t>
            </a:r>
            <a:r>
              <a:rPr dirty="0" err="1"/>
              <a:t>versión</a:t>
            </a:r>
            <a:r>
              <a:rPr dirty="0"/>
              <a:t> </a:t>
            </a:r>
            <a:r>
              <a:rPr dirty="0" err="1"/>
              <a:t>ya</a:t>
            </a:r>
            <a:r>
              <a:rPr dirty="0"/>
              <a:t> </a:t>
            </a:r>
            <a:r>
              <a:rPr dirty="0" err="1"/>
              <a:t>sanitizado</a:t>
            </a:r>
            <a:r>
              <a:rPr dirty="0"/>
              <a:t>.</a:t>
            </a:r>
          </a:p>
          <a:p>
            <a:r>
              <a:rPr dirty="0"/>
              <a:t>Durante la </a:t>
            </a:r>
            <a:r>
              <a:rPr dirty="0" err="1"/>
              <a:t>exposición</a:t>
            </a:r>
            <a:r>
              <a:rPr dirty="0"/>
              <a:t> </a:t>
            </a:r>
            <a:r>
              <a:rPr dirty="0" err="1"/>
              <a:t>sí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ejecutarse</a:t>
            </a:r>
            <a:r>
              <a:rPr dirty="0"/>
              <a:t> offline: .\.</a:t>
            </a:r>
            <a:r>
              <a:rPr dirty="0" err="1"/>
              <a:t>venv</a:t>
            </a:r>
            <a:r>
              <a:rPr dirty="0"/>
              <a:t>\Scripts\python.exe scripts\evaluacion_2\run_validation_scenarios.py --summary-only. Si hay </a:t>
            </a:r>
            <a:r>
              <a:rPr dirty="0" err="1"/>
              <a:t>tiempo</a:t>
            </a:r>
            <a:r>
              <a:rPr dirty="0"/>
              <a:t>, .\.</a:t>
            </a:r>
            <a:r>
              <a:rPr dirty="0" err="1"/>
              <a:t>venv</a:t>
            </a:r>
            <a:r>
              <a:rPr dirty="0"/>
              <a:t>\Scripts\python.exe -m </a:t>
            </a:r>
            <a:r>
              <a:rPr dirty="0" err="1"/>
              <a:t>pytest</a:t>
            </a:r>
            <a:r>
              <a:rPr dirty="0"/>
              <a:t> -q, con $env:PYTHONUTF8='1'. No </a:t>
            </a:r>
            <a:r>
              <a:rPr dirty="0" err="1"/>
              <a:t>ocultar</a:t>
            </a:r>
            <a:r>
              <a:rPr dirty="0"/>
              <a:t> warnings </a:t>
            </a:r>
            <a:r>
              <a:rPr dirty="0" err="1"/>
              <a:t>ni</a:t>
            </a:r>
            <a:r>
              <a:rPr dirty="0"/>
              <a:t> </a:t>
            </a:r>
            <a:r>
              <a:rPr dirty="0" err="1"/>
              <a:t>reutilizar</a:t>
            </a:r>
            <a:r>
              <a:rPr dirty="0"/>
              <a:t> </a:t>
            </a:r>
            <a:r>
              <a:rPr dirty="0" err="1"/>
              <a:t>automáticamente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cifra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la </a:t>
            </a:r>
            <a:r>
              <a:rPr dirty="0" err="1"/>
              <a:t>nueva</a:t>
            </a:r>
            <a:r>
              <a:rPr dirty="0"/>
              <a:t> </a:t>
            </a:r>
            <a:r>
              <a:rPr dirty="0" err="1"/>
              <a:t>ejecución</a:t>
            </a:r>
            <a:r>
              <a:rPr dirty="0"/>
              <a:t> cambia.</a:t>
            </a:r>
          </a:p>
          <a:p>
            <a:r>
              <a:rPr dirty="0"/>
              <a:t>Cierre: </a:t>
            </a:r>
            <a:r>
              <a:rPr dirty="0" err="1"/>
              <a:t>falta</a:t>
            </a:r>
            <a:r>
              <a:rPr dirty="0"/>
              <a:t> </a:t>
            </a:r>
            <a:r>
              <a:rPr dirty="0" err="1"/>
              <a:t>interfaz</a:t>
            </a:r>
            <a:r>
              <a:rPr dirty="0"/>
              <a:t>/</a:t>
            </a:r>
            <a:r>
              <a:rPr dirty="0" err="1"/>
              <a:t>asistente</a:t>
            </a:r>
            <a:r>
              <a:rPr dirty="0"/>
              <a:t> </a:t>
            </a:r>
            <a:r>
              <a:rPr dirty="0" err="1"/>
              <a:t>conversacional</a:t>
            </a:r>
            <a:r>
              <a:rPr dirty="0"/>
              <a:t> con IA </a:t>
            </a:r>
            <a:r>
              <a:rPr dirty="0" err="1"/>
              <a:t>explicativa</a:t>
            </a:r>
            <a:r>
              <a:rPr dirty="0"/>
              <a:t>, </a:t>
            </a:r>
            <a:r>
              <a:rPr dirty="0" err="1"/>
              <a:t>validación</a:t>
            </a:r>
            <a:r>
              <a:rPr dirty="0"/>
              <a:t> final y </a:t>
            </a:r>
            <a:r>
              <a:rPr dirty="0" err="1"/>
              <a:t>cierre</a:t>
            </a:r>
            <a:r>
              <a:rPr dirty="0"/>
              <a:t> documental. IA y PostgreSQL no </a:t>
            </a:r>
            <a:r>
              <a:rPr dirty="0" err="1"/>
              <a:t>implementados</a:t>
            </a:r>
            <a:r>
              <a:rPr dirty="0"/>
              <a:t>. El </a:t>
            </a:r>
            <a:r>
              <a:rPr dirty="0" err="1"/>
              <a:t>prototipo</a:t>
            </a:r>
            <a:r>
              <a:rPr dirty="0"/>
              <a:t> no </a:t>
            </a:r>
            <a:r>
              <a:rPr dirty="0" err="1"/>
              <a:t>cubre</a:t>
            </a:r>
            <a:r>
              <a:rPr dirty="0"/>
              <a:t> </a:t>
            </a:r>
            <a:r>
              <a:rPr dirty="0" err="1"/>
              <a:t>todo</a:t>
            </a:r>
            <a:r>
              <a:rPr dirty="0"/>
              <a:t> Cisco IOS </a:t>
            </a:r>
            <a:r>
              <a:rPr dirty="0" err="1"/>
              <a:t>ni</a:t>
            </a:r>
            <a:r>
              <a:rPr dirty="0"/>
              <a:t> </a:t>
            </a:r>
            <a:r>
              <a:rPr dirty="0" err="1"/>
              <a:t>modifica</a:t>
            </a:r>
            <a:r>
              <a:rPr dirty="0"/>
              <a:t> </a:t>
            </a:r>
            <a:r>
              <a:rPr dirty="0" err="1"/>
              <a:t>dispositivos</a:t>
            </a:r>
            <a:r>
              <a:rPr dirty="0"/>
              <a:t>.</a:t>
            </a:r>
          </a:p>
          <a:p>
            <a:r>
              <a:rPr dirty="0"/>
              <a:t>Fuentes </a:t>
            </a:r>
            <a:r>
              <a:rPr dirty="0" err="1"/>
              <a:t>visuales</a:t>
            </a:r>
            <a:r>
              <a:rPr dirty="0"/>
              <a:t>: Capturas.docx </a:t>
            </a:r>
            <a:r>
              <a:rPr dirty="0" err="1"/>
              <a:t>páginas</a:t>
            </a:r>
            <a:r>
              <a:rPr dirty="0"/>
              <a:t> 1, 2 y 4. Página 1, </a:t>
            </a:r>
            <a:r>
              <a:rPr dirty="0" err="1"/>
              <a:t>líneas</a:t>
            </a:r>
            <a:r>
              <a:rPr dirty="0"/>
              <a:t> de </a:t>
            </a:r>
            <a:r>
              <a:rPr dirty="0" err="1"/>
              <a:t>versión</a:t>
            </a:r>
            <a:r>
              <a:rPr dirty="0"/>
              <a:t> IOS sin indicador de consola/</a:t>
            </a:r>
            <a:r>
              <a:rPr dirty="0" err="1"/>
              <a:t>seriales</a:t>
            </a:r>
            <a:r>
              <a:rPr dirty="0"/>
              <a:t>; </a:t>
            </a:r>
            <a:r>
              <a:rPr dirty="0" err="1"/>
              <a:t>página</a:t>
            </a:r>
            <a:r>
              <a:rPr dirty="0"/>
              <a:t> 2, </a:t>
            </a:r>
            <a:r>
              <a:rPr dirty="0" err="1"/>
              <a:t>resumen</a:t>
            </a:r>
            <a:r>
              <a:rPr dirty="0"/>
              <a:t> de </a:t>
            </a:r>
            <a:r>
              <a:rPr dirty="0" err="1"/>
              <a:t>adquisición</a:t>
            </a:r>
            <a:r>
              <a:rPr dirty="0"/>
              <a:t>, </a:t>
            </a:r>
            <a:r>
              <a:rPr dirty="0" err="1"/>
              <a:t>totales</a:t>
            </a:r>
            <a:r>
              <a:rPr dirty="0"/>
              <a:t> y </a:t>
            </a:r>
            <a:r>
              <a:rPr dirty="0" err="1"/>
              <a:t>filas</a:t>
            </a:r>
            <a:r>
              <a:rPr dirty="0"/>
              <a:t> FAIL; </a:t>
            </a:r>
            <a:r>
              <a:rPr dirty="0" err="1"/>
              <a:t>página</a:t>
            </a:r>
            <a:r>
              <a:rPr dirty="0"/>
              <a:t> 4, </a:t>
            </a:r>
            <a:r>
              <a:rPr dirty="0" err="1"/>
              <a:t>resultado</a:t>
            </a:r>
            <a:r>
              <a:rPr dirty="0"/>
              <a:t> </a:t>
            </a:r>
            <a:r>
              <a:rPr dirty="0" err="1"/>
              <a:t>pytest</a:t>
            </a:r>
            <a:r>
              <a:rPr dirty="0"/>
              <a:t> y </a:t>
            </a:r>
            <a:r>
              <a:rPr dirty="0" err="1"/>
              <a:t>resumen</a:t>
            </a:r>
            <a:r>
              <a:rPr dirty="0"/>
              <a:t> </a:t>
            </a:r>
            <a:r>
              <a:rPr dirty="0" err="1"/>
              <a:t>completo</a:t>
            </a:r>
            <a:r>
              <a:rPr dirty="0"/>
              <a:t> de </a:t>
            </a:r>
            <a:r>
              <a:rPr dirty="0" err="1"/>
              <a:t>campaña</a:t>
            </a:r>
            <a:r>
              <a:rPr dirty="0"/>
              <a:t>. No se </a:t>
            </a:r>
            <a:r>
              <a:rPr dirty="0" err="1"/>
              <a:t>reescribió</a:t>
            </a:r>
            <a:r>
              <a:rPr dirty="0"/>
              <a:t> </a:t>
            </a:r>
            <a:r>
              <a:rPr dirty="0" err="1"/>
              <a:t>ningún</a:t>
            </a:r>
            <a:r>
              <a:rPr dirty="0"/>
              <a:t> </a:t>
            </a:r>
            <a:r>
              <a:rPr dirty="0" err="1"/>
              <a:t>píxel</a:t>
            </a:r>
            <a:r>
              <a:rPr dirty="0"/>
              <a:t> de </a:t>
            </a:r>
            <a:r>
              <a:rPr dirty="0" err="1"/>
              <a:t>resultados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eccion">
            <a:extLst>
              <a:ext uri="{FF2B5EF4-FFF2-40B4-BE49-F238E27FC236}">
                <a16:creationId xmlns:a16="http://schemas.microsoft.com/office/drawing/2014/main" id="{7F17F7B4-659B-4A47-86A5-D79E0DA172D8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847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1677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776B"/>
                </a:solidFill>
                <a:latin typeface="Arial"/>
                <a:ea typeface="Arial"/>
                <a:cs typeface="Arial"/>
              </a:rPr>
              <a:t>01 · AVANCE TÉCNICO</a:t>
            </a:r>
          </a:p>
        </p:txBody>
      </p:sp>
      <p:sp>
        <p:nvSpPr>
          <p:cNvPr id="2" name="titulo">
            <a:extLst>
              <a:ext uri="{FF2B5EF4-FFF2-40B4-BE49-F238E27FC236}">
                <a16:creationId xmlns:a16="http://schemas.microsoft.com/office/drawing/2014/main" id="{CD71BEE1-08F6-4D49-A1E0-70A9A405E4A8}"/>
              </a:ext>
            </a:extLst>
          </p:cNvPr>
          <p:cNvSpPr>
            <a:spLocks noGrp="1"/>
          </p:cNvSpPr>
          <p:nvPr/>
        </p:nvSpPr>
        <p:spPr>
          <a:xfrm>
            <a:off x="419100" y="523875"/>
            <a:ext cx="113538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1">
                <a:solidFill>
                  <a:srgbClr val="182C3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2C30"/>
                </a:solidFill>
                <a:latin typeface="Arial"/>
                <a:ea typeface="Arial"/>
                <a:cs typeface="Arial"/>
              </a:rPr>
              <a:t>Tareas técnicas y estado de avance</a:t>
            </a:r>
          </a:p>
        </p:txBody>
      </p:sp>
      <p:sp>
        <p:nvSpPr>
          <p:cNvPr id="3" name="identidad">
            <a:extLst>
              <a:ext uri="{FF2B5EF4-FFF2-40B4-BE49-F238E27FC236}">
                <a16:creationId xmlns:a16="http://schemas.microsoft.com/office/drawing/2014/main" id="{FD726EF4-6B21-4B62-BB29-10589043FF6E}"/>
              </a:ext>
            </a:extLst>
          </p:cNvPr>
          <p:cNvSpPr>
            <a:spLocks noGrp="1"/>
          </p:cNvSpPr>
          <p:nvPr/>
        </p:nvSpPr>
        <p:spPr>
          <a:xfrm>
            <a:off x="9191625" y="228600"/>
            <a:ext cx="25812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97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86D"/>
                </a:solidFill>
                <a:latin typeface="Arial"/>
                <a:ea typeface="Arial"/>
                <a:cs typeface="Arial"/>
              </a:rPr>
              <a:t>NetAudit · Evaluación 2 APT</a:t>
            </a:r>
          </a:p>
        </p:txBody>
      </p:sp>
      <p:sp>
        <p:nvSpPr>
          <p:cNvPr id="4" name="pie">
            <a:extLst>
              <a:ext uri="{FF2B5EF4-FFF2-40B4-BE49-F238E27FC236}">
                <a16:creationId xmlns:a16="http://schemas.microsoft.com/office/drawing/2014/main" id="{098315DE-8B53-4E88-99E3-25A8D19A755D}"/>
              </a:ext>
            </a:extLst>
          </p:cNvPr>
          <p:cNvSpPr>
            <a:spLocks noGrp="1"/>
          </p:cNvSpPr>
          <p:nvPr/>
        </p:nvSpPr>
        <p:spPr>
          <a:xfrm>
            <a:off x="419100" y="6572250"/>
            <a:ext cx="10287000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82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86D"/>
                </a:solidFill>
                <a:latin typeface="Arial"/>
                <a:ea typeface="Arial"/>
                <a:cs typeface="Arial"/>
              </a:rPr>
              <a:t>Ingeniería en Conectividad y Redes · Martes 6 de octubre de 2026</a:t>
            </a:r>
          </a:p>
        </p:txBody>
      </p:sp>
      <p:sp>
        <p:nvSpPr>
          <p:cNvPr id="5" name="numero">
            <a:extLst>
              <a:ext uri="{FF2B5EF4-FFF2-40B4-BE49-F238E27FC236}">
                <a16:creationId xmlns:a16="http://schemas.microsoft.com/office/drawing/2014/main" id="{FB88F3DA-E630-4F74-8F29-D71AC2FAFC69}"/>
              </a:ext>
            </a:extLst>
          </p:cNvPr>
          <p:cNvSpPr>
            <a:spLocks noGrp="1"/>
          </p:cNvSpPr>
          <p:nvPr/>
        </p:nvSpPr>
        <p:spPr>
          <a:xfrm>
            <a:off x="11334750" y="6562725"/>
            <a:ext cx="4381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900" b="1">
                <a:solidFill>
                  <a:srgbClr val="16776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6776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graphicFrame>
        <p:nvGraphicFramePr>
          <p:cNvPr id="22" name="Tabla 21"/>
          <p:cNvGraphicFramePr/>
          <p:nvPr/>
        </p:nvGraphicFramePr>
        <p:xfrm>
          <a:off x="419100" y="1057275"/>
          <a:ext cx="11353800" cy="3090672"/>
        </p:xfrm>
        <a:graphic>
          <a:graphicData uri="http://schemas.openxmlformats.org/drawingml/2006/table">
            <a:tbl>
              <a:tblPr/>
              <a:tblGrid>
                <a:gridCol w="2038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47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19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6225">
                <a:tc>
                  <a:txBody>
                    <a:bodyPr/>
                    <a:lstStyle/>
                    <a:p>
                      <a:pPr algn="l">
                        <a:defRPr sz="1005">
                          <a:latin typeface="Arial"/>
                        </a:defRPr>
                      </a:pPr>
                      <a:r>
                        <a:rPr sz="100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Tarea técnica</a:t>
                      </a:r>
                      <a:endParaRPr sz="1005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173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5">
                          <a:latin typeface="Arial"/>
                        </a:defRPr>
                      </a:pPr>
                      <a:r>
                        <a:rPr sz="100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Responsable</a:t>
                      </a:r>
                      <a:endParaRPr sz="1005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173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5">
                          <a:latin typeface="Arial"/>
                        </a:defRPr>
                      </a:pPr>
                      <a:r>
                        <a:rPr sz="100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Fecha planificada</a:t>
                      </a:r>
                      <a:endParaRPr sz="1005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173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5">
                          <a:latin typeface="Arial"/>
                        </a:defRPr>
                      </a:pPr>
                      <a:r>
                        <a:rPr sz="100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% avance</a:t>
                      </a:r>
                      <a:endParaRPr sz="1005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173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5">
                          <a:latin typeface="Arial"/>
                        </a:defRPr>
                      </a:pPr>
                      <a:r>
                        <a:rPr sz="100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Estado</a:t>
                      </a:r>
                      <a:endParaRPr sz="1005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173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5">
                          <a:latin typeface="Arial"/>
                        </a:defRPr>
                      </a:pPr>
                      <a:r>
                        <a:rPr sz="100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Evidencia asociada</a:t>
                      </a:r>
                      <a:endParaRPr sz="1005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173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>
                        <a:defRPr sz="1005">
                          <a:latin typeface="Arial"/>
                        </a:defRPr>
                      </a:pPr>
                      <a:r>
                        <a:rPr sz="1005" b="1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Alcance y requerimientos</a:t>
                      </a:r>
                      <a:endParaRPr sz="1005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5">
                          <a:latin typeface="Arial"/>
                        </a:defRPr>
                      </a:pPr>
                      <a:r>
                        <a:rPr sz="1005" b="0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Equipo completo</a:t>
                      </a:r>
                      <a:endParaRPr sz="1005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5">
                          <a:latin typeface="Arial"/>
                        </a:defRPr>
                      </a:pPr>
                      <a:r>
                        <a:rPr sz="1005" b="0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S1–S2</a:t>
                      </a:r>
                      <a:endParaRPr sz="1005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5">
                          <a:latin typeface="Arial"/>
                        </a:defRPr>
                      </a:pPr>
                      <a:r>
                        <a:rPr sz="1005" b="0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  <a:endParaRPr sz="1005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5">
                          <a:latin typeface="Arial"/>
                        </a:defRPr>
                      </a:pPr>
                      <a:r>
                        <a:rPr sz="1005" b="0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Completada</a:t>
                      </a:r>
                      <a:endParaRPr sz="1005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5">
                          <a:latin typeface="Arial"/>
                        </a:defRPr>
                      </a:pPr>
                      <a:r>
                        <a:rPr sz="1005" b="0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Alcance, objetivos y restricciones de Fase 1</a:t>
                      </a:r>
                      <a:endParaRPr sz="1005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>
                        <a:defRPr sz="1005">
                          <a:latin typeface="Arial"/>
                        </a:defRPr>
                      </a:pPr>
                      <a:r>
                        <a:rPr sz="1005" b="1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Arquitectura y laboratorio</a:t>
                      </a:r>
                      <a:endParaRPr sz="1005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0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5">
                          <a:latin typeface="Arial"/>
                        </a:defRPr>
                      </a:pPr>
                      <a:r>
                        <a:rPr sz="1005" b="0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Axl / Thomas</a:t>
                      </a:r>
                      <a:endParaRPr sz="1005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0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5">
                          <a:latin typeface="Arial"/>
                        </a:defRPr>
                      </a:pPr>
                      <a:r>
                        <a:rPr sz="1005" b="0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S2–S4</a:t>
                      </a:r>
                      <a:endParaRPr sz="1005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0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5">
                          <a:latin typeface="Arial"/>
                        </a:defRPr>
                      </a:pPr>
                      <a:r>
                        <a:rPr sz="1005" b="0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  <a:endParaRPr sz="1005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0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5">
                          <a:latin typeface="Arial"/>
                        </a:defRPr>
                      </a:pPr>
                      <a:r>
                        <a:rPr sz="1005" b="0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Completada</a:t>
                      </a:r>
                      <a:endParaRPr sz="1005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0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5">
                          <a:latin typeface="Arial"/>
                        </a:defRPr>
                      </a:pPr>
                      <a:r>
                        <a:rPr sz="1005" b="0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Arquitectura + CSR1000v IOS XE en VirtualBox</a:t>
                      </a:r>
                      <a:endParaRPr sz="1005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0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>
                        <a:defRPr sz="1005">
                          <a:latin typeface="Arial"/>
                        </a:defRPr>
                      </a:pPr>
                      <a:r>
                        <a:rPr sz="1005" b="1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Recolección y parsing</a:t>
                      </a:r>
                      <a:endParaRPr sz="1005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5">
                          <a:latin typeface="Arial"/>
                        </a:defRPr>
                      </a:pPr>
                      <a:r>
                        <a:rPr sz="1005" b="0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Axl / Thomas</a:t>
                      </a:r>
                      <a:endParaRPr sz="1005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5">
                          <a:latin typeface="Arial"/>
                        </a:defRPr>
                      </a:pPr>
                      <a:r>
                        <a:rPr sz="1005" b="0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S5–S7</a:t>
                      </a:r>
                      <a:endParaRPr sz="1005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5">
                          <a:latin typeface="Arial"/>
                        </a:defRPr>
                      </a:pPr>
                      <a:r>
                        <a:rPr sz="1005" b="0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  <a:endParaRPr sz="1005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5">
                          <a:latin typeface="Arial"/>
                        </a:defRPr>
                      </a:pPr>
                      <a:r>
                        <a:rPr sz="1005" b="0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Completada</a:t>
                      </a:r>
                      <a:endParaRPr sz="1005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5">
                          <a:latin typeface="Arial"/>
                        </a:defRPr>
                      </a:pPr>
                      <a:r>
                        <a:rPr sz="1005" b="0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8 comandos + Netmiko + CiscoConfParse + TextFSM</a:t>
                      </a:r>
                      <a:endParaRPr sz="1005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>
                        <a:defRPr sz="1005">
                          <a:latin typeface="Arial"/>
                        </a:defRPr>
                      </a:pPr>
                      <a:r>
                        <a:rPr sz="1005" b="1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Motor y catálogo de reglas</a:t>
                      </a:r>
                      <a:endParaRPr sz="1005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0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5">
                          <a:latin typeface="Arial"/>
                        </a:defRPr>
                      </a:pPr>
                      <a:r>
                        <a:rPr sz="1005" b="0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Maikol / Axl</a:t>
                      </a:r>
                      <a:endParaRPr sz="1005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0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5">
                          <a:latin typeface="Arial"/>
                        </a:defRPr>
                      </a:pPr>
                      <a:r>
                        <a:rPr sz="1005" b="0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S6–S10</a:t>
                      </a:r>
                      <a:endParaRPr sz="1005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0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5">
                          <a:latin typeface="Arial"/>
                        </a:defRPr>
                      </a:pPr>
                      <a:r>
                        <a:rPr sz="1005" b="0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  <a:endParaRPr sz="1005">
                        <a:latin typeface="Arial"/>
                      </a:endParaRPr>
                    </a:p>
                    <a:p>
                      <a:pPr algn="ctr">
                        <a:defRPr sz="1005">
                          <a:latin typeface="Arial"/>
                        </a:defRPr>
                      </a:pPr>
                      <a:r>
                        <a:rPr sz="1005" b="0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actual / MVP</a:t>
                      </a:r>
                      <a:endParaRPr sz="1005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0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5">
                          <a:latin typeface="Arial"/>
                        </a:defRPr>
                      </a:pPr>
                      <a:r>
                        <a:rPr sz="1005" b="0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Completada para EV2</a:t>
                      </a:r>
                      <a:endParaRPr sz="1005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0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5">
                          <a:latin typeface="Arial"/>
                        </a:defRPr>
                      </a:pPr>
                      <a:r>
                        <a:rPr sz="1005" b="0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21 controles deterministas (14 configuración + 7 operacionales)</a:t>
                      </a:r>
                      <a:endParaRPr sz="1005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0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>
                        <a:defRPr sz="1005">
                          <a:latin typeface="Arial"/>
                        </a:defRPr>
                      </a:pPr>
                      <a:r>
                        <a:rPr sz="1005" b="1" dirty="0" err="1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Integración</a:t>
                      </a:r>
                      <a:r>
                        <a:rPr sz="1005" b="1" dirty="0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 API/</a:t>
                      </a:r>
                      <a:r>
                        <a:rPr sz="1005" b="1" dirty="0" err="1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resultados</a:t>
                      </a:r>
                      <a:endParaRPr sz="1005" dirty="0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5">
                          <a:latin typeface="Arial"/>
                        </a:defRPr>
                      </a:pPr>
                      <a:r>
                        <a:rPr sz="1005" b="0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Axl / Emilio</a:t>
                      </a:r>
                      <a:endParaRPr sz="1005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5">
                          <a:latin typeface="Arial"/>
                        </a:defRPr>
                      </a:pPr>
                      <a:r>
                        <a:rPr sz="1005" b="0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S9–S12</a:t>
                      </a:r>
                      <a:endParaRPr sz="1005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5">
                          <a:latin typeface="Arial"/>
                        </a:defRPr>
                      </a:pPr>
                      <a:r>
                        <a:rPr sz="1005" b="0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  <a:endParaRPr sz="1005">
                        <a:latin typeface="Arial"/>
                      </a:endParaRPr>
                    </a:p>
                    <a:p>
                      <a:pPr algn="ctr">
                        <a:defRPr sz="1005">
                          <a:latin typeface="Arial"/>
                        </a:defRPr>
                      </a:pPr>
                      <a:r>
                        <a:rPr sz="1005" b="0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alcance actual</a:t>
                      </a:r>
                      <a:endParaRPr sz="1005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5">
                          <a:latin typeface="Arial"/>
                        </a:defRPr>
                      </a:pPr>
                      <a:r>
                        <a:rPr sz="1005" b="0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A tiempo / completada</a:t>
                      </a:r>
                      <a:endParaRPr sz="1005">
                        <a:latin typeface="Arial"/>
                      </a:endParaRPr>
                    </a:p>
                    <a:p>
                      <a:pPr algn="l">
                        <a:defRPr sz="1005">
                          <a:latin typeface="Arial"/>
                        </a:defRPr>
                      </a:pPr>
                      <a:r>
                        <a:rPr sz="1005" b="0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para alcance actual</a:t>
                      </a:r>
                      <a:endParaRPr sz="1005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5">
                          <a:latin typeface="Arial"/>
                        </a:defRPr>
                      </a:pPr>
                      <a:r>
                        <a:rPr sz="1005" b="0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FastAPI + respuesta estructurada y sanitizada</a:t>
                      </a:r>
                      <a:endParaRPr sz="1005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>
                        <a:defRPr sz="1005">
                          <a:latin typeface="Arial"/>
                        </a:defRPr>
                      </a:pPr>
                      <a:r>
                        <a:rPr sz="1005" b="1" dirty="0" err="1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Interfaz</a:t>
                      </a:r>
                      <a:r>
                        <a:rPr sz="1005" b="1" dirty="0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 y </a:t>
                      </a:r>
                      <a:r>
                        <a:rPr sz="1005" b="1" dirty="0" err="1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reportes</a:t>
                      </a:r>
                      <a:endParaRPr sz="1005" dirty="0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0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5">
                          <a:latin typeface="Arial"/>
                        </a:defRPr>
                      </a:pPr>
                      <a:r>
                        <a:rPr sz="1005" b="0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Emilio / Maikol</a:t>
                      </a:r>
                      <a:endParaRPr sz="1005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0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5">
                          <a:latin typeface="Arial"/>
                        </a:defRPr>
                      </a:pPr>
                      <a:r>
                        <a:rPr sz="1005" b="0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S10–S13</a:t>
                      </a:r>
                      <a:endParaRPr sz="1005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0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5">
                          <a:latin typeface="Arial"/>
                        </a:defRPr>
                      </a:pPr>
                      <a:r>
                        <a:rPr sz="1005" b="0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0%</a:t>
                      </a:r>
                      <a:endParaRPr sz="1005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0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5">
                          <a:latin typeface="Arial"/>
                        </a:defRPr>
                      </a:pPr>
                      <a:r>
                        <a:rPr sz="1005" b="1">
                          <a:solidFill>
                            <a:srgbClr val="52686D"/>
                          </a:solidFill>
                          <a:latin typeface="Arial"/>
                          <a:ea typeface="Arial"/>
                          <a:cs typeface="Arial"/>
                        </a:rPr>
                        <a:t>Planificada / aún no inicia</a:t>
                      </a:r>
                      <a:endParaRPr sz="1005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0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5">
                          <a:latin typeface="Arial"/>
                        </a:defRPr>
                      </a:pPr>
                      <a:r>
                        <a:rPr sz="1005" b="0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Inicio previsto S10; sin implementación funcional todavía</a:t>
                      </a:r>
                      <a:endParaRPr sz="1005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0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>
                        <a:defRPr sz="1005">
                          <a:latin typeface="Arial"/>
                        </a:defRPr>
                      </a:pPr>
                      <a:r>
                        <a:rPr sz="1005" b="1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Pruebas y validación</a:t>
                      </a:r>
                      <a:endParaRPr sz="1005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5">
                          <a:latin typeface="Arial"/>
                        </a:defRPr>
                      </a:pPr>
                      <a:r>
                        <a:rPr sz="1005" b="0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Equipo completo</a:t>
                      </a:r>
                      <a:endParaRPr sz="1005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5">
                          <a:latin typeface="Arial"/>
                        </a:defRPr>
                      </a:pPr>
                      <a:r>
                        <a:rPr sz="1005" b="0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S11–S15</a:t>
                      </a:r>
                      <a:endParaRPr sz="1005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5">
                          <a:latin typeface="Arial"/>
                        </a:defRPr>
                      </a:pPr>
                      <a:r>
                        <a:rPr sz="1005" b="1">
                          <a:solidFill>
                            <a:srgbClr val="8A640B"/>
                          </a:solidFill>
                          <a:latin typeface="Arial"/>
                          <a:ea typeface="Arial"/>
                          <a:cs typeface="Arial"/>
                        </a:rPr>
                        <a:t>65%*</a:t>
                      </a:r>
                      <a:endParaRPr sz="1005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5">
                          <a:latin typeface="Arial"/>
                        </a:defRPr>
                      </a:pPr>
                      <a:r>
                        <a:rPr sz="1005" b="0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En curso / anticipada</a:t>
                      </a:r>
                      <a:endParaRPr sz="1005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5">
                          <a:latin typeface="Arial"/>
                        </a:defRPr>
                      </a:pPr>
                      <a:r>
                        <a:rPr sz="1005" b="0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703 tests + campaña 63/63 + validación real CSR1000v</a:t>
                      </a:r>
                      <a:endParaRPr sz="1005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>
                        <a:defRPr sz="1005">
                          <a:latin typeface="Arial"/>
                        </a:defRPr>
                      </a:pPr>
                      <a:r>
                        <a:rPr sz="1005" b="1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Cierre y documentación final</a:t>
                      </a:r>
                      <a:endParaRPr sz="1005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0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5">
                          <a:latin typeface="Arial"/>
                        </a:defRPr>
                      </a:pPr>
                      <a:r>
                        <a:rPr sz="1005" b="0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Equipo completo</a:t>
                      </a:r>
                      <a:endParaRPr sz="1005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0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5">
                          <a:latin typeface="Arial"/>
                        </a:defRPr>
                      </a:pPr>
                      <a:r>
                        <a:rPr sz="1005" b="0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S14–S18</a:t>
                      </a:r>
                      <a:endParaRPr sz="1005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0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5">
                          <a:latin typeface="Arial"/>
                        </a:defRPr>
                      </a:pPr>
                      <a:r>
                        <a:rPr sz="1005" b="0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0%</a:t>
                      </a:r>
                      <a:endParaRPr sz="1005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0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5">
                          <a:latin typeface="Arial"/>
                        </a:defRPr>
                      </a:pPr>
                      <a:r>
                        <a:rPr sz="1005" b="0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A tiempo / aún no inicia</a:t>
                      </a:r>
                      <a:endParaRPr sz="1005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0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5">
                          <a:latin typeface="Arial"/>
                        </a:defRPr>
                      </a:pPr>
                      <a:r>
                        <a:rPr sz="1005" b="0" dirty="0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Cierre final </a:t>
                      </a:r>
                      <a:r>
                        <a:rPr sz="1005" b="0" dirty="0" err="1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según</a:t>
                      </a:r>
                      <a:r>
                        <a:rPr sz="1005" b="0" dirty="0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05" b="0" dirty="0" err="1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planificación</a:t>
                      </a:r>
                      <a:endParaRPr sz="1005" dirty="0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0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itulo-gantt">
            <a:extLst>
              <a:ext uri="{FF2B5EF4-FFF2-40B4-BE49-F238E27FC236}">
                <a16:creationId xmlns:a16="http://schemas.microsoft.com/office/drawing/2014/main" id="{403B95EF-0597-41ED-B3F6-1D7C648B1F57}"/>
              </a:ext>
            </a:extLst>
          </p:cNvPr>
          <p:cNvSpPr>
            <a:spLocks noGrp="1"/>
          </p:cNvSpPr>
          <p:nvPr/>
        </p:nvSpPr>
        <p:spPr>
          <a:xfrm>
            <a:off x="419100" y="4191000"/>
            <a:ext cx="8620125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975" b="1">
                <a:solidFill>
                  <a:srgbClr val="1677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776B"/>
                </a:solidFill>
                <a:latin typeface="Arial"/>
                <a:ea typeface="Arial"/>
                <a:cs typeface="Arial"/>
              </a:rPr>
              <a:t>CARTA GANTT ORIGINAL · VISTA REDUCIDA S1–S18</a:t>
            </a:r>
          </a:p>
        </p:txBody>
      </p:sp>
      <p:graphicFrame>
        <p:nvGraphicFramePr>
          <p:cNvPr id="24" name="Tabla 23"/>
          <p:cNvGraphicFramePr/>
          <p:nvPr/>
        </p:nvGraphicFramePr>
        <p:xfrm>
          <a:off x="419100" y="4371975"/>
          <a:ext cx="8486775" cy="1666875"/>
        </p:xfrm>
        <a:graphic>
          <a:graphicData uri="http://schemas.openxmlformats.org/drawingml/2006/table">
            <a:tbl>
              <a:tblPr/>
              <a:tblGrid>
                <a:gridCol w="214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2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2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2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24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24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24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24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524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524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524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524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5242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5242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5242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5242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5242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algn="l">
                        <a:defRPr sz="788">
                          <a:latin typeface="Arial"/>
                        </a:defRPr>
                      </a:pPr>
                      <a:r>
                        <a:rPr sz="78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Actividad</a:t>
                      </a: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173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8">
                          <a:latin typeface="Arial"/>
                        </a:defRPr>
                      </a:pPr>
                      <a:r>
                        <a:rPr sz="78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S1</a:t>
                      </a: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173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8">
                          <a:latin typeface="Arial"/>
                        </a:defRPr>
                      </a:pPr>
                      <a:r>
                        <a:rPr sz="78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S2</a:t>
                      </a: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173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8">
                          <a:latin typeface="Arial"/>
                        </a:defRPr>
                      </a:pPr>
                      <a:r>
                        <a:rPr sz="78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S3</a:t>
                      </a: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173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8">
                          <a:latin typeface="Arial"/>
                        </a:defRPr>
                      </a:pPr>
                      <a:r>
                        <a:rPr sz="78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S4</a:t>
                      </a: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173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8">
                          <a:latin typeface="Arial"/>
                        </a:defRPr>
                      </a:pPr>
                      <a:r>
                        <a:rPr sz="78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S5</a:t>
                      </a: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173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8">
                          <a:latin typeface="Arial"/>
                        </a:defRPr>
                      </a:pPr>
                      <a:r>
                        <a:rPr sz="78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S6</a:t>
                      </a: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173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8">
                          <a:latin typeface="Arial"/>
                        </a:defRPr>
                      </a:pPr>
                      <a:r>
                        <a:rPr sz="78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S7</a:t>
                      </a: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173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8">
                          <a:latin typeface="Arial"/>
                        </a:defRPr>
                      </a:pPr>
                      <a:r>
                        <a:rPr sz="78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S8</a:t>
                      </a: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173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8">
                          <a:latin typeface="Arial"/>
                        </a:defRPr>
                      </a:pPr>
                      <a:r>
                        <a:rPr sz="78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S9</a:t>
                      </a: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173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8">
                          <a:latin typeface="Arial"/>
                        </a:defRPr>
                      </a:pPr>
                      <a:r>
                        <a:rPr sz="78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S10</a:t>
                      </a: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173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8">
                          <a:latin typeface="Arial"/>
                        </a:defRPr>
                      </a:pPr>
                      <a:r>
                        <a:rPr sz="78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S11</a:t>
                      </a: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173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8">
                          <a:latin typeface="Arial"/>
                        </a:defRPr>
                      </a:pPr>
                      <a:r>
                        <a:rPr sz="78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S12</a:t>
                      </a: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173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8">
                          <a:latin typeface="Arial"/>
                        </a:defRPr>
                      </a:pPr>
                      <a:r>
                        <a:rPr sz="78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S13</a:t>
                      </a: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173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8">
                          <a:latin typeface="Arial"/>
                        </a:defRPr>
                      </a:pPr>
                      <a:r>
                        <a:rPr sz="78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S14</a:t>
                      </a: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173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8">
                          <a:latin typeface="Arial"/>
                        </a:defRPr>
                      </a:pPr>
                      <a:r>
                        <a:rPr sz="78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S15</a:t>
                      </a: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173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8">
                          <a:latin typeface="Arial"/>
                        </a:defRPr>
                      </a:pPr>
                      <a:r>
                        <a:rPr sz="78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S16</a:t>
                      </a: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173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8">
                          <a:latin typeface="Arial"/>
                        </a:defRPr>
                      </a:pPr>
                      <a:r>
                        <a:rPr sz="78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S17</a:t>
                      </a: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173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8">
                          <a:latin typeface="Arial"/>
                        </a:defRPr>
                      </a:pPr>
                      <a:r>
                        <a:rPr sz="78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S18</a:t>
                      </a: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173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>
                        <a:defRPr sz="788">
                          <a:latin typeface="Arial"/>
                        </a:defRPr>
                      </a:pPr>
                      <a:r>
                        <a:rPr sz="788" b="1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Alcance y requerimientos</a:t>
                      </a: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8">
                          <a:latin typeface="Arial"/>
                        </a:defRPr>
                      </a:pPr>
                      <a:r>
                        <a:rPr sz="788" b="1">
                          <a:solidFill>
                            <a:srgbClr val="16776B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E4F1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8">
                          <a:latin typeface="Arial"/>
                        </a:defRPr>
                      </a:pPr>
                      <a:r>
                        <a:rPr sz="788" b="1">
                          <a:solidFill>
                            <a:srgbClr val="16776B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E4F1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>
                        <a:defRPr sz="788">
                          <a:latin typeface="Arial"/>
                        </a:defRPr>
                      </a:pPr>
                      <a:r>
                        <a:rPr sz="788" b="1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Arquitectura y laboratorio</a:t>
                      </a: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0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8">
                          <a:latin typeface="Arial"/>
                        </a:defRPr>
                      </a:pPr>
                      <a:r>
                        <a:rPr sz="788" b="1">
                          <a:solidFill>
                            <a:srgbClr val="16776B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E4F1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8">
                          <a:latin typeface="Arial"/>
                        </a:defRPr>
                      </a:pPr>
                      <a:r>
                        <a:rPr sz="788" b="1">
                          <a:solidFill>
                            <a:srgbClr val="16776B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E4F1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8">
                          <a:latin typeface="Arial"/>
                        </a:defRPr>
                      </a:pPr>
                      <a:r>
                        <a:rPr sz="788" b="1">
                          <a:solidFill>
                            <a:srgbClr val="16776B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E4F1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>
                        <a:defRPr sz="788">
                          <a:latin typeface="Arial"/>
                        </a:defRPr>
                      </a:pPr>
                      <a:r>
                        <a:rPr sz="788" b="1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Recolección y parsing</a:t>
                      </a: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8">
                          <a:latin typeface="Arial"/>
                        </a:defRPr>
                      </a:pPr>
                      <a:r>
                        <a:rPr sz="788" b="1">
                          <a:solidFill>
                            <a:srgbClr val="16776B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E4F1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8">
                          <a:latin typeface="Arial"/>
                        </a:defRPr>
                      </a:pPr>
                      <a:r>
                        <a:rPr sz="788" b="1">
                          <a:solidFill>
                            <a:srgbClr val="16776B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E4F1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8">
                          <a:latin typeface="Arial"/>
                        </a:defRPr>
                      </a:pPr>
                      <a:r>
                        <a:rPr sz="788" b="1">
                          <a:solidFill>
                            <a:srgbClr val="16776B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E4F1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>
                        <a:defRPr sz="788">
                          <a:latin typeface="Arial"/>
                        </a:defRPr>
                      </a:pPr>
                      <a:r>
                        <a:rPr sz="788" b="1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Motor y catálogo de reglas</a:t>
                      </a: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0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8">
                          <a:latin typeface="Arial"/>
                        </a:defRPr>
                      </a:pPr>
                      <a:r>
                        <a:rPr sz="788" b="1">
                          <a:solidFill>
                            <a:srgbClr val="16776B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E4F1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8">
                          <a:latin typeface="Arial"/>
                        </a:defRPr>
                      </a:pPr>
                      <a:r>
                        <a:rPr sz="788" b="1">
                          <a:solidFill>
                            <a:srgbClr val="16776B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E4F1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8">
                          <a:latin typeface="Arial"/>
                        </a:defRPr>
                      </a:pPr>
                      <a:r>
                        <a:rPr sz="788" b="1">
                          <a:solidFill>
                            <a:srgbClr val="16776B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E4F1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8">
                          <a:latin typeface="Arial"/>
                        </a:defRPr>
                      </a:pPr>
                      <a:r>
                        <a:rPr sz="788" b="1">
                          <a:solidFill>
                            <a:srgbClr val="16776B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E4F1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8">
                          <a:latin typeface="Arial"/>
                        </a:defRPr>
                      </a:pPr>
                      <a:r>
                        <a:rPr sz="788" b="1">
                          <a:solidFill>
                            <a:srgbClr val="16776B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E4F1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>
                        <a:defRPr sz="788">
                          <a:latin typeface="Arial"/>
                        </a:defRPr>
                      </a:pPr>
                      <a:r>
                        <a:rPr sz="788" b="1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Integración API/resultados</a:t>
                      </a: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8">
                          <a:latin typeface="Arial"/>
                        </a:defRPr>
                      </a:pPr>
                      <a:r>
                        <a:rPr sz="788" b="1">
                          <a:solidFill>
                            <a:srgbClr val="16776B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E4F1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8">
                          <a:latin typeface="Arial"/>
                        </a:defRPr>
                      </a:pPr>
                      <a:r>
                        <a:rPr sz="788" b="1">
                          <a:solidFill>
                            <a:srgbClr val="16776B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E4F1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8">
                          <a:latin typeface="Arial"/>
                        </a:defRPr>
                      </a:pPr>
                      <a:r>
                        <a:rPr sz="788" b="1">
                          <a:solidFill>
                            <a:srgbClr val="16776B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E4F1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8">
                          <a:latin typeface="Arial"/>
                        </a:defRPr>
                      </a:pPr>
                      <a:r>
                        <a:rPr sz="788" b="1">
                          <a:solidFill>
                            <a:srgbClr val="16776B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E4F1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>
                        <a:defRPr sz="788">
                          <a:latin typeface="Arial"/>
                        </a:defRPr>
                      </a:pPr>
                      <a:r>
                        <a:rPr sz="788" b="1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Interfaz y reportes</a:t>
                      </a: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0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8">
                          <a:latin typeface="Arial"/>
                        </a:defRPr>
                      </a:pPr>
                      <a:r>
                        <a:rPr sz="788" b="1">
                          <a:solidFill>
                            <a:srgbClr val="52686D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ED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8">
                          <a:latin typeface="Arial"/>
                        </a:defRPr>
                      </a:pPr>
                      <a:r>
                        <a:rPr sz="788" b="1">
                          <a:solidFill>
                            <a:srgbClr val="52686D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ED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8">
                          <a:latin typeface="Arial"/>
                        </a:defRPr>
                      </a:pPr>
                      <a:r>
                        <a:rPr sz="788" b="1">
                          <a:solidFill>
                            <a:srgbClr val="52686D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ED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8">
                          <a:latin typeface="Arial"/>
                        </a:defRPr>
                      </a:pPr>
                      <a:r>
                        <a:rPr sz="788" b="1">
                          <a:solidFill>
                            <a:srgbClr val="52686D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ED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>
                        <a:defRPr sz="788">
                          <a:latin typeface="Arial"/>
                        </a:defRPr>
                      </a:pPr>
                      <a:r>
                        <a:rPr sz="788" b="1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Pruebas y validación</a:t>
                      </a: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8">
                          <a:latin typeface="Arial"/>
                        </a:defRPr>
                      </a:pPr>
                      <a:r>
                        <a:rPr sz="788" b="1">
                          <a:solidFill>
                            <a:srgbClr val="8A640B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AF0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8">
                          <a:latin typeface="Arial"/>
                        </a:defRPr>
                      </a:pPr>
                      <a:r>
                        <a:rPr sz="788" b="1">
                          <a:solidFill>
                            <a:srgbClr val="8A640B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AF0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8">
                          <a:latin typeface="Arial"/>
                        </a:defRPr>
                      </a:pPr>
                      <a:r>
                        <a:rPr sz="788" b="1">
                          <a:solidFill>
                            <a:srgbClr val="8A640B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AF0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8">
                          <a:latin typeface="Arial"/>
                        </a:defRPr>
                      </a:pPr>
                      <a:r>
                        <a:rPr sz="788" b="1">
                          <a:solidFill>
                            <a:srgbClr val="8A640B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AF0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8">
                          <a:latin typeface="Arial"/>
                        </a:defRPr>
                      </a:pPr>
                      <a:r>
                        <a:rPr sz="788" b="1">
                          <a:solidFill>
                            <a:srgbClr val="8A640B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AF0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>
                        <a:defRPr sz="788">
                          <a:latin typeface="Arial"/>
                        </a:defRPr>
                      </a:pPr>
                      <a:r>
                        <a:rPr sz="788" b="1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Cierre y documentación final</a:t>
                      </a: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0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8">
                          <a:latin typeface="Arial"/>
                        </a:defRPr>
                      </a:pP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8">
                          <a:latin typeface="Arial"/>
                        </a:defRPr>
                      </a:pPr>
                      <a:r>
                        <a:rPr sz="788" b="1">
                          <a:solidFill>
                            <a:srgbClr val="52686D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ED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8">
                          <a:latin typeface="Arial"/>
                        </a:defRPr>
                      </a:pPr>
                      <a:r>
                        <a:rPr sz="788" b="1">
                          <a:solidFill>
                            <a:srgbClr val="52686D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ED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8">
                          <a:latin typeface="Arial"/>
                        </a:defRPr>
                      </a:pPr>
                      <a:r>
                        <a:rPr sz="788" b="1">
                          <a:solidFill>
                            <a:srgbClr val="52686D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ED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8">
                          <a:latin typeface="Arial"/>
                        </a:defRPr>
                      </a:pPr>
                      <a:r>
                        <a:rPr sz="788" b="1">
                          <a:solidFill>
                            <a:srgbClr val="52686D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  <a:endParaRPr sz="788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ED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8">
                          <a:latin typeface="Arial"/>
                        </a:defRPr>
                      </a:pPr>
                      <a:r>
                        <a:rPr sz="788" b="1" dirty="0">
                          <a:solidFill>
                            <a:srgbClr val="52686D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  <a:endParaRPr sz="788" dirty="0">
                        <a:latin typeface="Arial"/>
                      </a:endParaRPr>
                    </a:p>
                  </a:txBody>
                  <a:tcPr marL="28575" marR="28575" marT="9525" marB="9525" anchor="ctr">
                    <a:solidFill>
                      <a:srgbClr val="EDF1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leyenda">
            <a:extLst>
              <a:ext uri="{FF2B5EF4-FFF2-40B4-BE49-F238E27FC236}">
                <a16:creationId xmlns:a16="http://schemas.microsoft.com/office/drawing/2014/main" id="{6179AE2D-155A-45EC-B08C-207A45117063}"/>
              </a:ext>
            </a:extLst>
          </p:cNvPr>
          <p:cNvSpPr>
            <a:spLocks noGrp="1"/>
          </p:cNvSpPr>
          <p:nvPr/>
        </p:nvSpPr>
        <p:spPr>
          <a:xfrm>
            <a:off x="419100" y="6086475"/>
            <a:ext cx="8763000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788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2686D"/>
                </a:solidFill>
                <a:latin typeface="Arial"/>
                <a:ea typeface="Arial"/>
                <a:cs typeface="Arial"/>
              </a:rPr>
              <a:t>Verde: completada (alcance actual)   Ámbar: iniciada anticipadamente   Gris: planificada</a:t>
            </a:r>
          </a:p>
        </p:txBody>
      </p:sp>
      <p:sp>
        <p:nvSpPr>
          <p:cNvPr id="10" name="referencia-academica-S8-S9">
            <a:extLst>
              <a:ext uri="{FF2B5EF4-FFF2-40B4-BE49-F238E27FC236}">
                <a16:creationId xmlns:a16="http://schemas.microsoft.com/office/drawing/2014/main" id="{CBB33CE6-8231-463A-B2E4-4C7314A7D21F}"/>
              </a:ext>
            </a:extLst>
          </p:cNvPr>
          <p:cNvSpPr>
            <a:spLocks noGrp="1"/>
          </p:cNvSpPr>
          <p:nvPr/>
        </p:nvSpPr>
        <p:spPr>
          <a:xfrm>
            <a:off x="5463921" y="4371975"/>
            <a:ext cx="0" cy="1666875"/>
          </a:xfrm>
          <a:prstGeom prst="line">
            <a:avLst/>
          </a:prstGeom>
          <a:noFill/>
          <a:ln w="26670">
            <a:solidFill>
              <a:srgbClr val="16776B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1" name="fecha-no-calendarizada">
            <a:extLst>
              <a:ext uri="{FF2B5EF4-FFF2-40B4-BE49-F238E27FC236}">
                <a16:creationId xmlns:a16="http://schemas.microsoft.com/office/drawing/2014/main" id="{EBB867AA-F209-4AD4-BB28-617AF998C4AD}"/>
              </a:ext>
            </a:extLst>
          </p:cNvPr>
          <p:cNvSpPr>
            <a:spLocks noGrp="1"/>
          </p:cNvSpPr>
          <p:nvPr/>
        </p:nvSpPr>
        <p:spPr>
          <a:xfrm>
            <a:off x="9277350" y="4195572"/>
            <a:ext cx="24955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16776B"/>
                </a:solidFill>
                <a:latin typeface="Arial"/>
                <a:ea typeface="Arial"/>
                <a:cs typeface="Arial"/>
              </a:defRPr>
            </a:pPr>
            <a:r>
              <a:rPr sz="1350" b="1" dirty="0">
                <a:solidFill>
                  <a:srgbClr val="16776B"/>
                </a:solidFill>
                <a:latin typeface="Arial"/>
                <a:ea typeface="Arial"/>
                <a:cs typeface="Arial"/>
              </a:rPr>
              <a:t>6 OCT 2026</a:t>
            </a:r>
          </a:p>
        </p:txBody>
      </p:sp>
      <p:sp>
        <p:nvSpPr>
          <p:cNvPr id="12" name="siguiente-actividad">
            <a:extLst>
              <a:ext uri="{FF2B5EF4-FFF2-40B4-BE49-F238E27FC236}">
                <a16:creationId xmlns:a16="http://schemas.microsoft.com/office/drawing/2014/main" id="{DB2ECE3A-0543-48E0-AC0B-7CF25134B2A3}"/>
              </a:ext>
            </a:extLst>
          </p:cNvPr>
          <p:cNvSpPr>
            <a:spLocks noGrp="1"/>
          </p:cNvSpPr>
          <p:nvPr/>
        </p:nvSpPr>
        <p:spPr>
          <a:xfrm>
            <a:off x="9277350" y="4471797"/>
            <a:ext cx="24955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25" b="1">
                <a:solidFill>
                  <a:srgbClr val="16776B"/>
                </a:solidFill>
                <a:latin typeface="Arial"/>
                <a:ea typeface="Arial"/>
                <a:cs typeface="Arial"/>
              </a:defRPr>
            </a:pPr>
            <a:r>
              <a:rPr sz="1125" b="1" dirty="0">
                <a:solidFill>
                  <a:srgbClr val="16776B"/>
                </a:solidFill>
                <a:latin typeface="Arial"/>
                <a:ea typeface="Arial"/>
                <a:cs typeface="Arial"/>
              </a:rPr>
              <a:t>SIGUIENTE ACTIVIDAD</a:t>
            </a:r>
          </a:p>
          <a:p>
            <a:pPr algn="l">
              <a:defRPr sz="1125" b="1">
                <a:solidFill>
                  <a:srgbClr val="16776B"/>
                </a:solidFill>
                <a:latin typeface="Arial"/>
                <a:ea typeface="Arial"/>
                <a:cs typeface="Arial"/>
              </a:defRPr>
            </a:pPr>
            <a:r>
              <a:rPr sz="1125" b="1" dirty="0">
                <a:solidFill>
                  <a:srgbClr val="16776B"/>
                </a:solidFill>
                <a:latin typeface="Arial"/>
                <a:ea typeface="Arial"/>
                <a:cs typeface="Arial"/>
              </a:rPr>
              <a:t>INTERFAZ Y REPORTES</a:t>
            </a:r>
          </a:p>
        </p:txBody>
      </p:sp>
      <p:sp>
        <p:nvSpPr>
          <p:cNvPr id="13" name="estado-planificado">
            <a:extLst>
              <a:ext uri="{FF2B5EF4-FFF2-40B4-BE49-F238E27FC236}">
                <a16:creationId xmlns:a16="http://schemas.microsoft.com/office/drawing/2014/main" id="{AFD27A48-4D8C-4073-A421-5E7413FD2295}"/>
              </a:ext>
            </a:extLst>
          </p:cNvPr>
          <p:cNvSpPr>
            <a:spLocks noGrp="1"/>
          </p:cNvSpPr>
          <p:nvPr/>
        </p:nvSpPr>
        <p:spPr>
          <a:xfrm>
            <a:off x="9277350" y="4810125"/>
            <a:ext cx="24955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0">
                <a:solidFill>
                  <a:srgbClr val="182C30"/>
                </a:solidFill>
                <a:latin typeface="Arial"/>
                <a:ea typeface="Arial"/>
                <a:cs typeface="Arial"/>
              </a:defRPr>
            </a:pPr>
            <a:r>
              <a:rPr sz="1050" b="0" dirty="0">
                <a:solidFill>
                  <a:srgbClr val="182C30"/>
                </a:solidFill>
                <a:latin typeface="Arial"/>
                <a:ea typeface="Arial"/>
                <a:cs typeface="Arial"/>
              </a:rPr>
              <a:t>Estado: 0%. </a:t>
            </a:r>
            <a:r>
              <a:rPr sz="1050" b="0" dirty="0" err="1">
                <a:solidFill>
                  <a:srgbClr val="182C30"/>
                </a:solidFill>
                <a:latin typeface="Arial"/>
                <a:ea typeface="Arial"/>
                <a:cs typeface="Arial"/>
              </a:rPr>
              <a:t>Inicio</a:t>
            </a:r>
            <a:r>
              <a:rPr sz="1050" b="0" dirty="0">
                <a:solidFill>
                  <a:srgbClr val="182C30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 err="1">
                <a:solidFill>
                  <a:srgbClr val="182C30"/>
                </a:solidFill>
                <a:latin typeface="Arial"/>
                <a:ea typeface="Arial"/>
                <a:cs typeface="Arial"/>
              </a:rPr>
              <a:t>previsto</a:t>
            </a:r>
            <a:r>
              <a:rPr sz="1050" b="0" dirty="0">
                <a:solidFill>
                  <a:srgbClr val="182C30"/>
                </a:solidFill>
                <a:latin typeface="Arial"/>
                <a:ea typeface="Arial"/>
                <a:cs typeface="Arial"/>
              </a:rPr>
              <a:t> S10</a:t>
            </a:r>
          </a:p>
        </p:txBody>
      </p:sp>
      <p:sp>
        <p:nvSpPr>
          <p:cNvPr id="14" name="siguiente-paso">
            <a:extLst>
              <a:ext uri="{FF2B5EF4-FFF2-40B4-BE49-F238E27FC236}">
                <a16:creationId xmlns:a16="http://schemas.microsoft.com/office/drawing/2014/main" id="{F7AA8322-5BD9-4541-919E-6DD21AD06284}"/>
              </a:ext>
            </a:extLst>
          </p:cNvPr>
          <p:cNvSpPr>
            <a:spLocks noGrp="1"/>
          </p:cNvSpPr>
          <p:nvPr/>
        </p:nvSpPr>
        <p:spPr>
          <a:xfrm>
            <a:off x="9277350" y="5353050"/>
            <a:ext cx="249555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0">
                <a:solidFill>
                  <a:srgbClr val="182C30"/>
                </a:solidFill>
                <a:latin typeface="Arial"/>
                <a:ea typeface="Arial"/>
                <a:cs typeface="Arial"/>
              </a:defRPr>
            </a:pPr>
            <a:r>
              <a:rPr sz="1050" b="0" dirty="0" err="1">
                <a:solidFill>
                  <a:srgbClr val="182C30"/>
                </a:solidFill>
                <a:latin typeface="Arial"/>
                <a:ea typeface="Arial"/>
                <a:cs typeface="Arial"/>
              </a:rPr>
              <a:t>Próximo</a:t>
            </a:r>
            <a:r>
              <a:rPr sz="1050" b="0" dirty="0">
                <a:solidFill>
                  <a:srgbClr val="182C30"/>
                </a:solidFill>
                <a:latin typeface="Arial"/>
                <a:ea typeface="Arial"/>
                <a:cs typeface="Arial"/>
              </a:rPr>
              <a:t> paso: </a:t>
            </a:r>
            <a:r>
              <a:rPr sz="1050" b="0" dirty="0" err="1">
                <a:solidFill>
                  <a:srgbClr val="182C30"/>
                </a:solidFill>
                <a:latin typeface="Arial"/>
                <a:ea typeface="Arial"/>
                <a:cs typeface="Arial"/>
              </a:rPr>
              <a:t>iniciar</a:t>
            </a:r>
            <a:r>
              <a:rPr sz="1050" b="0" dirty="0">
                <a:solidFill>
                  <a:srgbClr val="182C30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 err="1">
                <a:solidFill>
                  <a:srgbClr val="182C30"/>
                </a:solidFill>
                <a:latin typeface="Arial"/>
                <a:ea typeface="Arial"/>
                <a:cs typeface="Arial"/>
              </a:rPr>
              <a:t>interfaz</a:t>
            </a:r>
            <a:r>
              <a:rPr sz="1050" b="0" dirty="0">
                <a:solidFill>
                  <a:srgbClr val="182C30"/>
                </a:solidFill>
                <a:latin typeface="Arial"/>
                <a:ea typeface="Arial"/>
                <a:cs typeface="Arial"/>
              </a:rPr>
              <a:t>/</a:t>
            </a:r>
            <a:r>
              <a:rPr sz="1050" b="0" dirty="0" err="1">
                <a:solidFill>
                  <a:srgbClr val="182C30"/>
                </a:solidFill>
                <a:latin typeface="Arial"/>
                <a:ea typeface="Arial"/>
                <a:cs typeface="Arial"/>
              </a:rPr>
              <a:t>asistente</a:t>
            </a:r>
            <a:r>
              <a:rPr sz="1050" b="0" dirty="0">
                <a:solidFill>
                  <a:srgbClr val="182C30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 err="1">
                <a:solidFill>
                  <a:srgbClr val="182C30"/>
                </a:solidFill>
                <a:latin typeface="Arial"/>
                <a:ea typeface="Arial"/>
                <a:cs typeface="Arial"/>
              </a:rPr>
              <a:t>después</a:t>
            </a:r>
            <a:r>
              <a:rPr sz="1050" b="0" dirty="0">
                <a:solidFill>
                  <a:srgbClr val="182C30"/>
                </a:solidFill>
                <a:latin typeface="Arial"/>
                <a:ea typeface="Arial"/>
                <a:cs typeface="Arial"/>
              </a:rPr>
              <a:t> de EV2, </a:t>
            </a:r>
            <a:r>
              <a:rPr sz="1050" b="0" dirty="0" err="1">
                <a:solidFill>
                  <a:srgbClr val="182C30"/>
                </a:solidFill>
                <a:latin typeface="Arial"/>
                <a:ea typeface="Arial"/>
                <a:cs typeface="Arial"/>
              </a:rPr>
              <a:t>según</a:t>
            </a:r>
            <a:r>
              <a:rPr sz="1050" b="0" dirty="0">
                <a:solidFill>
                  <a:srgbClr val="182C30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 err="1">
                <a:solidFill>
                  <a:srgbClr val="182C30"/>
                </a:solidFill>
                <a:latin typeface="Arial"/>
                <a:ea typeface="Arial"/>
                <a:cs typeface="Arial"/>
              </a:rPr>
              <a:t>planificación</a:t>
            </a:r>
            <a:r>
              <a:rPr sz="1050" b="0" dirty="0">
                <a:solidFill>
                  <a:srgbClr val="182C3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5" name="porcentaje-nota">
            <a:extLst>
              <a:ext uri="{FF2B5EF4-FFF2-40B4-BE49-F238E27FC236}">
                <a16:creationId xmlns:a16="http://schemas.microsoft.com/office/drawing/2014/main" id="{07CED9A5-2EA8-4E77-B852-8E6A21AF7FE8}"/>
              </a:ext>
            </a:extLst>
          </p:cNvPr>
          <p:cNvSpPr>
            <a:spLocks noGrp="1"/>
          </p:cNvSpPr>
          <p:nvPr/>
        </p:nvSpPr>
        <p:spPr>
          <a:xfrm>
            <a:off x="419100" y="6315075"/>
            <a:ext cx="8667750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82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86D"/>
                </a:solidFill>
                <a:latin typeface="Arial"/>
                <a:ea typeface="Arial"/>
                <a:cs typeface="Arial"/>
              </a:rPr>
              <a:t>* Estimación de la actividad completa; validación final pendiente.</a:t>
            </a:r>
          </a:p>
        </p:txBody>
      </p:sp>
      <p:sp>
        <p:nvSpPr>
          <p:cNvPr id="16" name="referencia-semanal">
            <a:extLst>
              <a:ext uri="{FF2B5EF4-FFF2-40B4-BE49-F238E27FC236}">
                <a16:creationId xmlns:a16="http://schemas.microsoft.com/office/drawing/2014/main" id="{B426949C-EE12-4442-BD40-FA0BE1461F5F}"/>
              </a:ext>
            </a:extLst>
          </p:cNvPr>
          <p:cNvSpPr>
            <a:spLocks noGrp="1"/>
          </p:cNvSpPr>
          <p:nvPr/>
        </p:nvSpPr>
        <p:spPr>
          <a:xfrm>
            <a:off x="9277350" y="6019800"/>
            <a:ext cx="24955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803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rPr sz="803" b="0" dirty="0">
                <a:solidFill>
                  <a:srgbClr val="52686D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05973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eccion">
            <a:extLst>
              <a:ext uri="{FF2B5EF4-FFF2-40B4-BE49-F238E27FC236}">
                <a16:creationId xmlns:a16="http://schemas.microsoft.com/office/drawing/2014/main" id="{18CF672D-AC51-494A-A515-6C9AD446006B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847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1677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776B"/>
                </a:solidFill>
                <a:latin typeface="Arial"/>
                <a:ea typeface="Arial"/>
                <a:cs typeface="Arial"/>
              </a:rPr>
              <a:t>02 · ENTREGABLES</a:t>
            </a:r>
          </a:p>
        </p:txBody>
      </p:sp>
      <p:sp>
        <p:nvSpPr>
          <p:cNvPr id="2" name="titulo">
            <a:extLst>
              <a:ext uri="{FF2B5EF4-FFF2-40B4-BE49-F238E27FC236}">
                <a16:creationId xmlns:a16="http://schemas.microsoft.com/office/drawing/2014/main" id="{51C8CD94-07E9-4CA5-8F3A-1B6A7A6B46E7}"/>
              </a:ext>
            </a:extLst>
          </p:cNvPr>
          <p:cNvSpPr>
            <a:spLocks noGrp="1"/>
          </p:cNvSpPr>
          <p:nvPr/>
        </p:nvSpPr>
        <p:spPr>
          <a:xfrm>
            <a:off x="419100" y="523875"/>
            <a:ext cx="113538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1">
                <a:solidFill>
                  <a:srgbClr val="182C3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2C30"/>
                </a:solidFill>
                <a:latin typeface="Arial"/>
                <a:ea typeface="Arial"/>
                <a:cs typeface="Arial"/>
              </a:rPr>
              <a:t>Entregables y criterios de éxito</a:t>
            </a:r>
          </a:p>
        </p:txBody>
      </p:sp>
      <p:sp>
        <p:nvSpPr>
          <p:cNvPr id="3" name="identidad">
            <a:extLst>
              <a:ext uri="{FF2B5EF4-FFF2-40B4-BE49-F238E27FC236}">
                <a16:creationId xmlns:a16="http://schemas.microsoft.com/office/drawing/2014/main" id="{502E0DB2-E96E-4620-9C02-6683C7BFEC49}"/>
              </a:ext>
            </a:extLst>
          </p:cNvPr>
          <p:cNvSpPr>
            <a:spLocks noGrp="1"/>
          </p:cNvSpPr>
          <p:nvPr/>
        </p:nvSpPr>
        <p:spPr>
          <a:xfrm>
            <a:off x="9191625" y="228600"/>
            <a:ext cx="25812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97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86D"/>
                </a:solidFill>
                <a:latin typeface="Arial"/>
                <a:ea typeface="Arial"/>
                <a:cs typeface="Arial"/>
              </a:rPr>
              <a:t>NetAudit · Evaluación 2 APT</a:t>
            </a:r>
          </a:p>
        </p:txBody>
      </p:sp>
      <p:sp>
        <p:nvSpPr>
          <p:cNvPr id="4" name="pie">
            <a:extLst>
              <a:ext uri="{FF2B5EF4-FFF2-40B4-BE49-F238E27FC236}">
                <a16:creationId xmlns:a16="http://schemas.microsoft.com/office/drawing/2014/main" id="{C258A661-356C-4C95-BE05-A23C21002F47}"/>
              </a:ext>
            </a:extLst>
          </p:cNvPr>
          <p:cNvSpPr>
            <a:spLocks noGrp="1"/>
          </p:cNvSpPr>
          <p:nvPr/>
        </p:nvSpPr>
        <p:spPr>
          <a:xfrm>
            <a:off x="419100" y="6572250"/>
            <a:ext cx="10287000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82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86D"/>
                </a:solidFill>
                <a:latin typeface="Arial"/>
                <a:ea typeface="Arial"/>
                <a:cs typeface="Arial"/>
              </a:rPr>
              <a:t>Ingeniería en Conectividad y Redes · Martes 6 de octubre de 2026</a:t>
            </a:r>
          </a:p>
        </p:txBody>
      </p:sp>
      <p:sp>
        <p:nvSpPr>
          <p:cNvPr id="5" name="numero">
            <a:extLst>
              <a:ext uri="{FF2B5EF4-FFF2-40B4-BE49-F238E27FC236}">
                <a16:creationId xmlns:a16="http://schemas.microsoft.com/office/drawing/2014/main" id="{05130802-2BA6-415D-BA98-7EEF4BB0F454}"/>
              </a:ext>
            </a:extLst>
          </p:cNvPr>
          <p:cNvSpPr>
            <a:spLocks noGrp="1"/>
          </p:cNvSpPr>
          <p:nvPr/>
        </p:nvSpPr>
        <p:spPr>
          <a:xfrm>
            <a:off x="11334750" y="6562725"/>
            <a:ext cx="4381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900" b="1">
                <a:solidFill>
                  <a:srgbClr val="16776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677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28" name="Tabla 27"/>
          <p:cNvGraphicFramePr/>
          <p:nvPr/>
        </p:nvGraphicFramePr>
        <p:xfrm>
          <a:off x="419100" y="1085850"/>
          <a:ext cx="11353800" cy="2419350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8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algn="l">
                        <a:defRPr sz="1050">
                          <a:latin typeface="Arial"/>
                        </a:defRPr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Entregable</a:t>
                      </a:r>
                      <a:endParaRPr sz="1050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173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latin typeface="Arial"/>
                        </a:defRPr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Tareas asociadas</a:t>
                      </a:r>
                      <a:endParaRPr sz="1050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173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latin typeface="Arial"/>
                        </a:defRPr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Criterio de aceptación medible</a:t>
                      </a:r>
                      <a:endParaRPr sz="1050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173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latin typeface="Arial"/>
                        </a:defRPr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Fecha comprometida</a:t>
                      </a:r>
                      <a:endParaRPr sz="1050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173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defRPr sz="1050">
                          <a:latin typeface="Arial"/>
                        </a:defRPr>
                      </a:pPr>
                      <a:r>
                        <a:rPr sz="1050" b="1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Recolección integral Cisco IOS/XE</a:t>
                      </a:r>
                      <a:endParaRPr sz="1050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latin typeface="Arial"/>
                        </a:defRPr>
                      </a:pPr>
                      <a:r>
                        <a:rPr sz="1050" b="0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Recolección y parsing</a:t>
                      </a:r>
                      <a:endParaRPr sz="1050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latin typeface="Arial"/>
                        </a:defRPr>
                      </a:pPr>
                      <a:r>
                        <a:rPr sz="1050" b="0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1 sesión SSH; 8/8 comandos; 8 evidencias; desconexión correcta; 0 comandos de configuración</a:t>
                      </a:r>
                      <a:endParaRPr sz="1050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latin typeface="Arial"/>
                        </a:defRPr>
                      </a:pPr>
                      <a:r>
                        <a:rPr sz="1050" b="0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S5–S7 (Gantt)</a:t>
                      </a:r>
                      <a:endParaRPr sz="1050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defRPr sz="1050">
                          <a:latin typeface="Arial"/>
                        </a:defRPr>
                      </a:pPr>
                      <a:r>
                        <a:rPr sz="1050" b="1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Motor determinista ampliado</a:t>
                      </a:r>
                      <a:endParaRPr sz="1050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0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latin typeface="Arial"/>
                        </a:defRPr>
                      </a:pPr>
                      <a:r>
                        <a:rPr sz="1050" b="0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Motor y catálogo</a:t>
                      </a:r>
                      <a:endParaRPr sz="1050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0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latin typeface="Arial"/>
                        </a:defRPr>
                      </a:pPr>
                      <a:r>
                        <a:rPr sz="1050" b="0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21 evaluaciones con estados deterministas; Finding exclusivamente desde FAIL</a:t>
                      </a:r>
                      <a:endParaRPr sz="1050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0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latin typeface="Arial"/>
                        </a:defRPr>
                      </a:pPr>
                      <a:r>
                        <a:rPr sz="1050" b="0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S6–S10 (Gantt)</a:t>
                      </a:r>
                      <a:endParaRPr sz="1050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0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defRPr sz="1050">
                          <a:latin typeface="Arial"/>
                        </a:defRPr>
                      </a:pPr>
                      <a:r>
                        <a:rPr sz="1050" b="1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Validación automatizada</a:t>
                      </a:r>
                      <a:endParaRPr sz="1050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latin typeface="Arial"/>
                        </a:defRPr>
                      </a:pPr>
                      <a:r>
                        <a:rPr sz="1050" b="0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Pruebas y validación</a:t>
                      </a:r>
                      <a:endParaRPr sz="1050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latin typeface="Arial"/>
                        </a:defRPr>
                      </a:pPr>
                      <a:r>
                        <a:rPr sz="1050" b="0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Suite completa sin fallos. Resultado: 703 passed + 1 warning externo</a:t>
                      </a:r>
                      <a:endParaRPr sz="1050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latin typeface="Arial"/>
                        </a:defRPr>
                      </a:pPr>
                      <a:r>
                        <a:rPr sz="1050" b="0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S11–S15 (Gantt)</a:t>
                      </a:r>
                      <a:endParaRPr sz="1050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defRPr sz="1050">
                          <a:latin typeface="Arial"/>
                        </a:defRPr>
                      </a:pPr>
                      <a:r>
                        <a:rPr sz="1050" b="1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Campaña reproducible</a:t>
                      </a:r>
                      <a:endParaRPr sz="1050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0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latin typeface="Arial"/>
                        </a:defRPr>
                      </a:pPr>
                      <a:r>
                        <a:rPr sz="1050" b="0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Pruebas y validación</a:t>
                      </a:r>
                      <a:endParaRPr sz="1050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0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latin typeface="Arial"/>
                        </a:defRPr>
                      </a:pPr>
                      <a:r>
                        <a:rPr sz="1050" b="0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Esperado = obtenido: 63/63; 0 diferencias; 0 errores de contrato</a:t>
                      </a:r>
                      <a:endParaRPr sz="1050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0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latin typeface="Arial"/>
                        </a:defRPr>
                      </a:pPr>
                      <a:r>
                        <a:rPr sz="1050" b="0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S11–S15 (Gantt)</a:t>
                      </a:r>
                      <a:endParaRPr sz="1050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0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defRPr sz="1050">
                          <a:latin typeface="Arial"/>
                        </a:defRPr>
                      </a:pPr>
                      <a:r>
                        <a:rPr sz="1050" b="1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Validación real de laboratorio</a:t>
                      </a:r>
                      <a:endParaRPr sz="1050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latin typeface="Arial"/>
                        </a:defRPr>
                      </a:pPr>
                      <a:r>
                        <a:rPr sz="1050" b="0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Pruebas y validación</a:t>
                      </a:r>
                      <a:endParaRPr sz="1050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latin typeface="Arial"/>
                        </a:defRPr>
                      </a:pPr>
                      <a:r>
                        <a:rPr sz="1050" b="0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CSR1000v sin modificación: 1 sesión, 1 desconexión, 8/8 comandos, 8 evidencias, 21 evaluaciones, 3 findings</a:t>
                      </a:r>
                      <a:endParaRPr sz="1050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latin typeface="Arial"/>
                        </a:defRPr>
                      </a:pPr>
                      <a:r>
                        <a:rPr sz="1050" b="0">
                          <a:solidFill>
                            <a:srgbClr val="182C30"/>
                          </a:solidFill>
                          <a:latin typeface="Arial"/>
                          <a:ea typeface="Arial"/>
                          <a:cs typeface="Arial"/>
                        </a:rPr>
                        <a:t>S11–S15 (Gantt)</a:t>
                      </a:r>
                      <a:endParaRPr sz="1050">
                        <a:latin typeface="Arial"/>
                      </a:endParaRPr>
                    </a:p>
                  </a:txBody>
                  <a:tcPr marL="66675" marR="6667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ajustes-titulo">
            <a:extLst>
              <a:ext uri="{FF2B5EF4-FFF2-40B4-BE49-F238E27FC236}">
                <a16:creationId xmlns:a16="http://schemas.microsoft.com/office/drawing/2014/main" id="{4ACBD286-1E20-4426-B612-2558C81B8FD3}"/>
              </a:ext>
            </a:extLst>
          </p:cNvPr>
          <p:cNvSpPr>
            <a:spLocks noGrp="1"/>
          </p:cNvSpPr>
          <p:nvPr/>
        </p:nvSpPr>
        <p:spPr>
          <a:xfrm>
            <a:off x="419100" y="3705225"/>
            <a:ext cx="37814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1">
                <a:solidFill>
                  <a:srgbClr val="1677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776B"/>
                </a:solidFill>
                <a:latin typeface="Arial"/>
                <a:ea typeface="Arial"/>
                <a:cs typeface="Arial"/>
              </a:rPr>
              <a:t>AJUSTES DESDE FASE 1 / EV1</a:t>
            </a:r>
          </a:p>
        </p:txBody>
      </p:sp>
      <p:sp>
        <p:nvSpPr>
          <p:cNvPr id="8" name="ajuste1">
            <a:extLst>
              <a:ext uri="{FF2B5EF4-FFF2-40B4-BE49-F238E27FC236}">
                <a16:creationId xmlns:a16="http://schemas.microsoft.com/office/drawing/2014/main" id="{EABA71EE-A22C-48FD-B297-087BE3531C3B}"/>
              </a:ext>
            </a:extLst>
          </p:cNvPr>
          <p:cNvSpPr>
            <a:spLocks noGrp="1"/>
          </p:cNvSpPr>
          <p:nvPr/>
        </p:nvSpPr>
        <p:spPr>
          <a:xfrm>
            <a:off x="419100" y="4095750"/>
            <a:ext cx="37623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1">
                <a:solidFill>
                  <a:srgbClr val="182C3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82C30"/>
                </a:solidFill>
                <a:latin typeface="Arial"/>
                <a:ea typeface="Arial"/>
                <a:cs typeface="Arial"/>
              </a:rPr>
              <a:t>4 → 8 comandos</a:t>
            </a:r>
          </a:p>
        </p:txBody>
      </p:sp>
      <p:sp>
        <p:nvSpPr>
          <p:cNvPr id="9" name="ajuste1-exp">
            <a:extLst>
              <a:ext uri="{FF2B5EF4-FFF2-40B4-BE49-F238E27FC236}">
                <a16:creationId xmlns:a16="http://schemas.microsoft.com/office/drawing/2014/main" id="{7E5E42B1-A141-4DF2-9655-3663D4A14311}"/>
              </a:ext>
            </a:extLst>
          </p:cNvPr>
          <p:cNvSpPr>
            <a:spLocks noGrp="1"/>
          </p:cNvSpPr>
          <p:nvPr/>
        </p:nvSpPr>
        <p:spPr>
          <a:xfrm>
            <a:off x="419100" y="4391025"/>
            <a:ext cx="36957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63" b="0">
                <a:solidFill>
                  <a:srgbClr val="182C30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182C30"/>
                </a:solidFill>
                <a:latin typeface="Arial"/>
                <a:ea typeface="Arial"/>
                <a:cs typeface="Arial"/>
              </a:rPr>
              <a:t>Más evidencia operacional: interfaces, ACL, NTP y OSPF.</a:t>
            </a:r>
          </a:p>
        </p:txBody>
      </p:sp>
      <p:sp>
        <p:nvSpPr>
          <p:cNvPr id="10" name="ajuste2">
            <a:extLst>
              <a:ext uri="{FF2B5EF4-FFF2-40B4-BE49-F238E27FC236}">
                <a16:creationId xmlns:a16="http://schemas.microsoft.com/office/drawing/2014/main" id="{7961E523-A7B6-4B3A-A1A1-7633439EFF77}"/>
              </a:ext>
            </a:extLst>
          </p:cNvPr>
          <p:cNvSpPr>
            <a:spLocks noGrp="1"/>
          </p:cNvSpPr>
          <p:nvPr/>
        </p:nvSpPr>
        <p:spPr>
          <a:xfrm>
            <a:off x="419100" y="4914900"/>
            <a:ext cx="37623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1">
                <a:solidFill>
                  <a:srgbClr val="182C3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82C30"/>
                </a:solidFill>
                <a:latin typeface="Arial"/>
                <a:ea typeface="Arial"/>
                <a:cs typeface="Arial"/>
              </a:rPr>
              <a:t>8 → 21 controles</a:t>
            </a:r>
          </a:p>
        </p:txBody>
      </p:sp>
      <p:sp>
        <p:nvSpPr>
          <p:cNvPr id="11" name="ajuste2-exp">
            <a:extLst>
              <a:ext uri="{FF2B5EF4-FFF2-40B4-BE49-F238E27FC236}">
                <a16:creationId xmlns:a16="http://schemas.microsoft.com/office/drawing/2014/main" id="{1A25E20F-0592-4147-80EB-9579DEB60EC0}"/>
              </a:ext>
            </a:extLst>
          </p:cNvPr>
          <p:cNvSpPr>
            <a:spLocks noGrp="1"/>
          </p:cNvSpPr>
          <p:nvPr/>
        </p:nvSpPr>
        <p:spPr>
          <a:xfrm>
            <a:off x="419100" y="5219700"/>
            <a:ext cx="3695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63" b="0">
                <a:solidFill>
                  <a:srgbClr val="182C30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182C30"/>
                </a:solidFill>
                <a:latin typeface="Arial"/>
                <a:ea typeface="Arial"/>
                <a:cs typeface="Arial"/>
              </a:rPr>
              <a:t>Cobertura determinista acotada antes de la capa de IA.</a:t>
            </a:r>
          </a:p>
        </p:txBody>
      </p:sp>
      <p:sp>
        <p:nvSpPr>
          <p:cNvPr id="12" name="ajuste3">
            <a:extLst>
              <a:ext uri="{FF2B5EF4-FFF2-40B4-BE49-F238E27FC236}">
                <a16:creationId xmlns:a16="http://schemas.microsoft.com/office/drawing/2014/main" id="{280F643A-92EC-465D-8E09-7A132CEA12AE}"/>
              </a:ext>
            </a:extLst>
          </p:cNvPr>
          <p:cNvSpPr>
            <a:spLocks noGrp="1"/>
          </p:cNvSpPr>
          <p:nvPr/>
        </p:nvSpPr>
        <p:spPr>
          <a:xfrm>
            <a:off x="419100" y="5762625"/>
            <a:ext cx="37433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85" b="1">
                <a:solidFill>
                  <a:srgbClr val="16776B"/>
                </a:solidFill>
                <a:latin typeface="Arial"/>
                <a:ea typeface="Arial"/>
                <a:cs typeface="Arial"/>
              </a:defRPr>
            </a:pPr>
            <a:r>
              <a:rPr sz="1185" b="1">
                <a:solidFill>
                  <a:srgbClr val="16776B"/>
                </a:solidFill>
                <a:latin typeface="Arial"/>
                <a:ea typeface="Arial"/>
                <a:cs typeface="Arial"/>
              </a:rPr>
              <a:t>IA NO IMPLEMENTADA · fuera de EV2</a:t>
            </a:r>
          </a:p>
        </p:txBody>
      </p:sp>
      <p:sp>
        <p:nvSpPr>
          <p:cNvPr id="13" name="ajuste3-exp">
            <a:extLst>
              <a:ext uri="{FF2B5EF4-FFF2-40B4-BE49-F238E27FC236}">
                <a16:creationId xmlns:a16="http://schemas.microsoft.com/office/drawing/2014/main" id="{E08DE9FD-810A-477D-A917-FD14193F8073}"/>
              </a:ext>
            </a:extLst>
          </p:cNvPr>
          <p:cNvSpPr>
            <a:spLocks noGrp="1"/>
          </p:cNvSpPr>
          <p:nvPr/>
        </p:nvSpPr>
        <p:spPr>
          <a:xfrm>
            <a:off x="419100" y="6076950"/>
            <a:ext cx="37433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73" b="0">
                <a:solidFill>
                  <a:srgbClr val="182C30"/>
                </a:solidFill>
                <a:latin typeface="Arial"/>
                <a:ea typeface="Arial"/>
                <a:cs typeface="Arial"/>
              </a:defRPr>
            </a:pPr>
            <a:r>
              <a:rPr sz="1073" b="0">
                <a:solidFill>
                  <a:srgbClr val="182C30"/>
                </a:solidFill>
                <a:latin typeface="Arial"/>
                <a:ea typeface="Arial"/>
                <a:cs typeface="Arial"/>
              </a:rPr>
              <a:t>EV3: explicar/resumir findings ya validados. Persistencia no implementada.</a:t>
            </a:r>
          </a:p>
        </p:txBody>
      </p:sp>
      <p:sp>
        <p:nvSpPr>
          <p:cNvPr id="14" name="separador">
            <a:extLst>
              <a:ext uri="{FF2B5EF4-FFF2-40B4-BE49-F238E27FC236}">
                <a16:creationId xmlns:a16="http://schemas.microsoft.com/office/drawing/2014/main" id="{E3671BC4-C038-4C74-A8B8-966C351E3393}"/>
              </a:ext>
            </a:extLst>
          </p:cNvPr>
          <p:cNvSpPr>
            <a:spLocks noGrp="1"/>
          </p:cNvSpPr>
          <p:nvPr/>
        </p:nvSpPr>
        <p:spPr>
          <a:xfrm>
            <a:off x="4457700" y="3743325"/>
            <a:ext cx="0" cy="2686050"/>
          </a:xfrm>
          <a:prstGeom prst="line">
            <a:avLst/>
          </a:prstGeom>
          <a:noFill/>
          <a:ln w="9525">
            <a:solidFill>
              <a:srgbClr val="D4DFE1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5" name="obstaculo">
            <a:extLst>
              <a:ext uri="{FF2B5EF4-FFF2-40B4-BE49-F238E27FC236}">
                <a16:creationId xmlns:a16="http://schemas.microsoft.com/office/drawing/2014/main" id="{14F532FF-3650-48E6-89C6-415033333B12}"/>
              </a:ext>
            </a:extLst>
          </p:cNvPr>
          <p:cNvSpPr>
            <a:spLocks noGrp="1"/>
          </p:cNvSpPr>
          <p:nvPr/>
        </p:nvSpPr>
        <p:spPr>
          <a:xfrm>
            <a:off x="4695825" y="3705225"/>
            <a:ext cx="70675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B43B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43B33"/>
                </a:solidFill>
                <a:latin typeface="Arial"/>
                <a:ea typeface="Arial"/>
                <a:cs typeface="Arial"/>
              </a:rPr>
              <a:t>INCOMPATIBILIDAD SSH/KEX DEL LABORATORIO</a:t>
            </a:r>
          </a:p>
        </p:txBody>
      </p:sp>
      <p:sp>
        <p:nvSpPr>
          <p:cNvPr id="16" name="problema">
            <a:extLst>
              <a:ext uri="{FF2B5EF4-FFF2-40B4-BE49-F238E27FC236}">
                <a16:creationId xmlns:a16="http://schemas.microsoft.com/office/drawing/2014/main" id="{F4248ED5-F4F8-471E-80C6-4899B1E8DF67}"/>
              </a:ext>
            </a:extLst>
          </p:cNvPr>
          <p:cNvSpPr>
            <a:spLocks noGrp="1"/>
          </p:cNvSpPr>
          <p:nvPr/>
        </p:nvSpPr>
        <p:spPr>
          <a:xfrm>
            <a:off x="4695825" y="4086225"/>
            <a:ext cx="70675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1">
                <a:solidFill>
                  <a:srgbClr val="182C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C30"/>
                </a:solidFill>
                <a:latin typeface="Arial"/>
                <a:ea typeface="Arial"/>
                <a:cs typeface="Arial"/>
              </a:rPr>
              <a:t>Problema: Paramiko 5.0.0 falló antes de autenticarse.</a:t>
            </a:r>
          </a:p>
        </p:txBody>
      </p:sp>
      <p:sp>
        <p:nvSpPr>
          <p:cNvPr id="17" name="error">
            <a:extLst>
              <a:ext uri="{FF2B5EF4-FFF2-40B4-BE49-F238E27FC236}">
                <a16:creationId xmlns:a16="http://schemas.microsoft.com/office/drawing/2014/main" id="{17131F65-D6A5-4EC3-A693-B45E8962604F}"/>
              </a:ext>
            </a:extLst>
          </p:cNvPr>
          <p:cNvSpPr>
            <a:spLocks noGrp="1"/>
          </p:cNvSpPr>
          <p:nvPr/>
        </p:nvSpPr>
        <p:spPr>
          <a:xfrm>
            <a:off x="4695825" y="4343400"/>
            <a:ext cx="7067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63" b="0">
                <a:solidFill>
                  <a:srgbClr val="B43B33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B43B33"/>
                </a:solidFill>
                <a:latin typeface="Arial"/>
                <a:ea typeface="Arial"/>
                <a:cs typeface="Arial"/>
              </a:rPr>
              <a:t>“Incompatible ssh peer (no acceptable kex algorithm)”</a:t>
            </a:r>
          </a:p>
        </p:txBody>
      </p:sp>
      <p:sp>
        <p:nvSpPr>
          <p:cNvPr id="18" name="diagnostico">
            <a:extLst>
              <a:ext uri="{FF2B5EF4-FFF2-40B4-BE49-F238E27FC236}">
                <a16:creationId xmlns:a16="http://schemas.microsoft.com/office/drawing/2014/main" id="{58D6012B-BD57-4C0A-A4EA-2CFE00D6D100}"/>
              </a:ext>
            </a:extLst>
          </p:cNvPr>
          <p:cNvSpPr>
            <a:spLocks noGrp="1"/>
          </p:cNvSpPr>
          <p:nvPr/>
        </p:nvSpPr>
        <p:spPr>
          <a:xfrm>
            <a:off x="4695825" y="4638675"/>
            <a:ext cx="70675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63" b="0">
                <a:solidFill>
                  <a:srgbClr val="182C30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182C30"/>
                </a:solidFill>
                <a:latin typeface="Arial"/>
                <a:ea typeface="Arial"/>
                <a:cs typeface="Arial"/>
              </a:rPr>
              <a:t>Diagnóstico: IOS XE 16.9.5 ofrecía únicamente KEX heredados SHA-1.</a:t>
            </a:r>
          </a:p>
        </p:txBody>
      </p:sp>
      <p:pic>
        <p:nvPicPr>
          <p:cNvPr id="41" name="Imagen 4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695825" y="4933950"/>
            <a:ext cx="6667500" cy="190500"/>
          </a:xfrm>
          <a:prstGeom prst="rect">
            <a:avLst/>
          </a:prstGeom>
        </p:spPr>
      </p:pic>
      <p:sp>
        <p:nvSpPr>
          <p:cNvPr id="20" name="accion-kex">
            <a:extLst>
              <a:ext uri="{FF2B5EF4-FFF2-40B4-BE49-F238E27FC236}">
                <a16:creationId xmlns:a16="http://schemas.microsoft.com/office/drawing/2014/main" id="{7A93654C-AED8-495D-A8A8-53EC4AC2BA2E}"/>
              </a:ext>
            </a:extLst>
          </p:cNvPr>
          <p:cNvSpPr>
            <a:spLocks noGrp="1"/>
          </p:cNvSpPr>
          <p:nvPr/>
        </p:nvSpPr>
        <p:spPr>
          <a:xfrm>
            <a:off x="4695825" y="5267325"/>
            <a:ext cx="7067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16776B"/>
                </a:solidFill>
                <a:latin typeface="Arial"/>
                <a:ea typeface="Arial"/>
                <a:cs typeface="Arial"/>
              </a:defRPr>
            </a:pPr>
            <a:r>
              <a:rPr sz="1500" b="1" dirty="0" err="1">
                <a:solidFill>
                  <a:srgbClr val="16776B"/>
                </a:solidFill>
                <a:latin typeface="Arial"/>
                <a:ea typeface="Arial"/>
                <a:cs typeface="Arial"/>
              </a:rPr>
              <a:t>Acción</a:t>
            </a:r>
            <a:r>
              <a:rPr sz="1500" b="1" dirty="0">
                <a:solidFill>
                  <a:srgbClr val="16776B"/>
                </a:solidFill>
                <a:latin typeface="Arial"/>
                <a:ea typeface="Arial"/>
                <a:cs typeface="Arial"/>
              </a:rPr>
              <a:t>: </a:t>
            </a:r>
            <a:r>
              <a:rPr sz="1500" b="1" dirty="0" err="1">
                <a:solidFill>
                  <a:srgbClr val="16776B"/>
                </a:solidFill>
                <a:latin typeface="Arial"/>
                <a:ea typeface="Arial"/>
                <a:cs typeface="Arial"/>
              </a:rPr>
              <a:t>paramiko</a:t>
            </a:r>
            <a:r>
              <a:rPr sz="1500" b="1" dirty="0">
                <a:solidFill>
                  <a:srgbClr val="16776B"/>
                </a:solidFill>
                <a:latin typeface="Arial"/>
                <a:ea typeface="Arial"/>
                <a:cs typeface="Arial"/>
              </a:rPr>
              <a:t>&gt;=4,&lt;5 · </a:t>
            </a:r>
            <a:r>
              <a:rPr sz="1500" b="1" dirty="0" err="1">
                <a:solidFill>
                  <a:srgbClr val="16776B"/>
                </a:solidFill>
                <a:latin typeface="Arial"/>
                <a:ea typeface="Arial"/>
                <a:cs typeface="Arial"/>
              </a:rPr>
              <a:t>versión</a:t>
            </a:r>
            <a:r>
              <a:rPr sz="1500" b="1" dirty="0">
                <a:solidFill>
                  <a:srgbClr val="16776B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dirty="0" err="1">
                <a:solidFill>
                  <a:srgbClr val="16776B"/>
                </a:solidFill>
                <a:latin typeface="Arial"/>
                <a:ea typeface="Arial"/>
                <a:cs typeface="Arial"/>
              </a:rPr>
              <a:t>validada</a:t>
            </a:r>
            <a:r>
              <a:rPr sz="1500" b="1" dirty="0">
                <a:solidFill>
                  <a:srgbClr val="16776B"/>
                </a:solidFill>
                <a:latin typeface="Arial"/>
                <a:ea typeface="Arial"/>
                <a:cs typeface="Arial"/>
              </a:rPr>
              <a:t> 4.0.0</a:t>
            </a:r>
          </a:p>
        </p:txBody>
      </p:sp>
      <p:sp>
        <p:nvSpPr>
          <p:cNvPr id="21" name="resultado-kex">
            <a:extLst>
              <a:ext uri="{FF2B5EF4-FFF2-40B4-BE49-F238E27FC236}">
                <a16:creationId xmlns:a16="http://schemas.microsoft.com/office/drawing/2014/main" id="{77AC9528-65A9-4874-9C68-6FECF145B9C3}"/>
              </a:ext>
            </a:extLst>
          </p:cNvPr>
          <p:cNvSpPr>
            <a:spLocks noGrp="1"/>
          </p:cNvSpPr>
          <p:nvPr/>
        </p:nvSpPr>
        <p:spPr>
          <a:xfrm>
            <a:off x="4695825" y="5591175"/>
            <a:ext cx="70675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63" b="0">
                <a:solidFill>
                  <a:srgbClr val="182C30"/>
                </a:solidFill>
                <a:latin typeface="Arial"/>
                <a:ea typeface="Arial"/>
                <a:cs typeface="Arial"/>
              </a:defRPr>
            </a:pPr>
            <a:r>
              <a:rPr sz="1163" b="0" dirty="0" err="1">
                <a:solidFill>
                  <a:srgbClr val="182C30"/>
                </a:solidFill>
                <a:latin typeface="Arial"/>
                <a:ea typeface="Arial"/>
                <a:cs typeface="Arial"/>
              </a:rPr>
              <a:t>Resultado</a:t>
            </a:r>
            <a:r>
              <a:rPr sz="1163" b="0" dirty="0">
                <a:solidFill>
                  <a:srgbClr val="182C30"/>
                </a:solidFill>
                <a:latin typeface="Arial"/>
                <a:ea typeface="Arial"/>
                <a:cs typeface="Arial"/>
              </a:rPr>
              <a:t>: 1 </a:t>
            </a:r>
            <a:r>
              <a:rPr sz="1163" b="0" dirty="0" err="1">
                <a:solidFill>
                  <a:srgbClr val="182C30"/>
                </a:solidFill>
                <a:latin typeface="Arial"/>
                <a:ea typeface="Arial"/>
                <a:cs typeface="Arial"/>
              </a:rPr>
              <a:t>sesión</a:t>
            </a:r>
            <a:r>
              <a:rPr sz="1163" b="0" dirty="0">
                <a:solidFill>
                  <a:srgbClr val="182C30"/>
                </a:solidFill>
                <a:latin typeface="Arial"/>
                <a:ea typeface="Arial"/>
                <a:cs typeface="Arial"/>
              </a:rPr>
              <a:t> / 1 </a:t>
            </a:r>
            <a:r>
              <a:rPr sz="1163" b="0" dirty="0" err="1">
                <a:solidFill>
                  <a:srgbClr val="182C30"/>
                </a:solidFill>
                <a:latin typeface="Arial"/>
                <a:ea typeface="Arial"/>
                <a:cs typeface="Arial"/>
              </a:rPr>
              <a:t>desconexión</a:t>
            </a:r>
            <a:r>
              <a:rPr sz="1163" b="0" dirty="0">
                <a:solidFill>
                  <a:srgbClr val="182C30"/>
                </a:solidFill>
                <a:latin typeface="Arial"/>
                <a:ea typeface="Arial"/>
                <a:cs typeface="Arial"/>
              </a:rPr>
              <a:t> · 8/8 </a:t>
            </a:r>
            <a:r>
              <a:rPr sz="1163" b="0" dirty="0" err="1">
                <a:solidFill>
                  <a:srgbClr val="182C30"/>
                </a:solidFill>
                <a:latin typeface="Arial"/>
                <a:ea typeface="Arial"/>
                <a:cs typeface="Arial"/>
              </a:rPr>
              <a:t>comandos</a:t>
            </a:r>
            <a:r>
              <a:rPr sz="1163" b="0" dirty="0">
                <a:solidFill>
                  <a:srgbClr val="182C30"/>
                </a:solidFill>
                <a:latin typeface="Arial"/>
                <a:ea typeface="Arial"/>
                <a:cs typeface="Arial"/>
              </a:rPr>
              <a:t> · 8 </a:t>
            </a:r>
            <a:r>
              <a:rPr sz="1163" b="0" dirty="0" err="1">
                <a:solidFill>
                  <a:srgbClr val="182C30"/>
                </a:solidFill>
                <a:latin typeface="Arial"/>
                <a:ea typeface="Arial"/>
                <a:cs typeface="Arial"/>
              </a:rPr>
              <a:t>evidencias</a:t>
            </a:r>
            <a:endParaRPr sz="1163" b="0" dirty="0">
              <a:solidFill>
                <a:srgbClr val="182C30"/>
              </a:solidFill>
              <a:latin typeface="Arial"/>
              <a:ea typeface="Arial"/>
              <a:cs typeface="Arial"/>
            </a:endParaRPr>
          </a:p>
          <a:p>
            <a:pPr algn="l">
              <a:defRPr sz="1163" b="0">
                <a:solidFill>
                  <a:srgbClr val="182C30"/>
                </a:solidFill>
                <a:latin typeface="Arial"/>
                <a:ea typeface="Arial"/>
                <a:cs typeface="Arial"/>
              </a:defRPr>
            </a:pPr>
            <a:r>
              <a:rPr sz="1163" b="0" dirty="0">
                <a:solidFill>
                  <a:srgbClr val="182C30"/>
                </a:solidFill>
                <a:latin typeface="Arial"/>
                <a:ea typeface="Arial"/>
                <a:cs typeface="Arial"/>
              </a:rPr>
              <a:t>21 </a:t>
            </a:r>
            <a:r>
              <a:rPr sz="1163" b="0" dirty="0" err="1">
                <a:solidFill>
                  <a:srgbClr val="182C30"/>
                </a:solidFill>
                <a:latin typeface="Arial"/>
                <a:ea typeface="Arial"/>
                <a:cs typeface="Arial"/>
              </a:rPr>
              <a:t>evaluaciones</a:t>
            </a:r>
            <a:r>
              <a:rPr sz="1163" b="0" dirty="0">
                <a:solidFill>
                  <a:srgbClr val="182C30"/>
                </a:solidFill>
                <a:latin typeface="Arial"/>
                <a:ea typeface="Arial"/>
                <a:cs typeface="Arial"/>
              </a:rPr>
              <a:t> · 3 findings · sin </a:t>
            </a:r>
            <a:r>
              <a:rPr sz="1163" b="0" dirty="0" err="1">
                <a:solidFill>
                  <a:srgbClr val="182C30"/>
                </a:solidFill>
                <a:latin typeface="Arial"/>
                <a:ea typeface="Arial"/>
                <a:cs typeface="Arial"/>
              </a:rPr>
              <a:t>modificar</a:t>
            </a:r>
            <a:r>
              <a:rPr sz="1163" b="0" dirty="0">
                <a:solidFill>
                  <a:srgbClr val="182C30"/>
                </a:solidFill>
                <a:latin typeface="Arial"/>
                <a:ea typeface="Arial"/>
                <a:cs typeface="Arial"/>
              </a:rPr>
              <a:t> el router</a:t>
            </a:r>
          </a:p>
        </p:txBody>
      </p:sp>
      <p:sp>
        <p:nvSpPr>
          <p:cNvPr id="22" name="limite-produccion">
            <a:extLst>
              <a:ext uri="{FF2B5EF4-FFF2-40B4-BE49-F238E27FC236}">
                <a16:creationId xmlns:a16="http://schemas.microsoft.com/office/drawing/2014/main" id="{40300BBE-A0B6-4CE6-8CDC-F3CB546EB101}"/>
              </a:ext>
            </a:extLst>
          </p:cNvPr>
          <p:cNvSpPr>
            <a:spLocks noGrp="1"/>
          </p:cNvSpPr>
          <p:nvPr/>
        </p:nvSpPr>
        <p:spPr>
          <a:xfrm>
            <a:off x="4695825" y="6153150"/>
            <a:ext cx="70675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8" b="1">
                <a:solidFill>
                  <a:srgbClr val="B43B33"/>
                </a:solidFill>
                <a:latin typeface="Arial"/>
                <a:ea typeface="Arial"/>
                <a:cs typeface="Arial"/>
              </a:defRPr>
            </a:pPr>
            <a:r>
              <a:rPr sz="1058" b="1">
                <a:solidFill>
                  <a:srgbClr val="B43B33"/>
                </a:solidFill>
                <a:latin typeface="Arial"/>
                <a:ea typeface="Arial"/>
                <a:cs typeface="Arial"/>
              </a:rPr>
              <a:t>SOLO LABORATORIO LEGACY. Paramiko 4 / SHA-1 no se recomienda para producción.</a:t>
            </a:r>
          </a:p>
        </p:txBody>
      </p:sp>
    </p:spTree>
    <p:extLst>
      <p:ext uri="{BB962C8B-B14F-4D97-AF65-F5344CB8AC3E}">
        <p14:creationId xmlns:p14="http://schemas.microsoft.com/office/powerpoint/2010/main" val="707907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eccion">
            <a:extLst>
              <a:ext uri="{FF2B5EF4-FFF2-40B4-BE49-F238E27FC236}">
                <a16:creationId xmlns:a16="http://schemas.microsoft.com/office/drawing/2014/main" id="{A3041E02-9011-4C94-8B38-2A906F0E6041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847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1677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776B"/>
                </a:solidFill>
                <a:latin typeface="Arial"/>
                <a:ea typeface="Arial"/>
                <a:cs typeface="Arial"/>
              </a:rPr>
              <a:t>03 · EVIDENCIAS DE AVANCE</a:t>
            </a:r>
          </a:p>
        </p:txBody>
      </p:sp>
      <p:sp>
        <p:nvSpPr>
          <p:cNvPr id="2" name="titulo">
            <a:extLst>
              <a:ext uri="{FF2B5EF4-FFF2-40B4-BE49-F238E27FC236}">
                <a16:creationId xmlns:a16="http://schemas.microsoft.com/office/drawing/2014/main" id="{158B72E2-AFC3-4D02-80C6-B40D93C7030B}"/>
              </a:ext>
            </a:extLst>
          </p:cNvPr>
          <p:cNvSpPr>
            <a:spLocks noGrp="1"/>
          </p:cNvSpPr>
          <p:nvPr/>
        </p:nvSpPr>
        <p:spPr>
          <a:xfrm>
            <a:off x="419100" y="523875"/>
            <a:ext cx="113538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1">
                <a:solidFill>
                  <a:srgbClr val="182C3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2C30"/>
                </a:solidFill>
                <a:latin typeface="Arial"/>
                <a:ea typeface="Arial"/>
                <a:cs typeface="Arial"/>
              </a:rPr>
              <a:t>Laboratorio Cisco y pruebas de verificación</a:t>
            </a:r>
          </a:p>
        </p:txBody>
      </p:sp>
      <p:sp>
        <p:nvSpPr>
          <p:cNvPr id="3" name="identidad">
            <a:extLst>
              <a:ext uri="{FF2B5EF4-FFF2-40B4-BE49-F238E27FC236}">
                <a16:creationId xmlns:a16="http://schemas.microsoft.com/office/drawing/2014/main" id="{ADB3A292-08A5-4CC0-A3CB-ADFF801F5F6D}"/>
              </a:ext>
            </a:extLst>
          </p:cNvPr>
          <p:cNvSpPr>
            <a:spLocks noGrp="1"/>
          </p:cNvSpPr>
          <p:nvPr/>
        </p:nvSpPr>
        <p:spPr>
          <a:xfrm>
            <a:off x="9191625" y="228600"/>
            <a:ext cx="25812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97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86D"/>
                </a:solidFill>
                <a:latin typeface="Arial"/>
                <a:ea typeface="Arial"/>
                <a:cs typeface="Arial"/>
              </a:rPr>
              <a:t>NetAudit · Evaluación 2 APT</a:t>
            </a:r>
          </a:p>
        </p:txBody>
      </p:sp>
      <p:sp>
        <p:nvSpPr>
          <p:cNvPr id="4" name="pie">
            <a:extLst>
              <a:ext uri="{FF2B5EF4-FFF2-40B4-BE49-F238E27FC236}">
                <a16:creationId xmlns:a16="http://schemas.microsoft.com/office/drawing/2014/main" id="{02CF13E7-28CA-45CE-B23D-E67FFAFE1095}"/>
              </a:ext>
            </a:extLst>
          </p:cNvPr>
          <p:cNvSpPr>
            <a:spLocks noGrp="1"/>
          </p:cNvSpPr>
          <p:nvPr/>
        </p:nvSpPr>
        <p:spPr>
          <a:xfrm>
            <a:off x="419100" y="6572250"/>
            <a:ext cx="10287000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82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86D"/>
                </a:solidFill>
                <a:latin typeface="Arial"/>
                <a:ea typeface="Arial"/>
                <a:cs typeface="Arial"/>
              </a:rPr>
              <a:t>Ingeniería en Conectividad y Redes · Martes 6 de octubre de 2026</a:t>
            </a:r>
          </a:p>
        </p:txBody>
      </p:sp>
      <p:sp>
        <p:nvSpPr>
          <p:cNvPr id="5" name="numero">
            <a:extLst>
              <a:ext uri="{FF2B5EF4-FFF2-40B4-BE49-F238E27FC236}">
                <a16:creationId xmlns:a16="http://schemas.microsoft.com/office/drawing/2014/main" id="{CB3A8EE4-7AC8-45DD-AEE9-7A0F5BB44CE2}"/>
              </a:ext>
            </a:extLst>
          </p:cNvPr>
          <p:cNvSpPr>
            <a:spLocks noGrp="1"/>
          </p:cNvSpPr>
          <p:nvPr/>
        </p:nvSpPr>
        <p:spPr>
          <a:xfrm>
            <a:off x="11334750" y="6562725"/>
            <a:ext cx="4381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900" b="1">
                <a:solidFill>
                  <a:srgbClr val="16776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677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flujo-titulo">
            <a:extLst>
              <a:ext uri="{FF2B5EF4-FFF2-40B4-BE49-F238E27FC236}">
                <a16:creationId xmlns:a16="http://schemas.microsoft.com/office/drawing/2014/main" id="{9BAA54FF-7EB8-4DD7-988A-11F277087FB1}"/>
              </a:ext>
            </a:extLst>
          </p:cNvPr>
          <p:cNvSpPr>
            <a:spLocks noGrp="1"/>
          </p:cNvSpPr>
          <p:nvPr/>
        </p:nvSpPr>
        <p:spPr>
          <a:xfrm>
            <a:off x="419100" y="1152525"/>
            <a:ext cx="22764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13" b="1">
                <a:solidFill>
                  <a:srgbClr val="16776B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16776B"/>
                </a:solidFill>
                <a:latin typeface="Arial"/>
                <a:ea typeface="Arial"/>
                <a:cs typeface="Arial"/>
              </a:rPr>
              <a:t>FLUJO REAL · SOLO LECTURA</a:t>
            </a:r>
          </a:p>
        </p:txBody>
      </p:sp>
      <p:sp>
        <p:nvSpPr>
          <p:cNvPr id="7" name="netaudit">
            <a:extLst>
              <a:ext uri="{FF2B5EF4-FFF2-40B4-BE49-F238E27FC236}">
                <a16:creationId xmlns:a16="http://schemas.microsoft.com/office/drawing/2014/main" id="{6FEF3D9E-3529-496F-9613-AECBF1FFE44F}"/>
              </a:ext>
            </a:extLst>
          </p:cNvPr>
          <p:cNvSpPr>
            <a:spLocks noGrp="1"/>
          </p:cNvSpPr>
          <p:nvPr/>
        </p:nvSpPr>
        <p:spPr>
          <a:xfrm>
            <a:off x="419100" y="1552575"/>
            <a:ext cx="2190750" cy="561975"/>
          </a:xfrm>
          <a:prstGeom prst="rect">
            <a:avLst/>
          </a:prstGeom>
          <a:solidFill>
            <a:srgbClr val="FFFFFF"/>
          </a:solidFill>
          <a:ln w="9525">
            <a:solidFill>
              <a:srgbClr val="16776B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8" name="netaudit-titulo">
            <a:extLst>
              <a:ext uri="{FF2B5EF4-FFF2-40B4-BE49-F238E27FC236}">
                <a16:creationId xmlns:a16="http://schemas.microsoft.com/office/drawing/2014/main" id="{538B5E4F-1E77-422C-A24F-E611CBD95C47}"/>
              </a:ext>
            </a:extLst>
          </p:cNvPr>
          <p:cNvSpPr>
            <a:spLocks noGrp="1"/>
          </p:cNvSpPr>
          <p:nvPr/>
        </p:nvSpPr>
        <p:spPr>
          <a:xfrm>
            <a:off x="533400" y="1619250"/>
            <a:ext cx="19621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1">
                <a:solidFill>
                  <a:srgbClr val="182C3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2C30"/>
                </a:solidFill>
                <a:latin typeface="Arial"/>
                <a:ea typeface="Arial"/>
                <a:cs typeface="Arial"/>
              </a:rPr>
              <a:t>NetAudit</a:t>
            </a:r>
          </a:p>
        </p:txBody>
      </p:sp>
      <p:sp>
        <p:nvSpPr>
          <p:cNvPr id="9" name="netaudit-sub">
            <a:extLst>
              <a:ext uri="{FF2B5EF4-FFF2-40B4-BE49-F238E27FC236}">
                <a16:creationId xmlns:a16="http://schemas.microsoft.com/office/drawing/2014/main" id="{8CB3222A-37A0-47D6-A6B9-B92F3FD42E56}"/>
              </a:ext>
            </a:extLst>
          </p:cNvPr>
          <p:cNvSpPr>
            <a:spLocks noGrp="1"/>
          </p:cNvSpPr>
          <p:nvPr/>
        </p:nvSpPr>
        <p:spPr>
          <a:xfrm>
            <a:off x="533400" y="1847850"/>
            <a:ext cx="19621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923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52686D"/>
                </a:solidFill>
                <a:latin typeface="Arial"/>
                <a:ea typeface="Arial"/>
                <a:cs typeface="Arial"/>
              </a:rPr>
              <a:t>Python / Netmiko</a:t>
            </a:r>
          </a:p>
        </p:txBody>
      </p:sp>
      <p:sp>
        <p:nvSpPr>
          <p:cNvPr id="10" name="ssh-flujo">
            <a:extLst>
              <a:ext uri="{FF2B5EF4-FFF2-40B4-BE49-F238E27FC236}">
                <a16:creationId xmlns:a16="http://schemas.microsoft.com/office/drawing/2014/main" id="{E2417026-735A-4D7C-A967-7E64BD23C35C}"/>
              </a:ext>
            </a:extLst>
          </p:cNvPr>
          <p:cNvSpPr>
            <a:spLocks noGrp="1"/>
          </p:cNvSpPr>
          <p:nvPr/>
        </p:nvSpPr>
        <p:spPr>
          <a:xfrm>
            <a:off x="419100" y="2209800"/>
            <a:ext cx="1047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878" b="1">
                <a:solidFill>
                  <a:srgbClr val="16776B"/>
                </a:solidFill>
                <a:latin typeface="Arial"/>
                <a:ea typeface="Arial"/>
                <a:cs typeface="Arial"/>
              </a:defRPr>
            </a:pPr>
            <a:r>
              <a:rPr sz="878" b="1">
                <a:solidFill>
                  <a:srgbClr val="16776B"/>
                </a:solidFill>
                <a:latin typeface="Arial"/>
                <a:ea typeface="Arial"/>
                <a:cs typeface="Arial"/>
              </a:rPr>
              <a:t>SSH solo lectura</a:t>
            </a:r>
          </a:p>
          <a:p>
            <a:pPr algn="l">
              <a:defRPr sz="878" b="1">
                <a:solidFill>
                  <a:srgbClr val="16776B"/>
                </a:solidFill>
                <a:latin typeface="Arial"/>
                <a:ea typeface="Arial"/>
                <a:cs typeface="Arial"/>
              </a:defRPr>
            </a:pPr>
            <a:r>
              <a:rPr sz="878" b="1">
                <a:solidFill>
                  <a:srgbClr val="16776B"/>
                </a:solidFill>
                <a:latin typeface="Arial"/>
                <a:ea typeface="Arial"/>
                <a:cs typeface="Arial"/>
              </a:rPr>
              <a:t>8 comandos</a:t>
            </a:r>
          </a:p>
        </p:txBody>
      </p:sp>
      <p:sp>
        <p:nvSpPr>
          <p:cNvPr id="11" name="csr1000v">
            <a:extLst>
              <a:ext uri="{FF2B5EF4-FFF2-40B4-BE49-F238E27FC236}">
                <a16:creationId xmlns:a16="http://schemas.microsoft.com/office/drawing/2014/main" id="{5785205E-7097-437A-8F76-3D0D406E9AC1}"/>
              </a:ext>
            </a:extLst>
          </p:cNvPr>
          <p:cNvSpPr>
            <a:spLocks noGrp="1"/>
          </p:cNvSpPr>
          <p:nvPr/>
        </p:nvSpPr>
        <p:spPr>
          <a:xfrm>
            <a:off x="419100" y="2609850"/>
            <a:ext cx="21907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16776B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2" name="csr1000v-titulo">
            <a:extLst>
              <a:ext uri="{FF2B5EF4-FFF2-40B4-BE49-F238E27FC236}">
                <a16:creationId xmlns:a16="http://schemas.microsoft.com/office/drawing/2014/main" id="{370ACD0B-7FBF-4EE7-A858-7A149700D3D5}"/>
              </a:ext>
            </a:extLst>
          </p:cNvPr>
          <p:cNvSpPr>
            <a:spLocks noGrp="1"/>
          </p:cNvSpPr>
          <p:nvPr/>
        </p:nvSpPr>
        <p:spPr>
          <a:xfrm>
            <a:off x="533400" y="2676525"/>
            <a:ext cx="19621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1">
                <a:solidFill>
                  <a:srgbClr val="182C3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2C30"/>
                </a:solidFill>
                <a:latin typeface="Arial"/>
                <a:ea typeface="Arial"/>
                <a:cs typeface="Arial"/>
              </a:rPr>
              <a:t>CSR1000v</a:t>
            </a:r>
          </a:p>
        </p:txBody>
      </p:sp>
      <p:sp>
        <p:nvSpPr>
          <p:cNvPr id="13" name="csr1000v-sub">
            <a:extLst>
              <a:ext uri="{FF2B5EF4-FFF2-40B4-BE49-F238E27FC236}">
                <a16:creationId xmlns:a16="http://schemas.microsoft.com/office/drawing/2014/main" id="{37821266-B950-487F-8189-89AA00B57B62}"/>
              </a:ext>
            </a:extLst>
          </p:cNvPr>
          <p:cNvSpPr>
            <a:spLocks noGrp="1"/>
          </p:cNvSpPr>
          <p:nvPr/>
        </p:nvSpPr>
        <p:spPr>
          <a:xfrm>
            <a:off x="533400" y="2905125"/>
            <a:ext cx="196215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923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52686D"/>
                </a:solidFill>
                <a:latin typeface="Arial"/>
                <a:ea typeface="Arial"/>
                <a:cs typeface="Arial"/>
              </a:rPr>
              <a:t>Cisco IOS XE 16.9.5</a:t>
            </a:r>
          </a:p>
          <a:p>
            <a:pPr algn="l">
              <a:defRPr sz="923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52686D"/>
                </a:solidFill>
                <a:latin typeface="Arial"/>
                <a:ea typeface="Arial"/>
                <a:cs typeface="Arial"/>
              </a:rPr>
              <a:t>Oracle VirtualBox</a:t>
            </a:r>
          </a:p>
        </p:txBody>
      </p:sp>
      <p:sp>
        <p:nvSpPr>
          <p:cNvPr id="14" name="parsing">
            <a:extLst>
              <a:ext uri="{FF2B5EF4-FFF2-40B4-BE49-F238E27FC236}">
                <a16:creationId xmlns:a16="http://schemas.microsoft.com/office/drawing/2014/main" id="{EA497502-AF4B-4893-B239-96AEE48EFA17}"/>
              </a:ext>
            </a:extLst>
          </p:cNvPr>
          <p:cNvSpPr>
            <a:spLocks noGrp="1"/>
          </p:cNvSpPr>
          <p:nvPr/>
        </p:nvSpPr>
        <p:spPr>
          <a:xfrm>
            <a:off x="419100" y="3705225"/>
            <a:ext cx="21907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16776B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5" name="parsing-titulo">
            <a:extLst>
              <a:ext uri="{FF2B5EF4-FFF2-40B4-BE49-F238E27FC236}">
                <a16:creationId xmlns:a16="http://schemas.microsoft.com/office/drawing/2014/main" id="{724009F3-6020-423F-99AC-EA87C1B877F3}"/>
              </a:ext>
            </a:extLst>
          </p:cNvPr>
          <p:cNvSpPr>
            <a:spLocks noGrp="1"/>
          </p:cNvSpPr>
          <p:nvPr/>
        </p:nvSpPr>
        <p:spPr>
          <a:xfrm>
            <a:off x="533400" y="3771900"/>
            <a:ext cx="19621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1">
                <a:solidFill>
                  <a:srgbClr val="182C3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2C30"/>
                </a:solidFill>
                <a:latin typeface="Arial"/>
                <a:ea typeface="Arial"/>
                <a:cs typeface="Arial"/>
              </a:rPr>
              <a:t>Parsing</a:t>
            </a:r>
          </a:p>
        </p:txBody>
      </p:sp>
      <p:sp>
        <p:nvSpPr>
          <p:cNvPr id="16" name="parsing-sub">
            <a:extLst>
              <a:ext uri="{FF2B5EF4-FFF2-40B4-BE49-F238E27FC236}">
                <a16:creationId xmlns:a16="http://schemas.microsoft.com/office/drawing/2014/main" id="{9EA920FE-A86A-45EA-AC04-AEA004FA1533}"/>
              </a:ext>
            </a:extLst>
          </p:cNvPr>
          <p:cNvSpPr>
            <a:spLocks noGrp="1"/>
          </p:cNvSpPr>
          <p:nvPr/>
        </p:nvSpPr>
        <p:spPr>
          <a:xfrm>
            <a:off x="533400" y="4000500"/>
            <a:ext cx="196215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923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52686D"/>
                </a:solidFill>
                <a:latin typeface="Arial"/>
                <a:ea typeface="Arial"/>
                <a:cs typeface="Arial"/>
              </a:rPr>
              <a:t>CiscoConfParse / TextFSM</a:t>
            </a:r>
          </a:p>
          <a:p>
            <a:pPr algn="l">
              <a:defRPr sz="923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52686D"/>
                </a:solidFill>
                <a:latin typeface="Arial"/>
                <a:ea typeface="Arial"/>
                <a:cs typeface="Arial"/>
              </a:rPr>
              <a:t>7 contextos operacionales</a:t>
            </a:r>
          </a:p>
        </p:txBody>
      </p:sp>
      <p:sp>
        <p:nvSpPr>
          <p:cNvPr id="17" name="motor">
            <a:extLst>
              <a:ext uri="{FF2B5EF4-FFF2-40B4-BE49-F238E27FC236}">
                <a16:creationId xmlns:a16="http://schemas.microsoft.com/office/drawing/2014/main" id="{B5CC25B7-E483-4CAA-8AB2-EE22DBA3B569}"/>
              </a:ext>
            </a:extLst>
          </p:cNvPr>
          <p:cNvSpPr>
            <a:spLocks noGrp="1"/>
          </p:cNvSpPr>
          <p:nvPr/>
        </p:nvSpPr>
        <p:spPr>
          <a:xfrm>
            <a:off x="419100" y="4619625"/>
            <a:ext cx="2190750" cy="561975"/>
          </a:xfrm>
          <a:prstGeom prst="rect">
            <a:avLst/>
          </a:prstGeom>
          <a:solidFill>
            <a:srgbClr val="FFFFFF"/>
          </a:solidFill>
          <a:ln w="9525">
            <a:solidFill>
              <a:srgbClr val="16776B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8" name="motor-titulo">
            <a:extLst>
              <a:ext uri="{FF2B5EF4-FFF2-40B4-BE49-F238E27FC236}">
                <a16:creationId xmlns:a16="http://schemas.microsoft.com/office/drawing/2014/main" id="{2DFF1E39-1BB4-413B-8F86-4973C8FD2A51}"/>
              </a:ext>
            </a:extLst>
          </p:cNvPr>
          <p:cNvSpPr>
            <a:spLocks noGrp="1"/>
          </p:cNvSpPr>
          <p:nvPr/>
        </p:nvSpPr>
        <p:spPr>
          <a:xfrm>
            <a:off x="533400" y="4686300"/>
            <a:ext cx="19621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1">
                <a:solidFill>
                  <a:srgbClr val="182C3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2C30"/>
                </a:solidFill>
                <a:latin typeface="Arial"/>
                <a:ea typeface="Arial"/>
                <a:cs typeface="Arial"/>
              </a:rPr>
              <a:t>Motor determinista</a:t>
            </a:r>
          </a:p>
        </p:txBody>
      </p:sp>
      <p:sp>
        <p:nvSpPr>
          <p:cNvPr id="19" name="motor-sub">
            <a:extLst>
              <a:ext uri="{FF2B5EF4-FFF2-40B4-BE49-F238E27FC236}">
                <a16:creationId xmlns:a16="http://schemas.microsoft.com/office/drawing/2014/main" id="{74594B86-3213-47C1-BAD5-9B9663AAC898}"/>
              </a:ext>
            </a:extLst>
          </p:cNvPr>
          <p:cNvSpPr>
            <a:spLocks noGrp="1"/>
          </p:cNvSpPr>
          <p:nvPr/>
        </p:nvSpPr>
        <p:spPr>
          <a:xfrm>
            <a:off x="533400" y="4914900"/>
            <a:ext cx="19621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923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52686D"/>
                </a:solidFill>
                <a:latin typeface="Arial"/>
                <a:ea typeface="Arial"/>
                <a:cs typeface="Arial"/>
              </a:rPr>
              <a:t>21 controles</a:t>
            </a:r>
          </a:p>
        </p:txBody>
      </p:sp>
      <p:cxnSp>
        <p:nvCxnSpPr>
          <p:cNvPr id="70" name="Conector recto de flecha 69"/>
          <p:cNvCxnSpPr>
            <a:stCxn id="7" idx="2"/>
            <a:endCxn id="11" idx="0"/>
          </p:cNvCxnSpPr>
          <p:nvPr/>
        </p:nvCxnSpPr>
        <p:spPr>
          <a:xfrm>
            <a:off x="1514475" y="2114550"/>
            <a:ext cx="0" cy="495300"/>
          </a:xfrm>
          <a:prstGeom prst="straightConnector1">
            <a:avLst/>
          </a:prstGeom>
          <a:ln w="16193">
            <a:solidFill>
              <a:srgbClr val="16776B"/>
            </a:solidFill>
            <a:tailEnd type="arrow" w="med" len="med"/>
          </a:ln>
        </p:spPr>
      </p:cxnSp>
      <p:cxnSp>
        <p:nvCxnSpPr>
          <p:cNvPr id="71" name="Conector recto de flecha 70"/>
          <p:cNvCxnSpPr>
            <a:stCxn id="11" idx="2"/>
            <a:endCxn id="14" idx="0"/>
          </p:cNvCxnSpPr>
          <p:nvPr/>
        </p:nvCxnSpPr>
        <p:spPr>
          <a:xfrm>
            <a:off x="1514475" y="3333750"/>
            <a:ext cx="0" cy="371475"/>
          </a:xfrm>
          <a:prstGeom prst="straightConnector1">
            <a:avLst/>
          </a:prstGeom>
          <a:ln w="16193">
            <a:solidFill>
              <a:srgbClr val="16776B"/>
            </a:solidFill>
            <a:tailEnd type="arrow" w="med" len="med"/>
          </a:ln>
        </p:spPr>
      </p:cxnSp>
      <p:cxnSp>
        <p:nvCxnSpPr>
          <p:cNvPr id="72" name="Conector recto de flecha 71"/>
          <p:cNvCxnSpPr>
            <a:stCxn id="14" idx="2"/>
            <a:endCxn id="17" idx="0"/>
          </p:cNvCxnSpPr>
          <p:nvPr/>
        </p:nvCxnSpPr>
        <p:spPr>
          <a:xfrm>
            <a:off x="1514475" y="4429125"/>
            <a:ext cx="0" cy="190500"/>
          </a:xfrm>
          <a:prstGeom prst="straightConnector1">
            <a:avLst/>
          </a:prstGeom>
          <a:ln w="16193">
            <a:solidFill>
              <a:srgbClr val="16776B"/>
            </a:solidFill>
            <a:tailEnd type="arrow" w="med" len="med"/>
          </a:ln>
        </p:spPr>
      </p:cxnSp>
      <p:sp>
        <p:nvSpPr>
          <p:cNvPr id="23" name="salida">
            <a:extLst>
              <a:ext uri="{FF2B5EF4-FFF2-40B4-BE49-F238E27FC236}">
                <a16:creationId xmlns:a16="http://schemas.microsoft.com/office/drawing/2014/main" id="{D0096F96-DCA8-407B-8510-0E353C3B7A9E}"/>
              </a:ext>
            </a:extLst>
          </p:cNvPr>
          <p:cNvSpPr>
            <a:spLocks noGrp="1"/>
          </p:cNvSpPr>
          <p:nvPr/>
        </p:nvSpPr>
        <p:spPr>
          <a:xfrm>
            <a:off x="419100" y="5505450"/>
            <a:ext cx="2190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60" b="1">
                <a:solidFill>
                  <a:srgbClr val="16776B"/>
                </a:solidFill>
                <a:latin typeface="Arial"/>
                <a:ea typeface="Arial"/>
                <a:cs typeface="Arial"/>
              </a:defRPr>
            </a:pPr>
            <a:r>
              <a:rPr sz="1260" b="1">
                <a:solidFill>
                  <a:srgbClr val="16776B"/>
                </a:solidFill>
                <a:latin typeface="Arial"/>
                <a:ea typeface="Arial"/>
                <a:cs typeface="Arial"/>
              </a:rPr>
              <a:t>Evaluaciones + Findings</a:t>
            </a:r>
          </a:p>
        </p:txBody>
      </p:sp>
      <p:sp>
        <p:nvSpPr>
          <p:cNvPr id="24" name="salida-conector">
            <a:extLst>
              <a:ext uri="{FF2B5EF4-FFF2-40B4-BE49-F238E27FC236}">
                <a16:creationId xmlns:a16="http://schemas.microsoft.com/office/drawing/2014/main" id="{7DFD909D-D914-452C-8528-B49850F04898}"/>
              </a:ext>
            </a:extLst>
          </p:cNvPr>
          <p:cNvSpPr>
            <a:spLocks noGrp="1"/>
          </p:cNvSpPr>
          <p:nvPr/>
        </p:nvSpPr>
        <p:spPr>
          <a:xfrm>
            <a:off x="1514475" y="5191125"/>
            <a:ext cx="0" cy="228600"/>
          </a:xfrm>
          <a:prstGeom prst="line">
            <a:avLst/>
          </a:prstGeom>
          <a:noFill/>
          <a:ln w="16193">
            <a:solidFill>
              <a:srgbClr val="16776B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5" name="sin-ia">
            <a:extLst>
              <a:ext uri="{FF2B5EF4-FFF2-40B4-BE49-F238E27FC236}">
                <a16:creationId xmlns:a16="http://schemas.microsoft.com/office/drawing/2014/main" id="{0564441B-F6A4-4AC4-A39F-0DF49C8A9A63}"/>
              </a:ext>
            </a:extLst>
          </p:cNvPr>
          <p:cNvSpPr>
            <a:spLocks noGrp="1"/>
          </p:cNvSpPr>
          <p:nvPr/>
        </p:nvSpPr>
        <p:spPr>
          <a:xfrm>
            <a:off x="419100" y="5857875"/>
            <a:ext cx="2190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923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52686D"/>
                </a:solidFill>
                <a:latin typeface="Arial"/>
                <a:ea typeface="Arial"/>
                <a:cs typeface="Arial"/>
              </a:rPr>
              <a:t>Sin IA en el flujo actual</a:t>
            </a:r>
          </a:p>
        </p:txBody>
      </p:sp>
      <p:sp>
        <p:nvSpPr>
          <p:cNvPr id="26" name="divisor-flujo">
            <a:extLst>
              <a:ext uri="{FF2B5EF4-FFF2-40B4-BE49-F238E27FC236}">
                <a16:creationId xmlns:a16="http://schemas.microsoft.com/office/drawing/2014/main" id="{BD672416-02AF-49A9-8A95-EF4CB7A4C65C}"/>
              </a:ext>
            </a:extLst>
          </p:cNvPr>
          <p:cNvSpPr>
            <a:spLocks noGrp="1"/>
          </p:cNvSpPr>
          <p:nvPr/>
        </p:nvSpPr>
        <p:spPr>
          <a:xfrm>
            <a:off x="2847975" y="1152525"/>
            <a:ext cx="0" cy="4895850"/>
          </a:xfrm>
          <a:prstGeom prst="line">
            <a:avLst/>
          </a:prstGeom>
          <a:noFill/>
          <a:ln w="9525">
            <a:solidFill>
              <a:srgbClr val="D4DFE1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7" name="prueba1-titulo">
            <a:extLst>
              <a:ext uri="{FF2B5EF4-FFF2-40B4-BE49-F238E27FC236}">
                <a16:creationId xmlns:a16="http://schemas.microsoft.com/office/drawing/2014/main" id="{5C5C2AFB-3721-4415-A3B5-A9FEF1BC1BE9}"/>
              </a:ext>
            </a:extLst>
          </p:cNvPr>
          <p:cNvSpPr>
            <a:spLocks noGrp="1"/>
          </p:cNvSpPr>
          <p:nvPr/>
        </p:nvSpPr>
        <p:spPr>
          <a:xfrm>
            <a:off x="3124200" y="1152525"/>
            <a:ext cx="86201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1">
                <a:solidFill>
                  <a:srgbClr val="1677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776B"/>
                </a:solidFill>
                <a:latin typeface="Arial"/>
                <a:ea typeface="Arial"/>
                <a:cs typeface="Arial"/>
              </a:rPr>
              <a:t>PRUEBA 1 · RECOLECCIÓN REAL</a:t>
            </a:r>
          </a:p>
        </p:txBody>
      </p:sp>
      <p:sp>
        <p:nvSpPr>
          <p:cNvPr id="28" name="prueba1">
            <a:extLst>
              <a:ext uri="{FF2B5EF4-FFF2-40B4-BE49-F238E27FC236}">
                <a16:creationId xmlns:a16="http://schemas.microsoft.com/office/drawing/2014/main" id="{43988063-3A6B-4CB3-9738-0B4DE559665F}"/>
              </a:ext>
            </a:extLst>
          </p:cNvPr>
          <p:cNvSpPr>
            <a:spLocks noGrp="1"/>
          </p:cNvSpPr>
          <p:nvPr/>
        </p:nvSpPr>
        <p:spPr>
          <a:xfrm>
            <a:off x="3124200" y="1485900"/>
            <a:ext cx="41910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77" b="0">
                <a:solidFill>
                  <a:srgbClr val="182C30"/>
                </a:solidFill>
                <a:latin typeface="Arial"/>
                <a:ea typeface="Arial"/>
                <a:cs typeface="Arial"/>
              </a:defRPr>
            </a:pPr>
            <a:r>
              <a:rPr sz="1177" b="0">
                <a:solidFill>
                  <a:srgbClr val="182C30"/>
                </a:solidFill>
                <a:latin typeface="Arial"/>
                <a:ea typeface="Arial"/>
                <a:cs typeface="Arial"/>
              </a:rPr>
              <a:t>Prueba: análisis integral por SSH contra CSR1000v.</a:t>
            </a:r>
          </a:p>
          <a:p>
            <a:pPr algn="l">
              <a:defRPr sz="1177" b="0">
                <a:solidFill>
                  <a:srgbClr val="182C30"/>
                </a:solidFill>
                <a:latin typeface="Arial"/>
                <a:ea typeface="Arial"/>
                <a:cs typeface="Arial"/>
              </a:defRPr>
            </a:pPr>
            <a:r>
              <a:rPr sz="1177" b="0">
                <a:solidFill>
                  <a:srgbClr val="182C30"/>
                </a:solidFill>
                <a:latin typeface="Arial"/>
                <a:ea typeface="Arial"/>
                <a:cs typeface="Arial"/>
              </a:rPr>
              <a:t>Esperado: 1 sesión, 8 consultas autorizadas y desconexión.</a:t>
            </a:r>
          </a:p>
        </p:txBody>
      </p:sp>
      <p:sp>
        <p:nvSpPr>
          <p:cNvPr id="29" name="prueba1-obtenido">
            <a:extLst>
              <a:ext uri="{FF2B5EF4-FFF2-40B4-BE49-F238E27FC236}">
                <a16:creationId xmlns:a16="http://schemas.microsoft.com/office/drawing/2014/main" id="{47815DE9-B938-4B1E-9F75-36C3BF030BD9}"/>
              </a:ext>
            </a:extLst>
          </p:cNvPr>
          <p:cNvSpPr>
            <a:spLocks noGrp="1"/>
          </p:cNvSpPr>
          <p:nvPr/>
        </p:nvSpPr>
        <p:spPr>
          <a:xfrm>
            <a:off x="3124200" y="2085975"/>
            <a:ext cx="41910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1">
                <a:solidFill>
                  <a:srgbClr val="182C3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C30"/>
                </a:solidFill>
                <a:latin typeface="Arial"/>
                <a:ea typeface="Arial"/>
                <a:cs typeface="Arial"/>
              </a:rPr>
              <a:t>Obtenido: 1 sesión + 1 desconexión</a:t>
            </a:r>
          </a:p>
          <a:p>
            <a:pPr algn="l">
              <a:defRPr sz="1650" b="1">
                <a:solidFill>
                  <a:srgbClr val="182C3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C30"/>
                </a:solidFill>
                <a:latin typeface="Arial"/>
                <a:ea typeface="Arial"/>
                <a:cs typeface="Arial"/>
              </a:rPr>
              <a:t>8/8 comandos · 8 evidencias</a:t>
            </a:r>
          </a:p>
        </p:txBody>
      </p:sp>
      <p:pic>
        <p:nvPicPr>
          <p:cNvPr id="80" name="Imagen 7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543800" y="1485900"/>
            <a:ext cx="4057650" cy="1200150"/>
          </a:xfrm>
          <a:prstGeom prst="rect">
            <a:avLst/>
          </a:prstGeom>
        </p:spPr>
      </p:pic>
      <p:pic>
        <p:nvPicPr>
          <p:cNvPr id="81" name="Imagen 8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543800" y="2734771"/>
            <a:ext cx="4057650" cy="264507"/>
          </a:xfrm>
          <a:prstGeom prst="rect">
            <a:avLst/>
          </a:prstGeom>
        </p:spPr>
      </p:pic>
      <p:sp>
        <p:nvSpPr>
          <p:cNvPr id="32" name="divisor1">
            <a:extLst>
              <a:ext uri="{FF2B5EF4-FFF2-40B4-BE49-F238E27FC236}">
                <a16:creationId xmlns:a16="http://schemas.microsoft.com/office/drawing/2014/main" id="{087172CF-4227-45C1-91BE-42543C5910B0}"/>
              </a:ext>
            </a:extLst>
          </p:cNvPr>
          <p:cNvSpPr>
            <a:spLocks noGrp="1"/>
          </p:cNvSpPr>
          <p:nvPr/>
        </p:nvSpPr>
        <p:spPr>
          <a:xfrm>
            <a:off x="3124200" y="3086100"/>
            <a:ext cx="8648700" cy="0"/>
          </a:xfrm>
          <a:prstGeom prst="line">
            <a:avLst/>
          </a:prstGeom>
          <a:noFill/>
          <a:ln w="9525">
            <a:solidFill>
              <a:srgbClr val="D4DFE1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3" name="prueba2-titulo">
            <a:extLst>
              <a:ext uri="{FF2B5EF4-FFF2-40B4-BE49-F238E27FC236}">
                <a16:creationId xmlns:a16="http://schemas.microsoft.com/office/drawing/2014/main" id="{E3952CA9-C2A2-4599-82FB-2C90472C8AFF}"/>
              </a:ext>
            </a:extLst>
          </p:cNvPr>
          <p:cNvSpPr>
            <a:spLocks noGrp="1"/>
          </p:cNvSpPr>
          <p:nvPr/>
        </p:nvSpPr>
        <p:spPr>
          <a:xfrm>
            <a:off x="3124200" y="3200400"/>
            <a:ext cx="86201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1">
                <a:solidFill>
                  <a:srgbClr val="1677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776B"/>
                </a:solidFill>
                <a:latin typeface="Arial"/>
                <a:ea typeface="Arial"/>
                <a:cs typeface="Arial"/>
              </a:rPr>
              <a:t>PRUEBA 2 · MOTOR SOBRE ROUTER REAL</a:t>
            </a:r>
          </a:p>
        </p:txBody>
      </p:sp>
      <p:sp>
        <p:nvSpPr>
          <p:cNvPr id="34" name="prueba2">
            <a:extLst>
              <a:ext uri="{FF2B5EF4-FFF2-40B4-BE49-F238E27FC236}">
                <a16:creationId xmlns:a16="http://schemas.microsoft.com/office/drawing/2014/main" id="{95C22B4A-53BF-46A1-9655-E37D458E28B3}"/>
              </a:ext>
            </a:extLst>
          </p:cNvPr>
          <p:cNvSpPr>
            <a:spLocks noGrp="1"/>
          </p:cNvSpPr>
          <p:nvPr/>
        </p:nvSpPr>
        <p:spPr>
          <a:xfrm>
            <a:off x="3124200" y="3514725"/>
            <a:ext cx="41910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77" b="0">
                <a:solidFill>
                  <a:srgbClr val="182C30"/>
                </a:solidFill>
                <a:latin typeface="Arial"/>
                <a:ea typeface="Arial"/>
                <a:cs typeface="Arial"/>
              </a:defRPr>
            </a:pPr>
            <a:r>
              <a:rPr sz="1177" b="0">
                <a:solidFill>
                  <a:srgbClr val="182C30"/>
                </a:solidFill>
                <a:latin typeface="Arial"/>
                <a:ea typeface="Arial"/>
                <a:cs typeface="Arial"/>
              </a:rPr>
              <a:t>Prueba: procesar las 8 evidencias reales.</a:t>
            </a:r>
          </a:p>
          <a:p>
            <a:pPr algn="l">
              <a:defRPr sz="1177" b="0">
                <a:solidFill>
                  <a:srgbClr val="182C30"/>
                </a:solidFill>
                <a:latin typeface="Arial"/>
                <a:ea typeface="Arial"/>
                <a:cs typeface="Arial"/>
              </a:defRPr>
            </a:pPr>
            <a:r>
              <a:rPr sz="1177" b="0">
                <a:solidFill>
                  <a:srgbClr val="182C30"/>
                </a:solidFill>
                <a:latin typeface="Arial"/>
                <a:ea typeface="Arial"/>
                <a:cs typeface="Arial"/>
              </a:rPr>
              <a:t>Esperado: 21 evaluaciones; Finding solo ante FAIL.</a:t>
            </a:r>
          </a:p>
        </p:txBody>
      </p:sp>
      <p:sp>
        <p:nvSpPr>
          <p:cNvPr id="35" name="prueba2-obtenido">
            <a:extLst>
              <a:ext uri="{FF2B5EF4-FFF2-40B4-BE49-F238E27FC236}">
                <a16:creationId xmlns:a16="http://schemas.microsoft.com/office/drawing/2014/main" id="{A7D52BB2-8292-42EE-98B5-E3A90FEDC0CA}"/>
              </a:ext>
            </a:extLst>
          </p:cNvPr>
          <p:cNvSpPr>
            <a:spLocks noGrp="1"/>
          </p:cNvSpPr>
          <p:nvPr/>
        </p:nvSpPr>
        <p:spPr>
          <a:xfrm>
            <a:off x="3124200" y="4076700"/>
            <a:ext cx="4191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1">
                <a:solidFill>
                  <a:srgbClr val="182C3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C30"/>
                </a:solidFill>
                <a:latin typeface="Arial"/>
                <a:ea typeface="Arial"/>
                <a:cs typeface="Arial"/>
              </a:rPr>
              <a:t>Obtenido: 21 evaluaciones</a:t>
            </a:r>
          </a:p>
          <a:p>
            <a:pPr algn="l">
              <a:defRPr sz="1650" b="1">
                <a:solidFill>
                  <a:srgbClr val="182C3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C30"/>
                </a:solidFill>
                <a:latin typeface="Arial"/>
                <a:ea typeface="Arial"/>
                <a:cs typeface="Arial"/>
              </a:rPr>
              <a:t>3 FAIL = 3 findings</a:t>
            </a:r>
          </a:p>
        </p:txBody>
      </p:sp>
      <p:pic>
        <p:nvPicPr>
          <p:cNvPr id="86" name="Imagen 85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572375" y="3457575"/>
            <a:ext cx="4000500" cy="381000"/>
          </a:xfrm>
          <a:prstGeom prst="rect">
            <a:avLst/>
          </a:prstGeom>
        </p:spPr>
      </p:pic>
      <p:pic>
        <p:nvPicPr>
          <p:cNvPr id="87" name="Imagen 86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543800" y="3905382"/>
            <a:ext cx="4057650" cy="199761"/>
          </a:xfrm>
          <a:prstGeom prst="rect">
            <a:avLst/>
          </a:prstGeom>
        </p:spPr>
      </p:pic>
      <p:pic>
        <p:nvPicPr>
          <p:cNvPr id="88" name="Imagen 87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7543800" y="4114844"/>
            <a:ext cx="4057650" cy="337097"/>
          </a:xfrm>
          <a:prstGeom prst="rect">
            <a:avLst/>
          </a:prstGeom>
        </p:spPr>
      </p:pic>
      <p:pic>
        <p:nvPicPr>
          <p:cNvPr id="89" name="Imagen 88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7543800" y="4495881"/>
            <a:ext cx="4057650" cy="212246"/>
          </a:xfrm>
          <a:prstGeom prst="rect">
            <a:avLst/>
          </a:prstGeom>
        </p:spPr>
      </p:pic>
      <p:sp>
        <p:nvSpPr>
          <p:cNvPr id="40" name="extractos">
            <a:extLst>
              <a:ext uri="{FF2B5EF4-FFF2-40B4-BE49-F238E27FC236}">
                <a16:creationId xmlns:a16="http://schemas.microsoft.com/office/drawing/2014/main" id="{D25EA84B-1147-4ADE-8C13-70818227DAE3}"/>
              </a:ext>
            </a:extLst>
          </p:cNvPr>
          <p:cNvSpPr>
            <a:spLocks noGrp="1"/>
          </p:cNvSpPr>
          <p:nvPr/>
        </p:nvSpPr>
        <p:spPr>
          <a:xfrm>
            <a:off x="7543800" y="4724400"/>
            <a:ext cx="4057650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803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52686D"/>
                </a:solidFill>
                <a:latin typeface="Arial"/>
                <a:ea typeface="Arial"/>
                <a:cs typeface="Arial"/>
              </a:rPr>
              <a:t>Extractos independientes de las filas FAIL reales</a:t>
            </a:r>
          </a:p>
        </p:txBody>
      </p:sp>
      <p:sp>
        <p:nvSpPr>
          <p:cNvPr id="41" name="divisor2">
            <a:extLst>
              <a:ext uri="{FF2B5EF4-FFF2-40B4-BE49-F238E27FC236}">
                <a16:creationId xmlns:a16="http://schemas.microsoft.com/office/drawing/2014/main" id="{F2A2569D-FBC9-4B15-A18E-DA2AEAD4AA41}"/>
              </a:ext>
            </a:extLst>
          </p:cNvPr>
          <p:cNvSpPr>
            <a:spLocks noGrp="1"/>
          </p:cNvSpPr>
          <p:nvPr/>
        </p:nvSpPr>
        <p:spPr>
          <a:xfrm>
            <a:off x="3124200" y="4914900"/>
            <a:ext cx="8648700" cy="0"/>
          </a:xfrm>
          <a:prstGeom prst="line">
            <a:avLst/>
          </a:prstGeom>
          <a:noFill/>
          <a:ln w="9525">
            <a:solidFill>
              <a:srgbClr val="D4DFE1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2" name="prueba3-titulo">
            <a:extLst>
              <a:ext uri="{FF2B5EF4-FFF2-40B4-BE49-F238E27FC236}">
                <a16:creationId xmlns:a16="http://schemas.microsoft.com/office/drawing/2014/main" id="{91F0CB56-B2CD-4D90-9B6E-06F28832E829}"/>
              </a:ext>
            </a:extLst>
          </p:cNvPr>
          <p:cNvSpPr>
            <a:spLocks noGrp="1"/>
          </p:cNvSpPr>
          <p:nvPr/>
        </p:nvSpPr>
        <p:spPr>
          <a:xfrm>
            <a:off x="3124200" y="5038725"/>
            <a:ext cx="447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38" b="1">
                <a:solidFill>
                  <a:srgbClr val="16776B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6776B"/>
                </a:solidFill>
                <a:latin typeface="Arial"/>
                <a:ea typeface="Arial"/>
                <a:cs typeface="Arial"/>
              </a:rPr>
              <a:t>PRUEBA 3 · VALIDACIÓN REPRODUCIBLE</a:t>
            </a:r>
          </a:p>
        </p:txBody>
      </p:sp>
      <p:sp>
        <p:nvSpPr>
          <p:cNvPr id="43" name="prueba3">
            <a:extLst>
              <a:ext uri="{FF2B5EF4-FFF2-40B4-BE49-F238E27FC236}">
                <a16:creationId xmlns:a16="http://schemas.microsoft.com/office/drawing/2014/main" id="{463A108C-4BF6-4D4A-BCD7-EBF0B79B5297}"/>
              </a:ext>
            </a:extLst>
          </p:cNvPr>
          <p:cNvSpPr>
            <a:spLocks noGrp="1"/>
          </p:cNvSpPr>
          <p:nvPr/>
        </p:nvSpPr>
        <p:spPr>
          <a:xfrm>
            <a:off x="3124200" y="5362575"/>
            <a:ext cx="41910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25" b="0">
                <a:solidFill>
                  <a:srgbClr val="182C3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2C30"/>
                </a:solidFill>
                <a:latin typeface="Arial"/>
                <a:ea typeface="Arial"/>
                <a:cs typeface="Arial"/>
              </a:rPr>
              <a:t>Prueba: 3 escenarios sintéticos.</a:t>
            </a:r>
          </a:p>
          <a:p>
            <a:pPr algn="l">
              <a:defRPr sz="1125" b="0">
                <a:solidFill>
                  <a:srgbClr val="182C3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2C30"/>
                </a:solidFill>
                <a:latin typeface="Arial"/>
                <a:ea typeface="Arial"/>
                <a:cs typeface="Arial"/>
              </a:rPr>
              <a:t>Esperado: resultado declarado = obtenido.</a:t>
            </a:r>
          </a:p>
        </p:txBody>
      </p:sp>
      <p:sp>
        <p:nvSpPr>
          <p:cNvPr id="44" name="campana-metrica">
            <a:extLst>
              <a:ext uri="{FF2B5EF4-FFF2-40B4-BE49-F238E27FC236}">
                <a16:creationId xmlns:a16="http://schemas.microsoft.com/office/drawing/2014/main" id="{53D365AD-681C-4E5B-B6CF-A96334092CCF}"/>
              </a:ext>
            </a:extLst>
          </p:cNvPr>
          <p:cNvSpPr>
            <a:spLocks noGrp="1"/>
          </p:cNvSpPr>
          <p:nvPr/>
        </p:nvSpPr>
        <p:spPr>
          <a:xfrm>
            <a:off x="3124200" y="5819775"/>
            <a:ext cx="10001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>
                <a:solidFill>
                  <a:srgbClr val="16776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776B"/>
                </a:solidFill>
                <a:latin typeface="Arial"/>
                <a:ea typeface="Arial"/>
                <a:cs typeface="Arial"/>
              </a:rPr>
              <a:t>63/63</a:t>
            </a:r>
          </a:p>
        </p:txBody>
      </p:sp>
      <p:sp>
        <p:nvSpPr>
          <p:cNvPr id="45" name="campana-descripcion">
            <a:extLst>
              <a:ext uri="{FF2B5EF4-FFF2-40B4-BE49-F238E27FC236}">
                <a16:creationId xmlns:a16="http://schemas.microsoft.com/office/drawing/2014/main" id="{E5B79578-263C-4B6C-A591-CD550E4D3CD5}"/>
              </a:ext>
            </a:extLst>
          </p:cNvPr>
          <p:cNvSpPr>
            <a:spLocks noGrp="1"/>
          </p:cNvSpPr>
          <p:nvPr/>
        </p:nvSpPr>
        <p:spPr>
          <a:xfrm>
            <a:off x="3124200" y="6172200"/>
            <a:ext cx="4191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05" b="1">
                <a:solidFill>
                  <a:srgbClr val="182C30"/>
                </a:solidFill>
                <a:latin typeface="Arial"/>
                <a:ea typeface="Arial"/>
                <a:cs typeface="Arial"/>
              </a:defRPr>
            </a:pPr>
            <a:r>
              <a:rPr sz="1005" b="1">
                <a:solidFill>
                  <a:srgbClr val="182C30"/>
                </a:solidFill>
                <a:latin typeface="Arial"/>
                <a:ea typeface="Arial"/>
                <a:cs typeface="Arial"/>
              </a:rPr>
              <a:t>0 diferencias · 0 errores de contrato</a:t>
            </a:r>
          </a:p>
        </p:txBody>
      </p:sp>
      <p:pic>
        <p:nvPicPr>
          <p:cNvPr id="96" name="Imagen 95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4352925" y="5810307"/>
            <a:ext cx="3028950" cy="144666"/>
          </a:xfrm>
          <a:prstGeom prst="rect">
            <a:avLst/>
          </a:prstGeom>
        </p:spPr>
      </p:pic>
      <p:sp>
        <p:nvSpPr>
          <p:cNvPr id="47" name="software-label">
            <a:extLst>
              <a:ext uri="{FF2B5EF4-FFF2-40B4-BE49-F238E27FC236}">
                <a16:creationId xmlns:a16="http://schemas.microsoft.com/office/drawing/2014/main" id="{3BA4308B-38A9-4E77-A1AF-5464D05CDFB7}"/>
              </a:ext>
            </a:extLst>
          </p:cNvPr>
          <p:cNvSpPr>
            <a:spLocks noGrp="1"/>
          </p:cNvSpPr>
          <p:nvPr/>
        </p:nvSpPr>
        <p:spPr>
          <a:xfrm>
            <a:off x="4352925" y="6010275"/>
            <a:ext cx="3028950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803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52686D"/>
                </a:solidFill>
                <a:latin typeface="Arial"/>
                <a:ea typeface="Arial"/>
                <a:cs typeface="Arial"/>
              </a:rPr>
              <a:t>Software · warning externo Starlette/AnyIO</a:t>
            </a:r>
          </a:p>
        </p:txBody>
      </p:sp>
      <p:pic>
        <p:nvPicPr>
          <p:cNvPr id="98" name="Imagen 97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7543800" y="5067300"/>
            <a:ext cx="4067175" cy="1181100"/>
          </a:xfrm>
          <a:prstGeom prst="rect">
            <a:avLst/>
          </a:prstGeom>
        </p:spPr>
      </p:pic>
      <p:pic>
        <p:nvPicPr>
          <p:cNvPr id="99" name="Imagen 98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7549795" y="6257925"/>
            <a:ext cx="4055185" cy="158115"/>
          </a:xfrm>
          <a:prstGeom prst="rect">
            <a:avLst/>
          </a:prstGeom>
        </p:spPr>
      </p:pic>
      <p:sp>
        <p:nvSpPr>
          <p:cNvPr id="50" name="limite-cierre">
            <a:extLst>
              <a:ext uri="{FF2B5EF4-FFF2-40B4-BE49-F238E27FC236}">
                <a16:creationId xmlns:a16="http://schemas.microsoft.com/office/drawing/2014/main" id="{38501C60-D951-46FA-A27C-6B92CB3D0E2D}"/>
              </a:ext>
            </a:extLst>
          </p:cNvPr>
          <p:cNvSpPr>
            <a:spLocks noGrp="1"/>
          </p:cNvSpPr>
          <p:nvPr/>
        </p:nvSpPr>
        <p:spPr>
          <a:xfrm>
            <a:off x="419100" y="6391275"/>
            <a:ext cx="11287125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953" b="1">
                <a:solidFill>
                  <a:srgbClr val="173F3B"/>
                </a:solidFill>
                <a:latin typeface="Arial"/>
                <a:ea typeface="Arial"/>
                <a:cs typeface="Arial"/>
              </a:defRPr>
            </a:pPr>
            <a:r>
              <a:rPr sz="953" b="1">
                <a:solidFill>
                  <a:srgbClr val="173F3B"/>
                </a:solidFill>
                <a:latin typeface="Arial"/>
                <a:ea typeface="Arial"/>
                <a:cs typeface="Arial"/>
              </a:rPr>
              <a:t>Falta: interfaz/asistente conversacional con IA explicativa, validación final y cierre documental.</a:t>
            </a:r>
          </a:p>
        </p:txBody>
      </p:sp>
    </p:spTree>
    <p:extLst>
      <p:ext uri="{BB962C8B-B14F-4D97-AF65-F5344CB8AC3E}">
        <p14:creationId xmlns:p14="http://schemas.microsoft.com/office/powerpoint/2010/main" val="109602178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2223</Words>
  <Application>Microsoft Office PowerPoint</Application>
  <DocSecurity>0</DocSecurity>
  <PresentationFormat>Panorámica</PresentationFormat>
  <Paragraphs>236</Paragraphs>
  <Slides>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6" baseType="lpstr">
      <vt:lpstr>Arial</vt:lpstr>
      <vt:lpstr>Calibri</vt:lpstr>
      <vt:lpstr>NetAudit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AXL JESUS URRUTIA MALDONADO</cp:lastModifiedBy>
  <cp:revision>3</cp:revision>
  <dcterms:created xsi:type="dcterms:W3CDTF">2026-10-02T02:09:42Z</dcterms:created>
  <dcterms:modified xsi:type="dcterms:W3CDTF">2026-10-06T22:21:39Z</dcterms:modified>
</cp:coreProperties>
</file>