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5ebf1031294217" /><Relationship Type="http://schemas.openxmlformats.org/officeDocument/2006/relationships/extended-properties" Target="/docProps/app.xml" Id="R3029630a9bfd4e5d" /><Relationship Type="http://schemas.openxmlformats.org/officeDocument/2006/relationships/officeDocument" Target="/ppt/presentation.xml" Id="Rf87da8dedbbc4ae8" /></Relationships>
</file>

<file path=ppt/presentation.xml><?xml version="1.0" encoding="utf-8"?>
<p:presentation xmlns:p="http://schemas.openxmlformats.org/presentationml/2006/main">
  <p:sldMasterIdLst>
    <p:sldMasterId xmlns:r="http://schemas.openxmlformats.org/officeDocument/2006/relationships" id="2147483648" r:id="R2bf6102886224af5"/>
  </p:sldMasterIdLst>
  <p:notesMasterIdLst>
    <p:notesMasterId xmlns:r="http://schemas.openxmlformats.org/officeDocument/2006/relationships" r:id="Rc9387cf12edf4ff4"/>
  </p:notesMasterIdLst>
  <p:sldIdLst>
    <p:sldId xmlns:r="http://schemas.openxmlformats.org/officeDocument/2006/relationships" id="256" r:id="R486f20a6019c4852"/>
    <p:sldId xmlns:r="http://schemas.openxmlformats.org/officeDocument/2006/relationships" id="257" r:id="R6909ef25ab2c4888"/>
    <p:sldId xmlns:r="http://schemas.openxmlformats.org/officeDocument/2006/relationships" id="258" r:id="R0540389e1ddf48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2978f60eb74757" /><Relationship Type="http://schemas.openxmlformats.org/officeDocument/2006/relationships/slideMaster" Target="/ppt/slideMasters/slideMaster1.xml" Id="R2bf6102886224af5" /><Relationship Type="http://schemas.openxmlformats.org/officeDocument/2006/relationships/notesMaster" Target="/ppt/notesMasters/notesMaster1.xml" Id="Rc9387cf12edf4ff4" /><Relationship Type="http://schemas.openxmlformats.org/officeDocument/2006/relationships/presProps" Target="/ppt/presProps.xml" Id="R85f429b46e7648f3" /><Relationship Type="http://schemas.openxmlformats.org/officeDocument/2006/relationships/tableStyles" Target="/ppt/tableStyles.xml" Id="R6ef9963d0e7742e4" /><Relationship Type="http://schemas.openxmlformats.org/officeDocument/2006/relationships/slide" Target="/ppt/slides/slide1.xml" Id="R486f20a6019c4852" /><Relationship Type="http://schemas.openxmlformats.org/officeDocument/2006/relationships/slide" Target="/ppt/slides/slide2.xml" Id="R6909ef25ab2c4888" /><Relationship Type="http://schemas.openxmlformats.org/officeDocument/2006/relationships/slide" Target="/ppt/slides/slide3.xml" Id="R0540389e1ddf48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9e3016481347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5d00727cb241b0" /><Relationship Type="http://schemas.openxmlformats.org/officeDocument/2006/relationships/notesMaster" Target="/ppt/notesMasters/notesMaster1.xml" Id="R1499c148842442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bf0ef2d53e49ee" /><Relationship Type="http://schemas.openxmlformats.org/officeDocument/2006/relationships/notesMaster" Target="/ppt/notesMasters/notesMaster1.xml" Id="R7ae4c985e3e044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0192f1983d49d6" /><Relationship Type="http://schemas.openxmlformats.org/officeDocument/2006/relationships/notesMaster" Target="/ppt/notesMasters/notesMaster1.xml" Id="R6518eaccb53f40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aproximada: 55 segundos.</a:t>
            </a:r>
          </a:p>
          <a:p xmlns:a="http://schemas.openxmlformats.org/drawingml/2006/main">
            <a:r>
              <a:t>El avance de esta evaluación se concentra en validación de redes. Las primeras cinco actividades están completas para el alcance actual, no para el proyecto completo. El catálogo alcanza 21 controles, dentro del rango objetivo del MVP, con cobertura acotada de sintaxis y escenarios Cisco IOS/IOS XE.</a:t>
            </a:r>
          </a:p>
          <a:p xmlns:a="http://schemas.openxmlformats.org/drawingml/2006/main">
            <a:r>
              <a:t>Pruebas y validación: 65% es una estimación conservadora del equipo para la actividad completa. Reconoce una suite de 703 pruebas de software, tres escenarios con 63 comparaciones y una validación manual real de laboratorio. No es una medición automática ni el promedio de estas métricas. Falta validación final del prototipo integrado, interfaz/reportes, revisión académica de criterios y cierre.</a:t>
            </a:r>
          </a:p>
          <a:p xmlns:a="http://schemas.openxmlformats.org/drawingml/2006/main">
            <a:r>
              <a:t>El equipo confirma que está en S8, en transición a S9. Interfaz y reportes registra 0% y está planificada para S10–S13: aún no corresponde iniciarla según la Gantt y no está atrasada. Estabilizar motor y laboratorio e iniciar esa capa en la siguiente etapa es continuidad de la planificación, no recuperación de un retraso. La API actual y las pruebas ya ejecutadas aportan trabajo anticipado respecto a sus ventanas previstas.</a:t>
            </a:r>
          </a:p>
          <a:p xmlns:a="http://schemas.openxmlformats.org/drawingml/2006/main">
            <a:r>
              <a:t>La vista reducida reproduce exactamente los ocho tramos de la Carta Gantt original de Fase 1, página 6. No reprograma actividades. Las fechas comprometidas se expresan en semanas originales, pues el documento no calendariza S1.</a:t>
            </a:r>
          </a:p>
          <a:p xmlns:a="http://schemas.openxmlformats.org/drawingml/2006/main">
            <a:r>
              <a:t>Referencia académica proporcionada por el equipo: S8 en transición a S9. El marcador junto a 6 OCT representa aproximadamente esa transición. No asigna fechas calendario a cada semana ni supone una fecha de inicio de S1.</a:t>
            </a:r>
          </a:p>
          <a:p xmlns:a="http://schemas.openxmlformats.org/drawingml/2006/main">
            <a:r>
              <a:t>Fuentes: Entregables-APT/Fase-1/Grupales/Grupo-1_Definicion_Proyecto_APT_Fase-1.pdf, páginas 5–6; README y docs/arquitectura.md del proyecto; estado y porcentajes solicitados por el equipo. Conectividad y Redes es el foco profesional. Ciberseguridad, automatización/programación e IA son complementarias.</a:t>
            </a:r>
          </a:p>
          <a:p xmlns:a="http://schemas.openxmlformats.org/drawingml/2006/main">
            <a:r>
              <a:t>La Evaluación 2 amplía la evidencia de validación del prototipo; no implica el cierre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aproximada: 55–60 segundos.</a:t>
            </a:r>
          </a:p>
          <a:p xmlns:a="http://schemas.openxmlformats.org/drawingml/2006/main">
            <a:r>
              <a:t>Los criterios de aceptación separan adquisición, decisión determinista y validación. La recolección debe completar una única sesión, ocho consultas autorizadas, ocho evidencias y desconexión, sin comandos de configuración. El motor conserva los cinco estados y solo FAIL produce Finding.</a:t>
            </a:r>
          </a:p>
          <a:p xmlns:a="http://schemas.openxmlformats.org/drawingml/2006/main">
            <a:r>
              <a:t>Las fechas S5–S7, S6–S10 y S11–S15 son los tramos originales de las tareas asociadas, no nuevos hitos calendario ni promesas adicionales.</a:t>
            </a:r>
          </a:p>
          <a:p xmlns:a="http://schemas.openxmlformats.org/drawingml/2006/main">
            <a:r>
              <a:t>El avance pasó de cuatro a ocho comandos para obtener evidencia operacional de interfaces, ACL, NTP y OSPF. El catálogo pasó de ocho a 21 controles. IA no implementada y fuera de EV2: la siguiente etapa/Evaluación 3 prevé explicación y resumen de findings ya validados. PostgreSQL/persistencia sigue fuera de este trabajo y no implementado.</a:t>
            </a:r>
          </a:p>
          <a:p xmlns:a="http://schemas.openxmlformats.org/drawingml/2006/main">
            <a:r>
              <a:t>El primer intento de validación manual falló antes de autenticarse con el error reportado: Incompatible ssh peer (no acceptable kex algorithm). La imagen CSR1000v IOS XE 16.9.5 solo ofrecía diffie-hellman-group-exchange-sha1 y diffie-hellman-group14-sha1. Paramiko 5.0.0 no negoció esos KEX. La corrección limitó el entorno Python a paramiko&gt;=4,&lt;5, con Paramiko 4.0.0 validado. No se cambió la configuración del router por parte de NetAudit.</a:t>
            </a:r>
          </a:p>
          <a:p xmlns:a="http://schemas.openxmlformats.org/drawingml/2006/main">
            <a:r>
              <a:t>Esto es exclusivamente interoperabilidad con el laboratorio heredado, no recomendación de Paramiko 4 ni SHA-1 para producción. No se certifican todas las versiones 4.x ni toda plataforma IOS.</a:t>
            </a:r>
          </a:p>
          <a:p xmlns:a="http://schemas.openxmlformats.org/drawingml/2006/main">
            <a:r>
              <a:t>La validación posterior produjo una sesión, una desconexión, ocho consultas y evidencias, 21 evaluaciones y tres findings. Es independiente de los 703 tests offline y de las 63 comparaciones sintéticas.</a:t>
            </a:r>
          </a:p>
          <a:p xmlns:a="http://schemas.openxmlformats.org/drawingml/2006/main">
            <a:r>
              <a:t>Fuentes: Carta Gantt Fase 1 páginas 5–6; docs/registro-controles-adicionales-evaluacion-2.md, apartados de compatibilidad y resultados; Capturas.docx página 1, solo línea KEX, y página 2, conteos reales. El texto del error procede del diagnóstico reportado por el equipo, no de una captura fabricada. No usar página 3 completa: expone datos del laboratorio y modo de configuración.</a:t>
            </a:r>
          </a:p>
          <a:p xmlns:a="http://schemas.openxmlformats.org/drawingml/2006/main">
            <a:r>
              <a:t>Lista canónica exacta: show running-config; show version; show ip interface brief; show ip ssh; show interfaces; show access-lists; show ntp associations; show ip ospf neighbor.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aproximada del slide y demo: 100–120 segundos.</a:t>
            </a:r>
          </a:p>
          <a:p xmlns:a="http://schemas.openxmlformats.org/drawingml/2006/main">
            <a:r>
              <a:t>Nuestro foco es conectividad y redes. Netmiko obtiene evidencia por SSH de solo lectura. Cada CommandEvidence conserva el comando, fecha UTC y hash SHA-256 para integridad, no para cifrado. CiscoConfParse estructura running-config y TextFSM las salidas show. Los contextos son inmutables. El motor decide PASS, FAIL, NOT_APPLICABLE, NOT_EVALUATED o ERROR. Solo FAIL produce Finding; la IA todavía no participa.</a:t>
            </a:r>
          </a:p>
          <a:p xmlns:a="http://schemas.openxmlformats.org/drawingml/2006/main">
            <a:r>
              <a:t>Prueba 1: el análisis real de CSR1000v completó una sesión y desconexión, ocho comandos autorizados y ocho evidencias. Prueba 2: el motor produjo 21 evaluaciones y tres findings: IOS-NTP-001 y IOS-LOG-001 MEDIUM, IOS-AUTH-003 HIGH. Los recortes son extractos independientes de las filas reales FAIL, no una tabla completa. NOT_EVALUATED significa evidencia insuficiente, no necesariamente un error.</a:t>
            </a:r>
          </a:p>
          <a:p xmlns:a="http://schemas.openxmlformats.org/drawingml/2006/main">
            <a:r>
              <a:t>Prueba 3: tres escenarios sintéticos aportan 63 de 63 comparaciones, sin diferencias ni errores de contrato. Totales 32 PASS, 17 FAIL y 14 NOT_EVALUATED. Los 703 tests son pruebas automatizadas de software; no 703 pruebas ejecutadas contra el router. Se conserva el warning externo Starlette/AnyIO. CSR1000v es una validación manual real independiente.</a:t>
            </a:r>
          </a:p>
          <a:p xmlns:a="http://schemas.openxmlformats.org/drawingml/2006/main">
            <a:r>
              <a:t>Demo de Axl: preparar antes de proyectar VirtualBox con la CSR1000v encendida, VS Code y terminal. No ingresar credenciales durante la exposición. La ejecución del wrapper requiere entradas ocultas, así que se realiza antes de la exposición y se muestra el bloque sanitizado ya obtenido, identificándolo honestamente como resultado de la ejecución previa. No presentar el resultado conservado como una nueva sesión en vivo.</a:t>
            </a:r>
          </a:p>
          <a:p xmlns:a="http://schemas.openxmlformats.org/drawingml/2006/main">
            <a:r>
              <a:t>En VS Code mostrar únicamente scripts/evaluacion_2/run_csr1000v_validation.py: request_connection() (entradas ocultas), main() con collect_and_analyze_device(), y render_result() (solo conteos, ID, estado y severidad). No recorrer configuración real, terminales con historial o variables privadas.</a:t>
            </a:r>
          </a:p>
          <a:p xmlns:a="http://schemas.openxmlformats.org/drawingml/2006/main">
            <a:r>
              <a:t>Comando de preparación autorizado para ejecución MANUAL del responsable antes de proyectar: .\.venv\Scripts\python.exe scripts\evaluacion_2\run_csr1000v_validation.py. Un intento, sin reintento automático. Si falla, mostrar el error sanitizado y usar la evidencia anterior identificada como tal, sin inventar éxito.</a:t>
            </a:r>
          </a:p>
          <a:p xmlns:a="http://schemas.openxmlformats.org/drawingml/2006/main">
            <a:r>
              <a:t>show version / show ip ssh solo opcionales si se asegura un recorte seguro y no se proyectan hostname, seriales, direcciones ni claves. Preferir el recorte de versión ya sanitizado.</a:t>
            </a:r>
          </a:p>
          <a:p xmlns:a="http://schemas.openxmlformats.org/drawingml/2006/main">
            <a:r>
              <a:t>Durante la exposición sí puede ejecutarse offline: .\.venv\Scripts\python.exe scripts\evaluacion_2\run_validation_scenarios.py --summary-only. Si hay tiempo, .\.venv\Scripts\python.exe -m pytest -q, con $env:PYTHONUTF8='1'. No ocultar warnings ni reutilizar automáticamente una cifra si la nueva ejecución cambia.</a:t>
            </a:r>
          </a:p>
          <a:p xmlns:a="http://schemas.openxmlformats.org/drawingml/2006/main">
            <a:r>
              <a:t>Cierre: falta interfaz/asistente conversacional con IA explicativa, validación final y cierre documental. IA y PostgreSQL no implementados. El prototipo no cubre todo Cisco IOS ni modifica dispositivos.</a:t>
            </a:r>
          </a:p>
          <a:p xmlns:a="http://schemas.openxmlformats.org/drawingml/2006/main">
            <a:r>
              <a:t>Fuentes visuales: Capturas.docx páginas 1, 2 y 4. Página 1, líneas de versión IOS sin prompt/seriales; página 2, resumen de adquisición, totales y filas FAIL; página 4, resultado pytest y resumen completo de campaña. No se reescribió ningún píxel de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d96caeb73c43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4cb5ddf732479c" /><Relationship Type="http://schemas.openxmlformats.org/officeDocument/2006/relationships/slideLayout" Target="/ppt/slideLayouts/slideLayout1.xml" Id="Rb34ae5ae002041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4ae5ae002041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cc28f88a924fa7" /><Relationship Type="http://schemas.openxmlformats.org/officeDocument/2006/relationships/notesSlide" Target="/ppt/notesSlides/notesSlide1.xml" Id="R134a8c1baadb4e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39574813b4494c" /><Relationship Type="http://schemas.openxmlformats.org/officeDocument/2006/relationships/image" Target="/ppt/media/image.png" Id="Rdf2df8b4b193444d" /><Relationship Type="http://schemas.openxmlformats.org/officeDocument/2006/relationships/notesSlide" Target="/ppt/notesSlides/notesSlide2.xml" Id="R9256d6184c6048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03443a2940423f" /><Relationship Type="http://schemas.openxmlformats.org/officeDocument/2006/relationships/image" Target="/ppt/media/image2.png" Id="R680a44a8e5574a05" /><Relationship Type="http://schemas.openxmlformats.org/officeDocument/2006/relationships/image" Target="/ppt/media/image3.png" Id="R73ef0a4d20414d35" /><Relationship Type="http://schemas.openxmlformats.org/officeDocument/2006/relationships/image" Target="/ppt/media/image4.png" Id="R11c7b674eb9b44d0" /><Relationship Type="http://schemas.openxmlformats.org/officeDocument/2006/relationships/image" Target="/ppt/media/image5.png" Id="Rc5c7a341529f4de7" /><Relationship Type="http://schemas.openxmlformats.org/officeDocument/2006/relationships/image" Target="/ppt/media/image6.png" Id="R4255e7621e444d28" /><Relationship Type="http://schemas.openxmlformats.org/officeDocument/2006/relationships/image" Target="/ppt/media/image7.png" Id="Read7098fd728468d" /><Relationship Type="http://schemas.openxmlformats.org/officeDocument/2006/relationships/image" Target="/ppt/media/image8.png" Id="R9a7a39fccd444fd1" /><Relationship Type="http://schemas.openxmlformats.org/officeDocument/2006/relationships/image" Target="/ppt/media/image9.png" Id="R95a5961830734a83" /><Relationship Type="http://schemas.openxmlformats.org/officeDocument/2006/relationships/image" Target="/ppt/media/image10.png" Id="R7a257498638d4103" /><Relationship Type="http://schemas.openxmlformats.org/officeDocument/2006/relationships/notesSlide" Target="/ppt/notesSlides/notesSlide3.xml" Id="R4c341251fc2b423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cion">
            <a:extLst xmlns:a="http://schemas.openxmlformats.org/drawingml/2006/main">
              <a:ext uri="{FF2B5EF4-FFF2-40B4-BE49-F238E27FC236}">
                <a16:creationId xmlns:a16="http://schemas.microsoft.com/office/drawing/2014/main" id="{7F17F7B4-659B-4A47-86A5-D79E0DA172D8}"/>
              </a:ext>
            </a:extLst>
          </p:cNvPr>
          <p:cNvSpPr>
            <a:spLocks xmlns:a="http://schemas.openxmlformats.org/drawingml/2006/main" noGrp="1"/>
          </p:cNvSpPr>
          <p:nvPr/>
        </p:nvSpPr>
        <p:spPr>
          <a:xfrm xmlns:a="http://schemas.openxmlformats.org/drawingml/2006/main">
            <a:off x="419100" y="228600"/>
            <a:ext cx="847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16776B"/>
                </a:solidFill>
                <a:latin typeface="Arial"/>
                <a:ea typeface="Arial"/>
                <a:cs typeface="Arial"/>
              </a:defRPr>
            </a:pPr>
            <a:r>
              <a:rPr sz="1050" b="1">
                <a:solidFill>
                  <a:srgbClr val="16776B"/>
                </a:solidFill>
                <a:latin typeface="Arial"/>
                <a:ea typeface="Arial"/>
                <a:cs typeface="Arial"/>
              </a:rPr>
              <a:t>01 · AVANCE TÉCNICO</a:t>
            </a:r>
          </a:p>
        </p:txBody>
      </p:sp>
      <p:sp>
        <p:nvSpPr>
          <p:cNvPr id="2" name="titulo">
            <a:extLst xmlns:a="http://schemas.openxmlformats.org/drawingml/2006/main">
              <a:ext uri="{FF2B5EF4-FFF2-40B4-BE49-F238E27FC236}">
                <a16:creationId xmlns:a16="http://schemas.microsoft.com/office/drawing/2014/main" id="{CD71BEE1-08F6-4D49-A1E0-70A9A405E4A8}"/>
              </a:ext>
            </a:extLst>
          </p:cNvPr>
          <p:cNvSpPr>
            <a:spLocks xmlns:a="http://schemas.openxmlformats.org/drawingml/2006/main" noGrp="1"/>
          </p:cNvSpPr>
          <p:nvPr/>
        </p:nvSpPr>
        <p:spPr>
          <a:xfrm xmlns:a="http://schemas.openxmlformats.org/drawingml/2006/main">
            <a:off x="419100" y="523875"/>
            <a:ext cx="11353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82C30"/>
                </a:solidFill>
                <a:latin typeface="Arial"/>
                <a:ea typeface="Arial"/>
                <a:cs typeface="Arial"/>
              </a:defRPr>
            </a:pPr>
            <a:r>
              <a:rPr sz="2550" b="1">
                <a:solidFill>
                  <a:srgbClr val="182C30"/>
                </a:solidFill>
                <a:latin typeface="Arial"/>
                <a:ea typeface="Arial"/>
                <a:cs typeface="Arial"/>
              </a:rPr>
              <a:t>Tareas técnicas y estado de avance</a:t>
            </a:r>
          </a:p>
        </p:txBody>
      </p:sp>
      <p:sp>
        <p:nvSpPr>
          <p:cNvPr id="3" name="identidad">
            <a:extLst xmlns:a="http://schemas.openxmlformats.org/drawingml/2006/main">
              <a:ext uri="{FF2B5EF4-FFF2-40B4-BE49-F238E27FC236}">
                <a16:creationId xmlns:a16="http://schemas.microsoft.com/office/drawing/2014/main" id="{FD726EF4-6B21-4B62-BB29-10589043FF6E}"/>
              </a:ext>
            </a:extLst>
          </p:cNvPr>
          <p:cNvSpPr>
            <a:spLocks xmlns:a="http://schemas.openxmlformats.org/drawingml/2006/main" noGrp="1"/>
          </p:cNvSpPr>
          <p:nvPr/>
        </p:nvSpPr>
        <p:spPr>
          <a:xfrm xmlns:a="http://schemas.openxmlformats.org/drawingml/2006/main">
            <a:off x="9191625" y="228600"/>
            <a:ext cx="2581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75" b="0">
                <a:solidFill>
                  <a:srgbClr val="52686D"/>
                </a:solidFill>
                <a:latin typeface="Arial"/>
                <a:ea typeface="Arial"/>
                <a:cs typeface="Arial"/>
              </a:defRPr>
            </a:pPr>
            <a:r>
              <a:rPr sz="975" b="0">
                <a:solidFill>
                  <a:srgbClr val="52686D"/>
                </a:solidFill>
                <a:latin typeface="Arial"/>
                <a:ea typeface="Arial"/>
                <a:cs typeface="Arial"/>
              </a:rPr>
              <a:t>NetAudit · Evaluación 2 APT</a:t>
            </a:r>
          </a:p>
        </p:txBody>
      </p:sp>
      <p:sp>
        <p:nvSpPr>
          <p:cNvPr id="4" name="pie">
            <a:extLst xmlns:a="http://schemas.openxmlformats.org/drawingml/2006/main">
              <a:ext uri="{FF2B5EF4-FFF2-40B4-BE49-F238E27FC236}">
                <a16:creationId xmlns:a16="http://schemas.microsoft.com/office/drawing/2014/main" id="{098315DE-8B53-4E88-99E3-25A8D19A755D}"/>
              </a:ext>
            </a:extLst>
          </p:cNvPr>
          <p:cNvSpPr>
            <a:spLocks xmlns:a="http://schemas.openxmlformats.org/drawingml/2006/main" noGrp="1"/>
          </p:cNvSpPr>
          <p:nvPr/>
        </p:nvSpPr>
        <p:spPr>
          <a:xfrm xmlns:a="http://schemas.openxmlformats.org/drawingml/2006/main">
            <a:off x="419100" y="6572250"/>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0">
                <a:solidFill>
                  <a:srgbClr val="52686D"/>
                </a:solidFill>
                <a:latin typeface="Arial"/>
                <a:ea typeface="Arial"/>
                <a:cs typeface="Arial"/>
              </a:defRPr>
            </a:pPr>
            <a:r>
              <a:rPr sz="825" b="0">
                <a:solidFill>
                  <a:srgbClr val="52686D"/>
                </a:solidFill>
                <a:latin typeface="Arial"/>
                <a:ea typeface="Arial"/>
                <a:cs typeface="Arial"/>
              </a:rPr>
              <a:t>Ingeniería en Conectividad y Redes · Martes 6 de octubre de 2026</a:t>
            </a:r>
          </a:p>
        </p:txBody>
      </p:sp>
      <p:sp>
        <p:nvSpPr>
          <p:cNvPr id="5" name="numero">
            <a:extLst xmlns:a="http://schemas.openxmlformats.org/drawingml/2006/main">
              <a:ext uri="{FF2B5EF4-FFF2-40B4-BE49-F238E27FC236}">
                <a16:creationId xmlns:a16="http://schemas.microsoft.com/office/drawing/2014/main" id="{FB88F3DA-E630-4F74-8F29-D71AC2FAFC69}"/>
              </a:ext>
            </a:extLst>
          </p:cNvPr>
          <p:cNvSpPr>
            <a:spLocks xmlns:a="http://schemas.openxmlformats.org/drawingml/2006/main" noGrp="1"/>
          </p:cNvSpPr>
          <p:nvPr/>
        </p:nvSpPr>
        <p:spPr>
          <a:xfrm xmlns:a="http://schemas.openxmlformats.org/drawingml/2006/main">
            <a:off x="11334750" y="65627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1">
                <a:solidFill>
                  <a:srgbClr val="16776B"/>
                </a:solidFill>
                <a:latin typeface="Arial"/>
                <a:ea typeface="Arial"/>
                <a:cs typeface="Arial"/>
              </a:defRPr>
            </a:pPr>
            <a:r>
              <a:rPr sz="900" b="1">
                <a:solidFill>
                  <a:srgbClr val="16776B"/>
                </a:solidFill>
                <a:latin typeface="Arial"/>
                <a:ea typeface="Arial"/>
                <a:cs typeface="Arial"/>
              </a:rPr>
              <a:t>01</a:t>
            </a:r>
          </a:p>
        </p:txBody>
      </p:sp>
      <p:graphicFrame>
        <p:nvGraphicFramePr>
          <p:cNvPr id="22" name=""/>
          <p:cNvGraphicFramePr/>
          <p:nvPr/>
        </p:nvGraphicFramePr>
        <p:xfrm>
          <a:off xmlns:a="http://schemas.openxmlformats.org/drawingml/2006/main" x="419100" y="1057275"/>
          <a:ext xmlns:a="http://schemas.openxmlformats.org/drawingml/2006/main" cx="11353800" cy="2943225"/>
        </p:xfrm>
        <a:graphic xmlns:a="http://schemas.openxmlformats.org/drawingml/2006/main">
          <a:graphicData uri="http://schemas.openxmlformats.org/drawingml/2006/table">
            <a:tbl>
              <a:tblPr firstRow="0" bandRow="0"/>
              <a:tblGrid>
                <a:gridCol w="2038350"/>
                <a:gridCol w="1143000"/>
                <a:gridCol w="1181100"/>
                <a:gridCol w="1123950"/>
                <a:gridCol w="2047875"/>
                <a:gridCol w="3819525"/>
              </a:tblGrid>
              <a:tr h="276225">
                <a:tc>
                  <a:txBody>
                    <a:bodyPr>
                      <a:noAutofit/>
                    </a:bodyPr>
                    <a:lstStyle/>
                    <a:p>
                      <a:pPr algn="l">
                        <a:defRPr sz="1005">
                          <a:latin typeface="Arial"/>
                        </a:defRPr>
                      </a:pPr>
                      <a:r>
                        <a:rPr sz="1005" b="1">
                          <a:solidFill>
                            <a:srgbClr val="FFFFFF"/>
                          </a:solidFill>
                          <a:latin typeface="Arial"/>
                          <a:ea typeface="Arial"/>
                          <a:cs typeface="Arial"/>
                        </a:rPr>
                        <a:t>Tarea técnica</a:t>
                      </a:r>
                      <a:endParaRPr sz="1005">
                        <a:latin typeface="Arial"/>
                      </a:endParaRPr>
                    </a:p>
                  </a:txBody>
                  <a:tcPr marL="66675" marR="66675" marT="28575" marB="28575" anchor="ctr">
                    <a:solidFill>
                      <a:srgbClr val="173F3B"/>
                    </a:solidFill>
                  </a:tcPr>
                </a:tc>
                <a:tc>
                  <a:txBody>
                    <a:bodyPr>
                      <a:noAutofit/>
                    </a:bodyPr>
                    <a:lstStyle/>
                    <a:p>
                      <a:pPr algn="l">
                        <a:defRPr sz="1005">
                          <a:latin typeface="Arial"/>
                        </a:defRPr>
                      </a:pPr>
                      <a:r>
                        <a:rPr sz="1005" b="1">
                          <a:solidFill>
                            <a:srgbClr val="FFFFFF"/>
                          </a:solidFill>
                          <a:latin typeface="Arial"/>
                          <a:ea typeface="Arial"/>
                          <a:cs typeface="Arial"/>
                        </a:rPr>
                        <a:t>Responsable</a:t>
                      </a:r>
                      <a:endParaRPr sz="1005">
                        <a:latin typeface="Arial"/>
                      </a:endParaRPr>
                    </a:p>
                  </a:txBody>
                  <a:tcPr marL="66675" marR="66675" marT="28575" marB="28575" anchor="ctr">
                    <a:solidFill>
                      <a:srgbClr val="173F3B"/>
                    </a:solidFill>
                  </a:tcPr>
                </a:tc>
                <a:tc>
                  <a:txBody>
                    <a:bodyPr>
                      <a:noAutofit/>
                    </a:bodyPr>
                    <a:lstStyle/>
                    <a:p>
                      <a:pPr algn="l">
                        <a:defRPr sz="1005">
                          <a:latin typeface="Arial"/>
                        </a:defRPr>
                      </a:pPr>
                      <a:r>
                        <a:rPr sz="1005" b="1">
                          <a:solidFill>
                            <a:srgbClr val="FFFFFF"/>
                          </a:solidFill>
                          <a:latin typeface="Arial"/>
                          <a:ea typeface="Arial"/>
                          <a:cs typeface="Arial"/>
                        </a:rPr>
                        <a:t>Fecha planificada</a:t>
                      </a:r>
                      <a:endParaRPr sz="1005">
                        <a:latin typeface="Arial"/>
                      </a:endParaRPr>
                    </a:p>
                  </a:txBody>
                  <a:tcPr marL="66675" marR="66675" marT="28575" marB="28575" anchor="ctr">
                    <a:solidFill>
                      <a:srgbClr val="173F3B"/>
                    </a:solidFill>
                  </a:tcPr>
                </a:tc>
                <a:tc>
                  <a:txBody>
                    <a:bodyPr>
                      <a:noAutofit/>
                    </a:bodyPr>
                    <a:lstStyle/>
                    <a:p>
                      <a:pPr algn="l">
                        <a:defRPr sz="1005">
                          <a:latin typeface="Arial"/>
                        </a:defRPr>
                      </a:pPr>
                      <a:r>
                        <a:rPr sz="1005" b="1">
                          <a:solidFill>
                            <a:srgbClr val="FFFFFF"/>
                          </a:solidFill>
                          <a:latin typeface="Arial"/>
                          <a:ea typeface="Arial"/>
                          <a:cs typeface="Arial"/>
                        </a:rPr>
                        <a:t>% avance</a:t>
                      </a:r>
                      <a:endParaRPr sz="1005">
                        <a:latin typeface="Arial"/>
                      </a:endParaRPr>
                    </a:p>
                  </a:txBody>
                  <a:tcPr marL="66675" marR="66675" marT="28575" marB="28575" anchor="ctr">
                    <a:solidFill>
                      <a:srgbClr val="173F3B"/>
                    </a:solidFill>
                  </a:tcPr>
                </a:tc>
                <a:tc>
                  <a:txBody>
                    <a:bodyPr>
                      <a:noAutofit/>
                    </a:bodyPr>
                    <a:lstStyle/>
                    <a:p>
                      <a:pPr algn="l">
                        <a:defRPr sz="1005">
                          <a:latin typeface="Arial"/>
                        </a:defRPr>
                      </a:pPr>
                      <a:r>
                        <a:rPr sz="1005" b="1">
                          <a:solidFill>
                            <a:srgbClr val="FFFFFF"/>
                          </a:solidFill>
                          <a:latin typeface="Arial"/>
                          <a:ea typeface="Arial"/>
                          <a:cs typeface="Arial"/>
                        </a:rPr>
                        <a:t>Estado</a:t>
                      </a:r>
                      <a:endParaRPr sz="1005">
                        <a:latin typeface="Arial"/>
                      </a:endParaRPr>
                    </a:p>
                  </a:txBody>
                  <a:tcPr marL="66675" marR="66675" marT="28575" marB="28575" anchor="ctr">
                    <a:solidFill>
                      <a:srgbClr val="173F3B"/>
                    </a:solidFill>
                  </a:tcPr>
                </a:tc>
                <a:tc>
                  <a:txBody>
                    <a:bodyPr>
                      <a:noAutofit/>
                    </a:bodyPr>
                    <a:lstStyle/>
                    <a:p>
                      <a:pPr algn="l">
                        <a:defRPr sz="1005">
                          <a:latin typeface="Arial"/>
                        </a:defRPr>
                      </a:pPr>
                      <a:r>
                        <a:rPr sz="1005" b="1">
                          <a:solidFill>
                            <a:srgbClr val="FFFFFF"/>
                          </a:solidFill>
                          <a:latin typeface="Arial"/>
                          <a:ea typeface="Arial"/>
                          <a:cs typeface="Arial"/>
                        </a:rPr>
                        <a:t>Evidencia asociada</a:t>
                      </a:r>
                      <a:endParaRPr sz="1005">
                        <a:latin typeface="Arial"/>
                      </a:endParaRPr>
                    </a:p>
                  </a:txBody>
                  <a:tcPr marL="66675" marR="66675" marT="28575" marB="28575" anchor="ctr">
                    <a:solidFill>
                      <a:srgbClr val="173F3B"/>
                    </a:solidFill>
                  </a:tcPr>
                </a:tc>
              </a:tr>
              <a:tr h="333375">
                <a:tc>
                  <a:txBody>
                    <a:bodyPr>
                      <a:noAutofit/>
                    </a:bodyPr>
                    <a:lstStyle/>
                    <a:p>
                      <a:pPr algn="l">
                        <a:defRPr sz="1005">
                          <a:latin typeface="Arial"/>
                        </a:defRPr>
                      </a:pPr>
                      <a:r>
                        <a:rPr sz="1005" b="1">
                          <a:solidFill>
                            <a:srgbClr val="182C30"/>
                          </a:solidFill>
                          <a:latin typeface="Arial"/>
                          <a:ea typeface="Arial"/>
                          <a:cs typeface="Arial"/>
                        </a:rPr>
                        <a:t>Alcance y requerimientos</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Equipo completo</a:t>
                      </a:r>
                      <a:endParaRPr sz="1005">
                        <a:latin typeface="Arial"/>
                      </a:endParaRPr>
                    </a:p>
                  </a:txBody>
                  <a:tcPr marL="66675" marR="66675" marT="28575" marB="28575" anchor="ctr">
                    <a:solidFill>
                      <a:srgbClr val="FFFFFF"/>
                    </a:solidFill>
                  </a:tcPr>
                </a:tc>
                <a:tc>
                  <a:txBody>
                    <a:bodyPr>
                      <a:noAutofit/>
                    </a:bodyPr>
                    <a:lstStyle/>
                    <a:p>
                      <a:pPr algn="ctr">
                        <a:defRPr sz="1005">
                          <a:latin typeface="Arial"/>
                        </a:defRPr>
                      </a:pPr>
                      <a:r>
                        <a:rPr sz="1005" b="0">
                          <a:solidFill>
                            <a:srgbClr val="182C30"/>
                          </a:solidFill>
                          <a:latin typeface="Arial"/>
                          <a:ea typeface="Arial"/>
                          <a:cs typeface="Arial"/>
                        </a:rPr>
                        <a:t>S1–S2</a:t>
                      </a:r>
                      <a:endParaRPr sz="1005">
                        <a:latin typeface="Arial"/>
                      </a:endParaRPr>
                    </a:p>
                  </a:txBody>
                  <a:tcPr marL="66675" marR="66675" marT="28575" marB="28575" anchor="ctr">
                    <a:solidFill>
                      <a:srgbClr val="FFFFFF"/>
                    </a:solidFill>
                  </a:tcPr>
                </a:tc>
                <a:tc>
                  <a:txBody>
                    <a:bodyPr>
                      <a:noAutofit/>
                    </a:bodyPr>
                    <a:lstStyle/>
                    <a:p>
                      <a:pPr algn="ctr">
                        <a:defRPr sz="1005">
                          <a:latin typeface="Arial"/>
                        </a:defRPr>
                      </a:pPr>
                      <a:r>
                        <a:rPr sz="1005" b="0">
                          <a:solidFill>
                            <a:srgbClr val="182C30"/>
                          </a:solidFill>
                          <a:latin typeface="Arial"/>
                          <a:ea typeface="Arial"/>
                          <a:cs typeface="Arial"/>
                        </a:rPr>
                        <a:t>100%</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Completada</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Alcance, objetivos y restricciones de Fase 1</a:t>
                      </a:r>
                      <a:endParaRPr sz="1005">
                        <a:latin typeface="Arial"/>
                      </a:endParaRPr>
                    </a:p>
                  </a:txBody>
                  <a:tcPr marL="66675" marR="66675" marT="28575" marB="28575" anchor="ctr">
                    <a:solidFill>
                      <a:srgbClr val="FFFFFF"/>
                    </a:solidFill>
                  </a:tcPr>
                </a:tc>
              </a:tr>
              <a:tr h="333375">
                <a:tc>
                  <a:txBody>
                    <a:bodyPr>
                      <a:noAutofit/>
                    </a:bodyPr>
                    <a:lstStyle/>
                    <a:p>
                      <a:pPr algn="l">
                        <a:defRPr sz="1005">
                          <a:latin typeface="Arial"/>
                        </a:defRPr>
                      </a:pPr>
                      <a:r>
                        <a:rPr sz="1005" b="1">
                          <a:solidFill>
                            <a:srgbClr val="182C30"/>
                          </a:solidFill>
                          <a:latin typeface="Arial"/>
                          <a:ea typeface="Arial"/>
                          <a:cs typeface="Arial"/>
                        </a:rPr>
                        <a:t>Arquitectura y laboratorio</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0">
                          <a:solidFill>
                            <a:srgbClr val="182C30"/>
                          </a:solidFill>
                          <a:latin typeface="Arial"/>
                          <a:ea typeface="Arial"/>
                          <a:cs typeface="Arial"/>
                        </a:rPr>
                        <a:t>Axl / Thomas</a:t>
                      </a:r>
                      <a:endParaRPr sz="1005">
                        <a:latin typeface="Arial"/>
                      </a:endParaRPr>
                    </a:p>
                  </a:txBody>
                  <a:tcPr marL="66675" marR="66675" marT="28575" marB="28575" anchor="ctr">
                    <a:solidFill>
                      <a:srgbClr val="F0F5F5"/>
                    </a:solidFill>
                  </a:tcPr>
                </a:tc>
                <a:tc>
                  <a:txBody>
                    <a:bodyPr>
                      <a:noAutofit/>
                    </a:bodyPr>
                    <a:lstStyle/>
                    <a:p>
                      <a:pPr algn="ctr">
                        <a:defRPr sz="1005">
                          <a:latin typeface="Arial"/>
                        </a:defRPr>
                      </a:pPr>
                      <a:r>
                        <a:rPr sz="1005" b="0">
                          <a:solidFill>
                            <a:srgbClr val="182C30"/>
                          </a:solidFill>
                          <a:latin typeface="Arial"/>
                          <a:ea typeface="Arial"/>
                          <a:cs typeface="Arial"/>
                        </a:rPr>
                        <a:t>S2–S4</a:t>
                      </a:r>
                      <a:endParaRPr sz="1005">
                        <a:latin typeface="Arial"/>
                      </a:endParaRPr>
                    </a:p>
                  </a:txBody>
                  <a:tcPr marL="66675" marR="66675" marT="28575" marB="28575" anchor="ctr">
                    <a:solidFill>
                      <a:srgbClr val="F0F5F5"/>
                    </a:solidFill>
                  </a:tcPr>
                </a:tc>
                <a:tc>
                  <a:txBody>
                    <a:bodyPr>
                      <a:noAutofit/>
                    </a:bodyPr>
                    <a:lstStyle/>
                    <a:p>
                      <a:pPr algn="ctr">
                        <a:defRPr sz="1005">
                          <a:latin typeface="Arial"/>
                        </a:defRPr>
                      </a:pPr>
                      <a:r>
                        <a:rPr sz="1005" b="0">
                          <a:solidFill>
                            <a:srgbClr val="182C30"/>
                          </a:solidFill>
                          <a:latin typeface="Arial"/>
                          <a:ea typeface="Arial"/>
                          <a:cs typeface="Arial"/>
                        </a:rPr>
                        <a:t>100%</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0">
                          <a:solidFill>
                            <a:srgbClr val="182C30"/>
                          </a:solidFill>
                          <a:latin typeface="Arial"/>
                          <a:ea typeface="Arial"/>
                          <a:cs typeface="Arial"/>
                        </a:rPr>
                        <a:t>Completada</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0">
                          <a:solidFill>
                            <a:srgbClr val="182C30"/>
                          </a:solidFill>
                          <a:latin typeface="Arial"/>
                          <a:ea typeface="Arial"/>
                          <a:cs typeface="Arial"/>
                        </a:rPr>
                        <a:t>Arquitectura + CSR1000v IOS XE en VirtualBox</a:t>
                      </a:r>
                      <a:endParaRPr sz="1005">
                        <a:latin typeface="Arial"/>
                      </a:endParaRPr>
                    </a:p>
                  </a:txBody>
                  <a:tcPr marL="66675" marR="66675" marT="28575" marB="28575" anchor="ctr">
                    <a:solidFill>
                      <a:srgbClr val="F0F5F5"/>
                    </a:solidFill>
                  </a:tcPr>
                </a:tc>
              </a:tr>
              <a:tr h="333375">
                <a:tc>
                  <a:txBody>
                    <a:bodyPr>
                      <a:noAutofit/>
                    </a:bodyPr>
                    <a:lstStyle/>
                    <a:p>
                      <a:pPr algn="l">
                        <a:defRPr sz="1005">
                          <a:latin typeface="Arial"/>
                        </a:defRPr>
                      </a:pPr>
                      <a:r>
                        <a:rPr sz="1005" b="1">
                          <a:solidFill>
                            <a:srgbClr val="182C30"/>
                          </a:solidFill>
                          <a:latin typeface="Arial"/>
                          <a:ea typeface="Arial"/>
                          <a:cs typeface="Arial"/>
                        </a:rPr>
                        <a:t>Recolección y parsing</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Axl / Thomas</a:t>
                      </a:r>
                      <a:endParaRPr sz="1005">
                        <a:latin typeface="Arial"/>
                      </a:endParaRPr>
                    </a:p>
                  </a:txBody>
                  <a:tcPr marL="66675" marR="66675" marT="28575" marB="28575" anchor="ctr">
                    <a:solidFill>
                      <a:srgbClr val="FFFFFF"/>
                    </a:solidFill>
                  </a:tcPr>
                </a:tc>
                <a:tc>
                  <a:txBody>
                    <a:bodyPr>
                      <a:noAutofit/>
                    </a:bodyPr>
                    <a:lstStyle/>
                    <a:p>
                      <a:pPr algn="ctr">
                        <a:defRPr sz="1005">
                          <a:latin typeface="Arial"/>
                        </a:defRPr>
                      </a:pPr>
                      <a:r>
                        <a:rPr sz="1005" b="0">
                          <a:solidFill>
                            <a:srgbClr val="182C30"/>
                          </a:solidFill>
                          <a:latin typeface="Arial"/>
                          <a:ea typeface="Arial"/>
                          <a:cs typeface="Arial"/>
                        </a:rPr>
                        <a:t>S5–S7</a:t>
                      </a:r>
                      <a:endParaRPr sz="1005">
                        <a:latin typeface="Arial"/>
                      </a:endParaRPr>
                    </a:p>
                  </a:txBody>
                  <a:tcPr marL="66675" marR="66675" marT="28575" marB="28575" anchor="ctr">
                    <a:solidFill>
                      <a:srgbClr val="FFFFFF"/>
                    </a:solidFill>
                  </a:tcPr>
                </a:tc>
                <a:tc>
                  <a:txBody>
                    <a:bodyPr>
                      <a:noAutofit/>
                    </a:bodyPr>
                    <a:lstStyle/>
                    <a:p>
                      <a:pPr algn="ctr">
                        <a:defRPr sz="1005">
                          <a:latin typeface="Arial"/>
                        </a:defRPr>
                      </a:pPr>
                      <a:r>
                        <a:rPr sz="1005" b="0">
                          <a:solidFill>
                            <a:srgbClr val="182C30"/>
                          </a:solidFill>
                          <a:latin typeface="Arial"/>
                          <a:ea typeface="Arial"/>
                          <a:cs typeface="Arial"/>
                        </a:rPr>
                        <a:t>100%</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Completada</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8 comandos + Netmiko + CiscoConfParse + TextFSM</a:t>
                      </a:r>
                      <a:endParaRPr sz="1005">
                        <a:latin typeface="Arial"/>
                      </a:endParaRPr>
                    </a:p>
                  </a:txBody>
                  <a:tcPr marL="66675" marR="66675" marT="28575" marB="28575" anchor="ctr">
                    <a:solidFill>
                      <a:srgbClr val="FFFFFF"/>
                    </a:solidFill>
                  </a:tcPr>
                </a:tc>
              </a:tr>
              <a:tr h="333375">
                <a:tc>
                  <a:txBody>
                    <a:bodyPr>
                      <a:noAutofit/>
                    </a:bodyPr>
                    <a:lstStyle/>
                    <a:p>
                      <a:pPr algn="l">
                        <a:defRPr sz="1005">
                          <a:latin typeface="Arial"/>
                        </a:defRPr>
                      </a:pPr>
                      <a:r>
                        <a:rPr sz="1005" b="1">
                          <a:solidFill>
                            <a:srgbClr val="182C30"/>
                          </a:solidFill>
                          <a:latin typeface="Arial"/>
                          <a:ea typeface="Arial"/>
                          <a:cs typeface="Arial"/>
                        </a:rPr>
                        <a:t>Motor y catálogo de reglas</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0">
                          <a:solidFill>
                            <a:srgbClr val="182C30"/>
                          </a:solidFill>
                          <a:latin typeface="Arial"/>
                          <a:ea typeface="Arial"/>
                          <a:cs typeface="Arial"/>
                        </a:rPr>
                        <a:t>Maikol / Axl</a:t>
                      </a:r>
                      <a:endParaRPr sz="1005">
                        <a:latin typeface="Arial"/>
                      </a:endParaRPr>
                    </a:p>
                  </a:txBody>
                  <a:tcPr marL="66675" marR="66675" marT="28575" marB="28575" anchor="ctr">
                    <a:solidFill>
                      <a:srgbClr val="F0F5F5"/>
                    </a:solidFill>
                  </a:tcPr>
                </a:tc>
                <a:tc>
                  <a:txBody>
                    <a:bodyPr>
                      <a:noAutofit/>
                    </a:bodyPr>
                    <a:lstStyle/>
                    <a:p>
                      <a:pPr algn="ctr">
                        <a:defRPr sz="1005">
                          <a:latin typeface="Arial"/>
                        </a:defRPr>
                      </a:pPr>
                      <a:r>
                        <a:rPr sz="1005" b="0">
                          <a:solidFill>
                            <a:srgbClr val="182C30"/>
                          </a:solidFill>
                          <a:latin typeface="Arial"/>
                          <a:ea typeface="Arial"/>
                          <a:cs typeface="Arial"/>
                        </a:rPr>
                        <a:t>S6–S10</a:t>
                      </a:r>
                      <a:endParaRPr sz="1005">
                        <a:latin typeface="Arial"/>
                      </a:endParaRPr>
                    </a:p>
                  </a:txBody>
                  <a:tcPr marL="66675" marR="66675" marT="28575" marB="28575" anchor="ctr">
                    <a:solidFill>
                      <a:srgbClr val="F0F5F5"/>
                    </a:solidFill>
                  </a:tcPr>
                </a:tc>
                <a:tc>
                  <a:txBody>
                    <a:bodyPr>
                      <a:noAutofit/>
                    </a:bodyPr>
                    <a:lstStyle/>
                    <a:p>
                      <a:pPr algn="ctr">
                        <a:defRPr sz="1005">
                          <a:latin typeface="Arial"/>
                        </a:defRPr>
                      </a:pPr>
                      <a:r>
                        <a:rPr sz="1005" b="0">
                          <a:solidFill>
                            <a:srgbClr val="182C30"/>
                          </a:solidFill>
                          <a:latin typeface="Arial"/>
                          <a:ea typeface="Arial"/>
                          <a:cs typeface="Arial"/>
                        </a:rPr>
                        <a:t>100%</a:t>
                      </a:r>
                      <a:endParaRPr sz="1005">
                        <a:latin typeface="Arial"/>
                      </a:endParaRPr>
                    </a:p>
                    <a:p>
                      <a:pPr algn="ctr">
                        <a:defRPr sz="1005">
                          <a:latin typeface="Arial"/>
                        </a:defRPr>
                      </a:pPr>
                      <a:r>
                        <a:rPr sz="1005" b="0">
                          <a:solidFill>
                            <a:srgbClr val="182C30"/>
                          </a:solidFill>
                          <a:latin typeface="Arial"/>
                          <a:ea typeface="Arial"/>
                          <a:cs typeface="Arial"/>
                        </a:rPr>
                        <a:t>actual / MVP</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0">
                          <a:solidFill>
                            <a:srgbClr val="182C30"/>
                          </a:solidFill>
                          <a:latin typeface="Arial"/>
                          <a:ea typeface="Arial"/>
                          <a:cs typeface="Arial"/>
                        </a:rPr>
                        <a:t>Completada para EV2</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0">
                          <a:solidFill>
                            <a:srgbClr val="182C30"/>
                          </a:solidFill>
                          <a:latin typeface="Arial"/>
                          <a:ea typeface="Arial"/>
                          <a:cs typeface="Arial"/>
                        </a:rPr>
                        <a:t>21 controles deterministas (14 configuración + 7 operacionales)</a:t>
                      </a:r>
                      <a:endParaRPr sz="1005">
                        <a:latin typeface="Arial"/>
                      </a:endParaRPr>
                    </a:p>
                  </a:txBody>
                  <a:tcPr marL="66675" marR="66675" marT="28575" marB="28575" anchor="ctr">
                    <a:solidFill>
                      <a:srgbClr val="F0F5F5"/>
                    </a:solidFill>
                  </a:tcPr>
                </a:tc>
              </a:tr>
              <a:tr h="333375">
                <a:tc>
                  <a:txBody>
                    <a:bodyPr>
                      <a:noAutofit/>
                    </a:bodyPr>
                    <a:lstStyle/>
                    <a:p>
                      <a:pPr algn="l">
                        <a:defRPr sz="1005">
                          <a:latin typeface="Arial"/>
                        </a:defRPr>
                      </a:pPr>
                      <a:r>
                        <a:rPr sz="1005" b="1">
                          <a:solidFill>
                            <a:srgbClr val="182C30"/>
                          </a:solidFill>
                          <a:latin typeface="Arial"/>
                          <a:ea typeface="Arial"/>
                          <a:cs typeface="Arial"/>
                        </a:rPr>
                        <a:t>Integración API/resultados</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Axl / Emilio</a:t>
                      </a:r>
                      <a:endParaRPr sz="1005">
                        <a:latin typeface="Arial"/>
                      </a:endParaRPr>
                    </a:p>
                  </a:txBody>
                  <a:tcPr marL="66675" marR="66675" marT="28575" marB="28575" anchor="ctr">
                    <a:solidFill>
                      <a:srgbClr val="FFFFFF"/>
                    </a:solidFill>
                  </a:tcPr>
                </a:tc>
                <a:tc>
                  <a:txBody>
                    <a:bodyPr>
                      <a:noAutofit/>
                    </a:bodyPr>
                    <a:lstStyle/>
                    <a:p>
                      <a:pPr algn="ctr">
                        <a:defRPr sz="1005">
                          <a:latin typeface="Arial"/>
                        </a:defRPr>
                      </a:pPr>
                      <a:r>
                        <a:rPr sz="1005" b="0">
                          <a:solidFill>
                            <a:srgbClr val="182C30"/>
                          </a:solidFill>
                          <a:latin typeface="Arial"/>
                          <a:ea typeface="Arial"/>
                          <a:cs typeface="Arial"/>
                        </a:rPr>
                        <a:t>S9–S12</a:t>
                      </a:r>
                      <a:endParaRPr sz="1005">
                        <a:latin typeface="Arial"/>
                      </a:endParaRPr>
                    </a:p>
                  </a:txBody>
                  <a:tcPr marL="66675" marR="66675" marT="28575" marB="28575" anchor="ctr">
                    <a:solidFill>
                      <a:srgbClr val="FFFFFF"/>
                    </a:solidFill>
                  </a:tcPr>
                </a:tc>
                <a:tc>
                  <a:txBody>
                    <a:bodyPr>
                      <a:noAutofit/>
                    </a:bodyPr>
                    <a:lstStyle/>
                    <a:p>
                      <a:pPr algn="ctr">
                        <a:defRPr sz="1005">
                          <a:latin typeface="Arial"/>
                        </a:defRPr>
                      </a:pPr>
                      <a:r>
                        <a:rPr sz="1005" b="0">
                          <a:solidFill>
                            <a:srgbClr val="182C30"/>
                          </a:solidFill>
                          <a:latin typeface="Arial"/>
                          <a:ea typeface="Arial"/>
                          <a:cs typeface="Arial"/>
                        </a:rPr>
                        <a:t>100%</a:t>
                      </a:r>
                      <a:endParaRPr sz="1005">
                        <a:latin typeface="Arial"/>
                      </a:endParaRPr>
                    </a:p>
                    <a:p>
                      <a:pPr algn="ctr">
                        <a:defRPr sz="1005">
                          <a:latin typeface="Arial"/>
                        </a:defRPr>
                      </a:pPr>
                      <a:r>
                        <a:rPr sz="1005" b="0">
                          <a:solidFill>
                            <a:srgbClr val="182C30"/>
                          </a:solidFill>
                          <a:latin typeface="Arial"/>
                          <a:ea typeface="Arial"/>
                          <a:cs typeface="Arial"/>
                        </a:rPr>
                        <a:t>alcance actual</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A tiempo / completada</a:t>
                      </a:r>
                      <a:endParaRPr sz="1005">
                        <a:latin typeface="Arial"/>
                      </a:endParaRPr>
                    </a:p>
                    <a:p>
                      <a:pPr algn="l">
                        <a:defRPr sz="1005">
                          <a:latin typeface="Arial"/>
                        </a:defRPr>
                      </a:pPr>
                      <a:r>
                        <a:rPr sz="1005" b="0">
                          <a:solidFill>
                            <a:srgbClr val="182C30"/>
                          </a:solidFill>
                          <a:latin typeface="Arial"/>
                          <a:ea typeface="Arial"/>
                          <a:cs typeface="Arial"/>
                        </a:rPr>
                        <a:t>para alcance actual</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FastAPI + respuesta estructurada y sanitizada</a:t>
                      </a:r>
                      <a:endParaRPr sz="1005">
                        <a:latin typeface="Arial"/>
                      </a:endParaRPr>
                    </a:p>
                  </a:txBody>
                  <a:tcPr marL="66675" marR="66675" marT="28575" marB="28575" anchor="ctr">
                    <a:solidFill>
                      <a:srgbClr val="FFFFFF"/>
                    </a:solidFill>
                  </a:tcPr>
                </a:tc>
              </a:tr>
              <a:tr h="333375">
                <a:tc>
                  <a:txBody>
                    <a:bodyPr>
                      <a:noAutofit/>
                    </a:bodyPr>
                    <a:lstStyle/>
                    <a:p>
                      <a:pPr algn="l">
                        <a:defRPr sz="1005">
                          <a:latin typeface="Arial"/>
                        </a:defRPr>
                      </a:pPr>
                      <a:r>
                        <a:rPr sz="1005" b="1">
                          <a:solidFill>
                            <a:srgbClr val="182C30"/>
                          </a:solidFill>
                          <a:latin typeface="Arial"/>
                          <a:ea typeface="Arial"/>
                          <a:cs typeface="Arial"/>
                        </a:rPr>
                        <a:t>Interfaz y reportes</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0">
                          <a:solidFill>
                            <a:srgbClr val="182C30"/>
                          </a:solidFill>
                          <a:latin typeface="Arial"/>
                          <a:ea typeface="Arial"/>
                          <a:cs typeface="Arial"/>
                        </a:rPr>
                        <a:t>Emilio / Maikol</a:t>
                      </a:r>
                      <a:endParaRPr sz="1005">
                        <a:latin typeface="Arial"/>
                      </a:endParaRPr>
                    </a:p>
                  </a:txBody>
                  <a:tcPr marL="66675" marR="66675" marT="28575" marB="28575" anchor="ctr">
                    <a:solidFill>
                      <a:srgbClr val="F0F5F5"/>
                    </a:solidFill>
                  </a:tcPr>
                </a:tc>
                <a:tc>
                  <a:txBody>
                    <a:bodyPr>
                      <a:noAutofit/>
                    </a:bodyPr>
                    <a:lstStyle/>
                    <a:p>
                      <a:pPr algn="ctr">
                        <a:defRPr sz="1005">
                          <a:latin typeface="Arial"/>
                        </a:defRPr>
                      </a:pPr>
                      <a:r>
                        <a:rPr sz="1005" b="0">
                          <a:solidFill>
                            <a:srgbClr val="182C30"/>
                          </a:solidFill>
                          <a:latin typeface="Arial"/>
                          <a:ea typeface="Arial"/>
                          <a:cs typeface="Arial"/>
                        </a:rPr>
                        <a:t>S10–S13</a:t>
                      </a:r>
                      <a:endParaRPr sz="1005">
                        <a:latin typeface="Arial"/>
                      </a:endParaRPr>
                    </a:p>
                  </a:txBody>
                  <a:tcPr marL="66675" marR="66675" marT="28575" marB="28575" anchor="ctr">
                    <a:solidFill>
                      <a:srgbClr val="F0F5F5"/>
                    </a:solidFill>
                  </a:tcPr>
                </a:tc>
                <a:tc>
                  <a:txBody>
                    <a:bodyPr>
                      <a:noAutofit/>
                    </a:bodyPr>
                    <a:lstStyle/>
                    <a:p>
                      <a:pPr algn="ctr">
                        <a:defRPr sz="1005">
                          <a:latin typeface="Arial"/>
                        </a:defRPr>
                      </a:pPr>
                      <a:r>
                        <a:rPr sz="1005" b="0">
                          <a:solidFill>
                            <a:srgbClr val="182C30"/>
                          </a:solidFill>
                          <a:latin typeface="Arial"/>
                          <a:ea typeface="Arial"/>
                          <a:cs typeface="Arial"/>
                        </a:rPr>
                        <a:t>0%</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1">
                          <a:solidFill>
                            <a:srgbClr val="52686D"/>
                          </a:solidFill>
                          <a:latin typeface="Arial"/>
                          <a:ea typeface="Arial"/>
                          <a:cs typeface="Arial"/>
                        </a:rPr>
                        <a:t>Planificada / aún no inicia</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0">
                          <a:solidFill>
                            <a:srgbClr val="182C30"/>
                          </a:solidFill>
                          <a:latin typeface="Arial"/>
                          <a:ea typeface="Arial"/>
                          <a:cs typeface="Arial"/>
                        </a:rPr>
                        <a:t>Inicio previsto S10; sin implementación funcional todavía</a:t>
                      </a:r>
                      <a:endParaRPr sz="1005">
                        <a:latin typeface="Arial"/>
                      </a:endParaRPr>
                    </a:p>
                  </a:txBody>
                  <a:tcPr marL="66675" marR="66675" marT="28575" marB="28575" anchor="ctr">
                    <a:solidFill>
                      <a:srgbClr val="F0F5F5"/>
                    </a:solidFill>
                  </a:tcPr>
                </a:tc>
              </a:tr>
              <a:tr h="333375">
                <a:tc>
                  <a:txBody>
                    <a:bodyPr>
                      <a:noAutofit/>
                    </a:bodyPr>
                    <a:lstStyle/>
                    <a:p>
                      <a:pPr algn="l">
                        <a:defRPr sz="1005">
                          <a:latin typeface="Arial"/>
                        </a:defRPr>
                      </a:pPr>
                      <a:r>
                        <a:rPr sz="1005" b="1">
                          <a:solidFill>
                            <a:srgbClr val="182C30"/>
                          </a:solidFill>
                          <a:latin typeface="Arial"/>
                          <a:ea typeface="Arial"/>
                          <a:cs typeface="Arial"/>
                        </a:rPr>
                        <a:t>Pruebas y validación</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Equipo completo</a:t>
                      </a:r>
                      <a:endParaRPr sz="1005">
                        <a:latin typeface="Arial"/>
                      </a:endParaRPr>
                    </a:p>
                  </a:txBody>
                  <a:tcPr marL="66675" marR="66675" marT="28575" marB="28575" anchor="ctr">
                    <a:solidFill>
                      <a:srgbClr val="FFFFFF"/>
                    </a:solidFill>
                  </a:tcPr>
                </a:tc>
                <a:tc>
                  <a:txBody>
                    <a:bodyPr>
                      <a:noAutofit/>
                    </a:bodyPr>
                    <a:lstStyle/>
                    <a:p>
                      <a:pPr algn="ctr">
                        <a:defRPr sz="1005">
                          <a:latin typeface="Arial"/>
                        </a:defRPr>
                      </a:pPr>
                      <a:r>
                        <a:rPr sz="1005" b="0">
                          <a:solidFill>
                            <a:srgbClr val="182C30"/>
                          </a:solidFill>
                          <a:latin typeface="Arial"/>
                          <a:ea typeface="Arial"/>
                          <a:cs typeface="Arial"/>
                        </a:rPr>
                        <a:t>S11–S15</a:t>
                      </a:r>
                      <a:endParaRPr sz="1005">
                        <a:latin typeface="Arial"/>
                      </a:endParaRPr>
                    </a:p>
                  </a:txBody>
                  <a:tcPr marL="66675" marR="66675" marT="28575" marB="28575" anchor="ctr">
                    <a:solidFill>
                      <a:srgbClr val="FFFFFF"/>
                    </a:solidFill>
                  </a:tcPr>
                </a:tc>
                <a:tc>
                  <a:txBody>
                    <a:bodyPr>
                      <a:noAutofit/>
                    </a:bodyPr>
                    <a:lstStyle/>
                    <a:p>
                      <a:pPr algn="ctr">
                        <a:defRPr sz="1005">
                          <a:latin typeface="Arial"/>
                        </a:defRPr>
                      </a:pPr>
                      <a:r>
                        <a:rPr sz="1005" b="1">
                          <a:solidFill>
                            <a:srgbClr val="8A640B"/>
                          </a:solidFill>
                          <a:latin typeface="Arial"/>
                          <a:ea typeface="Arial"/>
                          <a:cs typeface="Arial"/>
                        </a:rPr>
                        <a:t>65%*</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En curso / anticipada</a:t>
                      </a:r>
                      <a:endParaRPr sz="1005">
                        <a:latin typeface="Arial"/>
                      </a:endParaRPr>
                    </a:p>
                  </a:txBody>
                  <a:tcPr marL="66675" marR="66675" marT="28575" marB="28575" anchor="ctr">
                    <a:solidFill>
                      <a:srgbClr val="FFFFFF"/>
                    </a:solidFill>
                  </a:tcPr>
                </a:tc>
                <a:tc>
                  <a:txBody>
                    <a:bodyPr>
                      <a:noAutofit/>
                    </a:bodyPr>
                    <a:lstStyle/>
                    <a:p>
                      <a:pPr algn="l">
                        <a:defRPr sz="1005">
                          <a:latin typeface="Arial"/>
                        </a:defRPr>
                      </a:pPr>
                      <a:r>
                        <a:rPr sz="1005" b="0">
                          <a:solidFill>
                            <a:srgbClr val="182C30"/>
                          </a:solidFill>
                          <a:latin typeface="Arial"/>
                          <a:ea typeface="Arial"/>
                          <a:cs typeface="Arial"/>
                        </a:rPr>
                        <a:t>703 tests + campaña 63/63 + validación real CSR1000v</a:t>
                      </a:r>
                      <a:endParaRPr sz="1005">
                        <a:latin typeface="Arial"/>
                      </a:endParaRPr>
                    </a:p>
                  </a:txBody>
                  <a:tcPr marL="66675" marR="66675" marT="28575" marB="28575" anchor="ctr">
                    <a:solidFill>
                      <a:srgbClr val="FFFFFF"/>
                    </a:solidFill>
                  </a:tcPr>
                </a:tc>
              </a:tr>
              <a:tr h="333375">
                <a:tc>
                  <a:txBody>
                    <a:bodyPr>
                      <a:noAutofit/>
                    </a:bodyPr>
                    <a:lstStyle/>
                    <a:p>
                      <a:pPr algn="l">
                        <a:defRPr sz="1005">
                          <a:latin typeface="Arial"/>
                        </a:defRPr>
                      </a:pPr>
                      <a:r>
                        <a:rPr sz="1005" b="1">
                          <a:solidFill>
                            <a:srgbClr val="182C30"/>
                          </a:solidFill>
                          <a:latin typeface="Arial"/>
                          <a:ea typeface="Arial"/>
                          <a:cs typeface="Arial"/>
                        </a:rPr>
                        <a:t>Cierre y documentación final</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0">
                          <a:solidFill>
                            <a:srgbClr val="182C30"/>
                          </a:solidFill>
                          <a:latin typeface="Arial"/>
                          <a:ea typeface="Arial"/>
                          <a:cs typeface="Arial"/>
                        </a:rPr>
                        <a:t>Equipo completo</a:t>
                      </a:r>
                      <a:endParaRPr sz="1005">
                        <a:latin typeface="Arial"/>
                      </a:endParaRPr>
                    </a:p>
                  </a:txBody>
                  <a:tcPr marL="66675" marR="66675" marT="28575" marB="28575" anchor="ctr">
                    <a:solidFill>
                      <a:srgbClr val="F0F5F5"/>
                    </a:solidFill>
                  </a:tcPr>
                </a:tc>
                <a:tc>
                  <a:txBody>
                    <a:bodyPr>
                      <a:noAutofit/>
                    </a:bodyPr>
                    <a:lstStyle/>
                    <a:p>
                      <a:pPr algn="ctr">
                        <a:defRPr sz="1005">
                          <a:latin typeface="Arial"/>
                        </a:defRPr>
                      </a:pPr>
                      <a:r>
                        <a:rPr sz="1005" b="0">
                          <a:solidFill>
                            <a:srgbClr val="182C30"/>
                          </a:solidFill>
                          <a:latin typeface="Arial"/>
                          <a:ea typeface="Arial"/>
                          <a:cs typeface="Arial"/>
                        </a:rPr>
                        <a:t>S14–S18</a:t>
                      </a:r>
                      <a:endParaRPr sz="1005">
                        <a:latin typeface="Arial"/>
                      </a:endParaRPr>
                    </a:p>
                  </a:txBody>
                  <a:tcPr marL="66675" marR="66675" marT="28575" marB="28575" anchor="ctr">
                    <a:solidFill>
                      <a:srgbClr val="F0F5F5"/>
                    </a:solidFill>
                  </a:tcPr>
                </a:tc>
                <a:tc>
                  <a:txBody>
                    <a:bodyPr>
                      <a:noAutofit/>
                    </a:bodyPr>
                    <a:lstStyle/>
                    <a:p>
                      <a:pPr algn="ctr">
                        <a:defRPr sz="1005">
                          <a:latin typeface="Arial"/>
                        </a:defRPr>
                      </a:pPr>
                      <a:r>
                        <a:rPr sz="1005" b="0">
                          <a:solidFill>
                            <a:srgbClr val="182C30"/>
                          </a:solidFill>
                          <a:latin typeface="Arial"/>
                          <a:ea typeface="Arial"/>
                          <a:cs typeface="Arial"/>
                        </a:rPr>
                        <a:t>0%</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0">
                          <a:solidFill>
                            <a:srgbClr val="182C30"/>
                          </a:solidFill>
                          <a:latin typeface="Arial"/>
                          <a:ea typeface="Arial"/>
                          <a:cs typeface="Arial"/>
                        </a:rPr>
                        <a:t>A tiempo / aún no inicia</a:t>
                      </a:r>
                      <a:endParaRPr sz="1005">
                        <a:latin typeface="Arial"/>
                      </a:endParaRPr>
                    </a:p>
                  </a:txBody>
                  <a:tcPr marL="66675" marR="66675" marT="28575" marB="28575" anchor="ctr">
                    <a:solidFill>
                      <a:srgbClr val="F0F5F5"/>
                    </a:solidFill>
                  </a:tcPr>
                </a:tc>
                <a:tc>
                  <a:txBody>
                    <a:bodyPr>
                      <a:noAutofit/>
                    </a:bodyPr>
                    <a:lstStyle/>
                    <a:p>
                      <a:pPr algn="l">
                        <a:defRPr sz="1005">
                          <a:latin typeface="Arial"/>
                        </a:defRPr>
                      </a:pPr>
                      <a:r>
                        <a:rPr sz="1005" b="0">
                          <a:solidFill>
                            <a:srgbClr val="182C30"/>
                          </a:solidFill>
                          <a:latin typeface="Arial"/>
                          <a:ea typeface="Arial"/>
                          <a:cs typeface="Arial"/>
                        </a:rPr>
                        <a:t>Cierre final según planificación</a:t>
                      </a:r>
                      <a:endParaRPr sz="1005">
                        <a:latin typeface="Arial"/>
                      </a:endParaRPr>
                    </a:p>
                  </a:txBody>
                  <a:tcPr marL="66675" marR="66675" marT="28575" marB="28575" anchor="ctr">
                    <a:solidFill>
                      <a:srgbClr val="F0F5F5"/>
                    </a:solidFill>
                  </a:tcPr>
                </a:tc>
              </a:tr>
            </a:tbl>
          </a:graphicData>
        </a:graphic>
      </p:graphicFrame>
      <p:sp>
        <p:nvSpPr>
          <p:cNvPr id="7" name="titulo-gantt">
            <a:extLst xmlns:a="http://schemas.openxmlformats.org/drawingml/2006/main">
              <a:ext uri="{FF2B5EF4-FFF2-40B4-BE49-F238E27FC236}">
                <a16:creationId xmlns:a16="http://schemas.microsoft.com/office/drawing/2014/main" id="{403B95EF-0597-41ED-B3F6-1D7C648B1F57}"/>
              </a:ext>
            </a:extLst>
          </p:cNvPr>
          <p:cNvSpPr>
            <a:spLocks xmlns:a="http://schemas.openxmlformats.org/drawingml/2006/main" noGrp="1"/>
          </p:cNvSpPr>
          <p:nvPr/>
        </p:nvSpPr>
        <p:spPr>
          <a:xfrm xmlns:a="http://schemas.openxmlformats.org/drawingml/2006/main">
            <a:off x="419100" y="4191000"/>
            <a:ext cx="8620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1">
                <a:solidFill>
                  <a:srgbClr val="16776B"/>
                </a:solidFill>
                <a:latin typeface="Arial"/>
                <a:ea typeface="Arial"/>
                <a:cs typeface="Arial"/>
              </a:defRPr>
            </a:pPr>
            <a:r>
              <a:rPr sz="975" b="1">
                <a:solidFill>
                  <a:srgbClr val="16776B"/>
                </a:solidFill>
                <a:latin typeface="Arial"/>
                <a:ea typeface="Arial"/>
                <a:cs typeface="Arial"/>
              </a:rPr>
              <a:t>CARTA GANTT ORIGINAL · VISTA REDUCIDA S1–S18</a:t>
            </a:r>
          </a:p>
        </p:txBody>
      </p:sp>
      <p:graphicFrame>
        <p:nvGraphicFramePr>
          <p:cNvPr id="24" name=""/>
          <p:cNvGraphicFramePr/>
          <p:nvPr/>
        </p:nvGraphicFramePr>
        <p:xfrm>
          <a:off xmlns:a="http://schemas.openxmlformats.org/drawingml/2006/main" x="419100" y="4371975"/>
          <a:ext xmlns:a="http://schemas.openxmlformats.org/drawingml/2006/main" cx="8486775" cy="1666875"/>
        </p:xfrm>
        <a:graphic xmlns:a="http://schemas.openxmlformats.org/drawingml/2006/main">
          <a:graphicData uri="http://schemas.openxmlformats.org/drawingml/2006/table">
            <a:tbl>
              <a:tblPr firstRow="0" bandRow="0"/>
              <a:tblGrid>
                <a:gridCol w="2143125"/>
                <a:gridCol w="352425"/>
                <a:gridCol w="352425"/>
                <a:gridCol w="352425"/>
                <a:gridCol w="352425"/>
                <a:gridCol w="352425"/>
                <a:gridCol w="352425"/>
                <a:gridCol w="352425"/>
                <a:gridCol w="352425"/>
                <a:gridCol w="352425"/>
                <a:gridCol w="352425"/>
                <a:gridCol w="352425"/>
                <a:gridCol w="352425"/>
                <a:gridCol w="352425"/>
                <a:gridCol w="352425"/>
                <a:gridCol w="352425"/>
                <a:gridCol w="352425"/>
                <a:gridCol w="352425"/>
                <a:gridCol w="352425"/>
              </a:tblGrid>
              <a:tr h="219075">
                <a:tc>
                  <a:txBody>
                    <a:bodyPr>
                      <a:noAutofit/>
                    </a:bodyPr>
                    <a:lstStyle/>
                    <a:p>
                      <a:pPr algn="l">
                        <a:defRPr sz="788">
                          <a:latin typeface="Arial"/>
                        </a:defRPr>
                      </a:pPr>
                      <a:r>
                        <a:rPr sz="788" b="1">
                          <a:solidFill>
                            <a:srgbClr val="FFFFFF"/>
                          </a:solidFill>
                          <a:latin typeface="Arial"/>
                          <a:ea typeface="Arial"/>
                          <a:cs typeface="Arial"/>
                        </a:rPr>
                        <a:t>Actividad</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S1</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S2</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S3</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S4</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S5</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S6</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S7</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S8</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S9</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S10</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S11</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S12</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S13</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S14</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S15</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S16</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S17</a:t>
                      </a:r>
                      <a:endParaRPr sz="788">
                        <a:latin typeface="Arial"/>
                      </a:endParaRPr>
                    </a:p>
                  </a:txBody>
                  <a:tcPr marL="28575" marR="28575" marT="9525" marB="9525" anchor="ctr">
                    <a:solidFill>
                      <a:srgbClr val="173F3B"/>
                    </a:solidFill>
                  </a:tcPr>
                </a:tc>
                <a:tc>
                  <a:txBody>
                    <a:bodyPr>
                      <a:noAutofit/>
                    </a:bodyPr>
                    <a:lstStyle/>
                    <a:p>
                      <a:pPr algn="l">
                        <a:defRPr sz="788">
                          <a:latin typeface="Arial"/>
                        </a:defRPr>
                      </a:pPr>
                      <a:r>
                        <a:rPr sz="788" b="1">
                          <a:solidFill>
                            <a:srgbClr val="FFFFFF"/>
                          </a:solidFill>
                          <a:latin typeface="Arial"/>
                          <a:ea typeface="Arial"/>
                          <a:cs typeface="Arial"/>
                        </a:rPr>
                        <a:t>S18</a:t>
                      </a:r>
                      <a:endParaRPr sz="788">
                        <a:latin typeface="Arial"/>
                      </a:endParaRPr>
                    </a:p>
                  </a:txBody>
                  <a:tcPr marL="28575" marR="28575" marT="9525" marB="9525" anchor="ctr">
                    <a:solidFill>
                      <a:srgbClr val="173F3B"/>
                    </a:solidFill>
                  </a:tcPr>
                </a:tc>
              </a:tr>
              <a:tr h="180975">
                <a:tc>
                  <a:txBody>
                    <a:bodyPr>
                      <a:noAutofit/>
                    </a:bodyPr>
                    <a:lstStyle/>
                    <a:p>
                      <a:pPr algn="l">
                        <a:defRPr sz="788">
                          <a:latin typeface="Arial"/>
                        </a:defRPr>
                      </a:pPr>
                      <a:r>
                        <a:rPr sz="788" b="1">
                          <a:solidFill>
                            <a:srgbClr val="182C30"/>
                          </a:solidFill>
                          <a:latin typeface="Arial"/>
                          <a:ea typeface="Arial"/>
                          <a:cs typeface="Arial"/>
                        </a:rPr>
                        <a:t>Alcance y requerimientos</a:t>
                      </a:r>
                      <a:endParaRPr sz="788">
                        <a:latin typeface="Arial"/>
                      </a:endParaRPr>
                    </a:p>
                  </a:txBody>
                  <a:tcPr marL="28575" marR="28575" marT="9525" marB="9525" anchor="ctr">
                    <a:solidFill>
                      <a:srgbClr val="FFFFFF"/>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r>
              <a:tr h="180975">
                <a:tc>
                  <a:txBody>
                    <a:bodyPr>
                      <a:noAutofit/>
                    </a:bodyPr>
                    <a:lstStyle/>
                    <a:p>
                      <a:pPr algn="l">
                        <a:defRPr sz="788">
                          <a:latin typeface="Arial"/>
                        </a:defRPr>
                      </a:pPr>
                      <a:r>
                        <a:rPr sz="788" b="1">
                          <a:solidFill>
                            <a:srgbClr val="182C30"/>
                          </a:solidFill>
                          <a:latin typeface="Arial"/>
                          <a:ea typeface="Arial"/>
                          <a:cs typeface="Arial"/>
                        </a:rPr>
                        <a:t>Arquitectura y laboratorio</a:t>
                      </a:r>
                      <a:endParaRPr sz="788">
                        <a:latin typeface="Arial"/>
                      </a:endParaRPr>
                    </a:p>
                  </a:txBody>
                  <a:tcPr marL="28575" marR="28575" marT="9525" marB="9525" anchor="ctr">
                    <a:solidFill>
                      <a:srgbClr val="F0F5F5"/>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r>
              <a:tr h="180975">
                <a:tc>
                  <a:txBody>
                    <a:bodyPr>
                      <a:noAutofit/>
                    </a:bodyPr>
                    <a:lstStyle/>
                    <a:p>
                      <a:pPr algn="l">
                        <a:defRPr sz="788">
                          <a:latin typeface="Arial"/>
                        </a:defRPr>
                      </a:pPr>
                      <a:r>
                        <a:rPr sz="788" b="1">
                          <a:solidFill>
                            <a:srgbClr val="182C30"/>
                          </a:solidFill>
                          <a:latin typeface="Arial"/>
                          <a:ea typeface="Arial"/>
                          <a:cs typeface="Arial"/>
                        </a:rPr>
                        <a:t>Recolección y parsing</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r>
              <a:tr h="180975">
                <a:tc>
                  <a:txBody>
                    <a:bodyPr>
                      <a:noAutofit/>
                    </a:bodyPr>
                    <a:lstStyle/>
                    <a:p>
                      <a:pPr algn="l">
                        <a:defRPr sz="788">
                          <a:latin typeface="Arial"/>
                        </a:defRPr>
                      </a:pPr>
                      <a:r>
                        <a:rPr sz="788" b="1">
                          <a:solidFill>
                            <a:srgbClr val="182C30"/>
                          </a:solidFill>
                          <a:latin typeface="Arial"/>
                          <a:ea typeface="Arial"/>
                          <a:cs typeface="Arial"/>
                        </a:rPr>
                        <a:t>Motor y catálogo de reglas</a:t>
                      </a:r>
                      <a:endParaRPr sz="788">
                        <a:latin typeface="Arial"/>
                      </a:endParaRPr>
                    </a:p>
                  </a:txBody>
                  <a:tcPr marL="28575" marR="28575" marT="9525" marB="9525" anchor="ctr">
                    <a:solidFill>
                      <a:srgbClr val="F0F5F5"/>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r>
              <a:tr h="180975">
                <a:tc>
                  <a:txBody>
                    <a:bodyPr>
                      <a:noAutofit/>
                    </a:bodyPr>
                    <a:lstStyle/>
                    <a:p>
                      <a:pPr algn="l">
                        <a:defRPr sz="788">
                          <a:latin typeface="Arial"/>
                        </a:defRPr>
                      </a:pPr>
                      <a:r>
                        <a:rPr sz="788" b="1">
                          <a:solidFill>
                            <a:srgbClr val="182C30"/>
                          </a:solidFill>
                          <a:latin typeface="Arial"/>
                          <a:ea typeface="Arial"/>
                          <a:cs typeface="Arial"/>
                        </a:rPr>
                        <a:t>Integración API/resultados</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lgn="ctr">
                        <a:defRPr sz="788">
                          <a:latin typeface="Arial"/>
                        </a:defRPr>
                      </a:pPr>
                      <a:r>
                        <a:rPr sz="788" b="1">
                          <a:solidFill>
                            <a:srgbClr val="16776B"/>
                          </a:solidFill>
                          <a:latin typeface="Arial"/>
                          <a:ea typeface="Arial"/>
                          <a:cs typeface="Arial"/>
                        </a:rPr>
                        <a:t>X</a:t>
                      </a:r>
                      <a:endParaRPr sz="788">
                        <a:latin typeface="Arial"/>
                      </a:endParaRPr>
                    </a:p>
                  </a:txBody>
                  <a:tcPr marL="28575" marR="28575" marT="9525" marB="9525" anchor="ctr">
                    <a:solidFill>
                      <a:srgbClr val="E4F1ED"/>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r>
              <a:tr h="180975">
                <a:tc>
                  <a:txBody>
                    <a:bodyPr>
                      <a:noAutofit/>
                    </a:bodyPr>
                    <a:lstStyle/>
                    <a:p>
                      <a:pPr algn="l">
                        <a:defRPr sz="788">
                          <a:latin typeface="Arial"/>
                        </a:defRPr>
                      </a:pPr>
                      <a:r>
                        <a:rPr sz="788" b="1">
                          <a:solidFill>
                            <a:srgbClr val="182C30"/>
                          </a:solidFill>
                          <a:latin typeface="Arial"/>
                          <a:ea typeface="Arial"/>
                          <a:cs typeface="Arial"/>
                        </a:rPr>
                        <a:t>Interfaz y reportes</a:t>
                      </a:r>
                      <a:endParaRPr sz="788">
                        <a:latin typeface="Arial"/>
                      </a:endParaRPr>
                    </a:p>
                  </a:txBody>
                  <a:tcPr marL="28575" marR="28575" marT="9525" marB="9525" anchor="ctr">
                    <a:solidFill>
                      <a:srgbClr val="F0F5F5"/>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lgn="ctr">
                        <a:defRPr sz="788">
                          <a:latin typeface="Arial"/>
                        </a:defRPr>
                      </a:pPr>
                      <a:r>
                        <a:rPr sz="788" b="1">
                          <a:solidFill>
                            <a:srgbClr val="52686D"/>
                          </a:solidFill>
                          <a:latin typeface="Arial"/>
                          <a:ea typeface="Arial"/>
                          <a:cs typeface="Arial"/>
                        </a:rPr>
                        <a:t>X</a:t>
                      </a:r>
                      <a:endParaRPr sz="788">
                        <a:latin typeface="Arial"/>
                      </a:endParaRPr>
                    </a:p>
                  </a:txBody>
                  <a:tcPr marL="28575" marR="28575" marT="9525" marB="9525" anchor="ctr">
                    <a:solidFill>
                      <a:srgbClr val="EDF1F3"/>
                    </a:solidFill>
                  </a:tcPr>
                </a:tc>
                <a:tc>
                  <a:txBody>
                    <a:bodyPr>
                      <a:noAutofit/>
                    </a:bodyPr>
                    <a:lstStyle/>
                    <a:p>
                      <a:pPr algn="ctr">
                        <a:defRPr sz="788">
                          <a:latin typeface="Arial"/>
                        </a:defRPr>
                      </a:pPr>
                      <a:r>
                        <a:rPr sz="788" b="1">
                          <a:solidFill>
                            <a:srgbClr val="52686D"/>
                          </a:solidFill>
                          <a:latin typeface="Arial"/>
                          <a:ea typeface="Arial"/>
                          <a:cs typeface="Arial"/>
                        </a:rPr>
                        <a:t>X</a:t>
                      </a:r>
                      <a:endParaRPr sz="788">
                        <a:latin typeface="Arial"/>
                      </a:endParaRPr>
                    </a:p>
                  </a:txBody>
                  <a:tcPr marL="28575" marR="28575" marT="9525" marB="9525" anchor="ctr">
                    <a:solidFill>
                      <a:srgbClr val="EDF1F3"/>
                    </a:solidFill>
                  </a:tcPr>
                </a:tc>
                <a:tc>
                  <a:txBody>
                    <a:bodyPr>
                      <a:noAutofit/>
                    </a:bodyPr>
                    <a:lstStyle/>
                    <a:p>
                      <a:pPr algn="ctr">
                        <a:defRPr sz="788">
                          <a:latin typeface="Arial"/>
                        </a:defRPr>
                      </a:pPr>
                      <a:r>
                        <a:rPr sz="788" b="1">
                          <a:solidFill>
                            <a:srgbClr val="52686D"/>
                          </a:solidFill>
                          <a:latin typeface="Arial"/>
                          <a:ea typeface="Arial"/>
                          <a:cs typeface="Arial"/>
                        </a:rPr>
                        <a:t>X</a:t>
                      </a:r>
                      <a:endParaRPr sz="788">
                        <a:latin typeface="Arial"/>
                      </a:endParaRPr>
                    </a:p>
                  </a:txBody>
                  <a:tcPr marL="28575" marR="28575" marT="9525" marB="9525" anchor="ctr">
                    <a:solidFill>
                      <a:srgbClr val="EDF1F3"/>
                    </a:solidFill>
                  </a:tcPr>
                </a:tc>
                <a:tc>
                  <a:txBody>
                    <a:bodyPr>
                      <a:noAutofit/>
                    </a:bodyPr>
                    <a:lstStyle/>
                    <a:p>
                      <a:pPr algn="ctr">
                        <a:defRPr sz="788">
                          <a:latin typeface="Arial"/>
                        </a:defRPr>
                      </a:pPr>
                      <a:r>
                        <a:rPr sz="788" b="1">
                          <a:solidFill>
                            <a:srgbClr val="52686D"/>
                          </a:solidFill>
                          <a:latin typeface="Arial"/>
                          <a:ea typeface="Arial"/>
                          <a:cs typeface="Arial"/>
                        </a:rPr>
                        <a:t>X</a:t>
                      </a:r>
                      <a:endParaRPr sz="788">
                        <a:latin typeface="Arial"/>
                      </a:endParaRPr>
                    </a:p>
                  </a:txBody>
                  <a:tcPr marL="28575" marR="28575" marT="9525" marB="9525" anchor="ctr">
                    <a:solidFill>
                      <a:srgbClr val="EDF1F3"/>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r>
              <a:tr h="180975">
                <a:tc>
                  <a:txBody>
                    <a:bodyPr>
                      <a:noAutofit/>
                    </a:bodyPr>
                    <a:lstStyle/>
                    <a:p>
                      <a:pPr algn="l">
                        <a:defRPr sz="788">
                          <a:latin typeface="Arial"/>
                        </a:defRPr>
                      </a:pPr>
                      <a:r>
                        <a:rPr sz="788" b="1">
                          <a:solidFill>
                            <a:srgbClr val="182C30"/>
                          </a:solidFill>
                          <a:latin typeface="Arial"/>
                          <a:ea typeface="Arial"/>
                          <a:cs typeface="Arial"/>
                        </a:rPr>
                        <a:t>Pruebas y validación</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lgn="ctr">
                        <a:defRPr sz="788">
                          <a:latin typeface="Arial"/>
                        </a:defRPr>
                      </a:pPr>
                      <a:r>
                        <a:rPr sz="788" b="1">
                          <a:solidFill>
                            <a:srgbClr val="8A640B"/>
                          </a:solidFill>
                          <a:latin typeface="Arial"/>
                          <a:ea typeface="Arial"/>
                          <a:cs typeface="Arial"/>
                        </a:rPr>
                        <a:t>X</a:t>
                      </a:r>
                      <a:endParaRPr sz="788">
                        <a:latin typeface="Arial"/>
                      </a:endParaRPr>
                    </a:p>
                  </a:txBody>
                  <a:tcPr marL="28575" marR="28575" marT="9525" marB="9525" anchor="ctr">
                    <a:solidFill>
                      <a:srgbClr val="FAF0D5"/>
                    </a:solidFill>
                  </a:tcPr>
                </a:tc>
                <a:tc>
                  <a:txBody>
                    <a:bodyPr>
                      <a:noAutofit/>
                    </a:bodyPr>
                    <a:lstStyle/>
                    <a:p>
                      <a:pPr algn="ctr">
                        <a:defRPr sz="788">
                          <a:latin typeface="Arial"/>
                        </a:defRPr>
                      </a:pPr>
                      <a:r>
                        <a:rPr sz="788" b="1">
                          <a:solidFill>
                            <a:srgbClr val="8A640B"/>
                          </a:solidFill>
                          <a:latin typeface="Arial"/>
                          <a:ea typeface="Arial"/>
                          <a:cs typeface="Arial"/>
                        </a:rPr>
                        <a:t>X</a:t>
                      </a:r>
                      <a:endParaRPr sz="788">
                        <a:latin typeface="Arial"/>
                      </a:endParaRPr>
                    </a:p>
                  </a:txBody>
                  <a:tcPr marL="28575" marR="28575" marT="9525" marB="9525" anchor="ctr">
                    <a:solidFill>
                      <a:srgbClr val="FAF0D5"/>
                    </a:solidFill>
                  </a:tcPr>
                </a:tc>
                <a:tc>
                  <a:txBody>
                    <a:bodyPr>
                      <a:noAutofit/>
                    </a:bodyPr>
                    <a:lstStyle/>
                    <a:p>
                      <a:pPr algn="ctr">
                        <a:defRPr sz="788">
                          <a:latin typeface="Arial"/>
                        </a:defRPr>
                      </a:pPr>
                      <a:r>
                        <a:rPr sz="788" b="1">
                          <a:solidFill>
                            <a:srgbClr val="8A640B"/>
                          </a:solidFill>
                          <a:latin typeface="Arial"/>
                          <a:ea typeface="Arial"/>
                          <a:cs typeface="Arial"/>
                        </a:rPr>
                        <a:t>X</a:t>
                      </a:r>
                      <a:endParaRPr sz="788">
                        <a:latin typeface="Arial"/>
                      </a:endParaRPr>
                    </a:p>
                  </a:txBody>
                  <a:tcPr marL="28575" marR="28575" marT="9525" marB="9525" anchor="ctr">
                    <a:solidFill>
                      <a:srgbClr val="FAF0D5"/>
                    </a:solidFill>
                  </a:tcPr>
                </a:tc>
                <a:tc>
                  <a:txBody>
                    <a:bodyPr>
                      <a:noAutofit/>
                    </a:bodyPr>
                    <a:lstStyle/>
                    <a:p>
                      <a:pPr algn="ctr">
                        <a:defRPr sz="788">
                          <a:latin typeface="Arial"/>
                        </a:defRPr>
                      </a:pPr>
                      <a:r>
                        <a:rPr sz="788" b="1">
                          <a:solidFill>
                            <a:srgbClr val="8A640B"/>
                          </a:solidFill>
                          <a:latin typeface="Arial"/>
                          <a:ea typeface="Arial"/>
                          <a:cs typeface="Arial"/>
                        </a:rPr>
                        <a:t>X</a:t>
                      </a:r>
                      <a:endParaRPr sz="788">
                        <a:latin typeface="Arial"/>
                      </a:endParaRPr>
                    </a:p>
                  </a:txBody>
                  <a:tcPr marL="28575" marR="28575" marT="9525" marB="9525" anchor="ctr">
                    <a:solidFill>
                      <a:srgbClr val="FAF0D5"/>
                    </a:solidFill>
                  </a:tcPr>
                </a:tc>
                <a:tc>
                  <a:txBody>
                    <a:bodyPr>
                      <a:noAutofit/>
                    </a:bodyPr>
                    <a:lstStyle/>
                    <a:p>
                      <a:pPr algn="ctr">
                        <a:defRPr sz="788">
                          <a:latin typeface="Arial"/>
                        </a:defRPr>
                      </a:pPr>
                      <a:r>
                        <a:rPr sz="788" b="1">
                          <a:solidFill>
                            <a:srgbClr val="8A640B"/>
                          </a:solidFill>
                          <a:latin typeface="Arial"/>
                          <a:ea typeface="Arial"/>
                          <a:cs typeface="Arial"/>
                        </a:rPr>
                        <a:t>X</a:t>
                      </a:r>
                      <a:endParaRPr sz="788">
                        <a:latin typeface="Arial"/>
                      </a:endParaRPr>
                    </a:p>
                  </a:txBody>
                  <a:tcPr marL="28575" marR="28575" marT="9525" marB="9525" anchor="ctr">
                    <a:solidFill>
                      <a:srgbClr val="FAF0D5"/>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r>
              <a:tr h="180975">
                <a:tc>
                  <a:txBody>
                    <a:bodyPr>
                      <a:noAutofit/>
                    </a:bodyPr>
                    <a:lstStyle/>
                    <a:p>
                      <a:pPr algn="l">
                        <a:defRPr sz="788">
                          <a:latin typeface="Arial"/>
                        </a:defRPr>
                      </a:pPr>
                      <a:r>
                        <a:rPr sz="788" b="1">
                          <a:solidFill>
                            <a:srgbClr val="182C30"/>
                          </a:solidFill>
                          <a:latin typeface="Arial"/>
                          <a:ea typeface="Arial"/>
                          <a:cs typeface="Arial"/>
                        </a:rPr>
                        <a:t>Cierre y documentación final</a:t>
                      </a:r>
                      <a:endParaRPr sz="788">
                        <a:latin typeface="Arial"/>
                      </a:endParaRPr>
                    </a:p>
                  </a:txBody>
                  <a:tcPr marL="28575" marR="28575" marT="9525" marB="9525" anchor="ctr">
                    <a:solidFill>
                      <a:srgbClr val="F0F5F5"/>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defRPr sz="788">
                          <a:latin typeface="Arial"/>
                        </a:defRPr>
                      </a:pPr>
                      <a:r>
                        <a:rPr sz="788" b="0">
                          <a:solidFill>
                            <a:srgbClr val="182C30"/>
                          </a:solidFill>
                          <a:latin typeface="Arial"/>
                          <a:ea typeface="Arial"/>
                          <a:cs typeface="Arial"/>
                        </a:rPr>
                        <a:t/>
                      </a:r>
                      <a:endParaRPr sz="788">
                        <a:latin typeface="Arial"/>
                      </a:endParaRPr>
                    </a:p>
                  </a:txBody>
                  <a:tcPr marL="28575" marR="28575" marT="9525" marB="9525" anchor="ctr">
                    <a:solidFill>
                      <a:srgbClr val="FFFFFF"/>
                    </a:solidFill>
                  </a:tcPr>
                </a:tc>
                <a:tc>
                  <a:txBody>
                    <a:bodyPr>
                      <a:noAutofit/>
                    </a:bodyPr>
                    <a:lstStyle/>
                    <a:p>
                      <a:pPr algn="ctr">
                        <a:defRPr sz="788">
                          <a:latin typeface="Arial"/>
                        </a:defRPr>
                      </a:pPr>
                      <a:r>
                        <a:rPr sz="788" b="1">
                          <a:solidFill>
                            <a:srgbClr val="52686D"/>
                          </a:solidFill>
                          <a:latin typeface="Arial"/>
                          <a:ea typeface="Arial"/>
                          <a:cs typeface="Arial"/>
                        </a:rPr>
                        <a:t>X</a:t>
                      </a:r>
                      <a:endParaRPr sz="788">
                        <a:latin typeface="Arial"/>
                      </a:endParaRPr>
                    </a:p>
                  </a:txBody>
                  <a:tcPr marL="28575" marR="28575" marT="9525" marB="9525" anchor="ctr">
                    <a:solidFill>
                      <a:srgbClr val="EDF1F3"/>
                    </a:solidFill>
                  </a:tcPr>
                </a:tc>
                <a:tc>
                  <a:txBody>
                    <a:bodyPr>
                      <a:noAutofit/>
                    </a:bodyPr>
                    <a:lstStyle/>
                    <a:p>
                      <a:pPr algn="ctr">
                        <a:defRPr sz="788">
                          <a:latin typeface="Arial"/>
                        </a:defRPr>
                      </a:pPr>
                      <a:r>
                        <a:rPr sz="788" b="1">
                          <a:solidFill>
                            <a:srgbClr val="52686D"/>
                          </a:solidFill>
                          <a:latin typeface="Arial"/>
                          <a:ea typeface="Arial"/>
                          <a:cs typeface="Arial"/>
                        </a:rPr>
                        <a:t>X</a:t>
                      </a:r>
                      <a:endParaRPr sz="788">
                        <a:latin typeface="Arial"/>
                      </a:endParaRPr>
                    </a:p>
                  </a:txBody>
                  <a:tcPr marL="28575" marR="28575" marT="9525" marB="9525" anchor="ctr">
                    <a:solidFill>
                      <a:srgbClr val="EDF1F3"/>
                    </a:solidFill>
                  </a:tcPr>
                </a:tc>
                <a:tc>
                  <a:txBody>
                    <a:bodyPr>
                      <a:noAutofit/>
                    </a:bodyPr>
                    <a:lstStyle/>
                    <a:p>
                      <a:pPr algn="ctr">
                        <a:defRPr sz="788">
                          <a:latin typeface="Arial"/>
                        </a:defRPr>
                      </a:pPr>
                      <a:r>
                        <a:rPr sz="788" b="1">
                          <a:solidFill>
                            <a:srgbClr val="52686D"/>
                          </a:solidFill>
                          <a:latin typeface="Arial"/>
                          <a:ea typeface="Arial"/>
                          <a:cs typeface="Arial"/>
                        </a:rPr>
                        <a:t>X</a:t>
                      </a:r>
                      <a:endParaRPr sz="788">
                        <a:latin typeface="Arial"/>
                      </a:endParaRPr>
                    </a:p>
                  </a:txBody>
                  <a:tcPr marL="28575" marR="28575" marT="9525" marB="9525" anchor="ctr">
                    <a:solidFill>
                      <a:srgbClr val="EDF1F3"/>
                    </a:solidFill>
                  </a:tcPr>
                </a:tc>
                <a:tc>
                  <a:txBody>
                    <a:bodyPr>
                      <a:noAutofit/>
                    </a:bodyPr>
                    <a:lstStyle/>
                    <a:p>
                      <a:pPr algn="ctr">
                        <a:defRPr sz="788">
                          <a:latin typeface="Arial"/>
                        </a:defRPr>
                      </a:pPr>
                      <a:r>
                        <a:rPr sz="788" b="1">
                          <a:solidFill>
                            <a:srgbClr val="52686D"/>
                          </a:solidFill>
                          <a:latin typeface="Arial"/>
                          <a:ea typeface="Arial"/>
                          <a:cs typeface="Arial"/>
                        </a:rPr>
                        <a:t>X</a:t>
                      </a:r>
                      <a:endParaRPr sz="788">
                        <a:latin typeface="Arial"/>
                      </a:endParaRPr>
                    </a:p>
                  </a:txBody>
                  <a:tcPr marL="28575" marR="28575" marT="9525" marB="9525" anchor="ctr">
                    <a:solidFill>
                      <a:srgbClr val="EDF1F3"/>
                    </a:solidFill>
                  </a:tcPr>
                </a:tc>
                <a:tc>
                  <a:txBody>
                    <a:bodyPr>
                      <a:noAutofit/>
                    </a:bodyPr>
                    <a:lstStyle/>
                    <a:p>
                      <a:pPr algn="ctr">
                        <a:defRPr sz="788">
                          <a:latin typeface="Arial"/>
                        </a:defRPr>
                      </a:pPr>
                      <a:r>
                        <a:rPr sz="788" b="1">
                          <a:solidFill>
                            <a:srgbClr val="52686D"/>
                          </a:solidFill>
                          <a:latin typeface="Arial"/>
                          <a:ea typeface="Arial"/>
                          <a:cs typeface="Arial"/>
                        </a:rPr>
                        <a:t>X</a:t>
                      </a:r>
                      <a:endParaRPr sz="788">
                        <a:latin typeface="Arial"/>
                      </a:endParaRPr>
                    </a:p>
                  </a:txBody>
                  <a:tcPr marL="28575" marR="28575" marT="9525" marB="9525" anchor="ctr">
                    <a:solidFill>
                      <a:srgbClr val="EDF1F3"/>
                    </a:solidFill>
                  </a:tcPr>
                </a:tc>
              </a:tr>
            </a:tbl>
          </a:graphicData>
        </a:graphic>
      </p:graphicFrame>
      <p:sp>
        <p:nvSpPr>
          <p:cNvPr id="9" name="leyenda">
            <a:extLst xmlns:a="http://schemas.openxmlformats.org/drawingml/2006/main">
              <a:ext uri="{FF2B5EF4-FFF2-40B4-BE49-F238E27FC236}">
                <a16:creationId xmlns:a16="http://schemas.microsoft.com/office/drawing/2014/main" id="{6179AE2D-155A-45EC-B08C-207A45117063}"/>
              </a:ext>
            </a:extLst>
          </p:cNvPr>
          <p:cNvSpPr>
            <a:spLocks xmlns:a="http://schemas.openxmlformats.org/drawingml/2006/main" noGrp="1"/>
          </p:cNvSpPr>
          <p:nvPr/>
        </p:nvSpPr>
        <p:spPr>
          <a:xfrm xmlns:a="http://schemas.openxmlformats.org/drawingml/2006/main">
            <a:off x="419100" y="6086475"/>
            <a:ext cx="8763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88" b="0">
                <a:solidFill>
                  <a:srgbClr val="52686D"/>
                </a:solidFill>
                <a:latin typeface="Arial"/>
                <a:ea typeface="Arial"/>
                <a:cs typeface="Arial"/>
              </a:defRPr>
            </a:pPr>
            <a:r>
              <a:rPr sz="788" b="0">
                <a:solidFill>
                  <a:srgbClr val="52686D"/>
                </a:solidFill>
                <a:latin typeface="Arial"/>
                <a:ea typeface="Arial"/>
                <a:cs typeface="Arial"/>
              </a:rPr>
              <a:t>Verde: completada (alcance actual)   Ámbar: iniciada anticipadamente   Gris: planificada</a:t>
            </a:r>
          </a:p>
        </p:txBody>
      </p:sp>
      <p:sp>
        <p:nvSpPr>
          <p:cNvPr id="10" name="referencia-academica-S8-S9">
            <a:extLst xmlns:a="http://schemas.openxmlformats.org/drawingml/2006/main">
              <a:ext uri="{FF2B5EF4-FFF2-40B4-BE49-F238E27FC236}">
                <a16:creationId xmlns:a16="http://schemas.microsoft.com/office/drawing/2014/main" id="{CBB33CE6-8231-463A-B2E4-4C7314A7D21F}"/>
              </a:ext>
            </a:extLst>
          </p:cNvPr>
          <p:cNvSpPr>
            <a:spLocks xmlns:a="http://schemas.openxmlformats.org/drawingml/2006/main" noGrp="1"/>
          </p:cNvSpPr>
          <p:nvPr/>
        </p:nvSpPr>
        <p:spPr>
          <a:xfrm xmlns:a="http://schemas.openxmlformats.org/drawingml/2006/main">
            <a:off x="5381625" y="4371975"/>
            <a:ext cx="0" cy="1666875"/>
          </a:xfrm>
          <a:prstGeom xmlns:a="http://schemas.openxmlformats.org/drawingml/2006/main" prst="line">
            <a:avLst/>
          </a:prstGeom>
          <a:noFill xmlns:a="http://schemas.openxmlformats.org/drawingml/2006/main"/>
          <a:ln xmlns:a="http://schemas.openxmlformats.org/drawingml/2006/main" w="26670">
            <a:solidFill>
              <a:srgbClr val="16776B"/>
            </a:solidFill>
          </a:ln>
        </p:spPr>
      </p:sp>
      <p:sp>
        <p:nvSpPr>
          <p:cNvPr id="11" name="fecha-no-calendarizada">
            <a:extLst xmlns:a="http://schemas.openxmlformats.org/drawingml/2006/main">
              <a:ext uri="{FF2B5EF4-FFF2-40B4-BE49-F238E27FC236}">
                <a16:creationId xmlns:a16="http://schemas.microsoft.com/office/drawing/2014/main" id="{EBB867AA-F209-4AD4-BB28-617AF998C4AD}"/>
              </a:ext>
            </a:extLst>
          </p:cNvPr>
          <p:cNvSpPr>
            <a:spLocks xmlns:a="http://schemas.openxmlformats.org/drawingml/2006/main" noGrp="1"/>
          </p:cNvSpPr>
          <p:nvPr/>
        </p:nvSpPr>
        <p:spPr>
          <a:xfrm xmlns:a="http://schemas.openxmlformats.org/drawingml/2006/main">
            <a:off x="9277350" y="4057650"/>
            <a:ext cx="2495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6776B"/>
                </a:solidFill>
                <a:latin typeface="Arial"/>
                <a:ea typeface="Arial"/>
                <a:cs typeface="Arial"/>
              </a:defRPr>
            </a:pPr>
            <a:r>
              <a:rPr sz="1350" b="1">
                <a:solidFill>
                  <a:srgbClr val="16776B"/>
                </a:solidFill>
                <a:latin typeface="Arial"/>
                <a:ea typeface="Arial"/>
                <a:cs typeface="Arial"/>
              </a:rPr>
              <a:t>6 OCT 2026</a:t>
            </a:r>
          </a:p>
        </p:txBody>
      </p:sp>
      <p:sp>
        <p:nvSpPr>
          <p:cNvPr id="12" name="siguiente-actividad">
            <a:extLst xmlns:a="http://schemas.openxmlformats.org/drawingml/2006/main">
              <a:ext uri="{FF2B5EF4-FFF2-40B4-BE49-F238E27FC236}">
                <a16:creationId xmlns:a16="http://schemas.microsoft.com/office/drawing/2014/main" id="{DB2ECE3A-0543-48E0-AC0B-7CF25134B2A3}"/>
              </a:ext>
            </a:extLst>
          </p:cNvPr>
          <p:cNvSpPr>
            <a:spLocks xmlns:a="http://schemas.openxmlformats.org/drawingml/2006/main" noGrp="1"/>
          </p:cNvSpPr>
          <p:nvPr/>
        </p:nvSpPr>
        <p:spPr>
          <a:xfrm xmlns:a="http://schemas.openxmlformats.org/drawingml/2006/main">
            <a:off x="9277350" y="4429125"/>
            <a:ext cx="2495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a:solidFill>
                  <a:srgbClr val="16776B"/>
                </a:solidFill>
                <a:latin typeface="Arial"/>
                <a:ea typeface="Arial"/>
                <a:cs typeface="Arial"/>
              </a:defRPr>
            </a:pPr>
            <a:r>
              <a:rPr sz="1125" b="1">
                <a:solidFill>
                  <a:srgbClr val="16776B"/>
                </a:solidFill>
                <a:latin typeface="Arial"/>
                <a:ea typeface="Arial"/>
                <a:cs typeface="Arial"/>
              </a:rPr>
              <a:t>SIGUIENTE ACTIVIDAD</a:t>
            </a:r>
          </a:p>
          <a:p xmlns:a="http://schemas.openxmlformats.org/drawingml/2006/main">
            <a:pPr algn="l">
              <a:defRPr sz="1125" b="1">
                <a:solidFill>
                  <a:srgbClr val="16776B"/>
                </a:solidFill>
                <a:latin typeface="Arial"/>
                <a:ea typeface="Arial"/>
                <a:cs typeface="Arial"/>
              </a:defRPr>
            </a:pPr>
            <a:r>
              <a:rPr sz="1125" b="1">
                <a:solidFill>
                  <a:srgbClr val="16776B"/>
                </a:solidFill>
                <a:latin typeface="Arial"/>
                <a:ea typeface="Arial"/>
                <a:cs typeface="Arial"/>
              </a:rPr>
              <a:t>INTERFAZ Y REPORTES</a:t>
            </a:r>
          </a:p>
        </p:txBody>
      </p:sp>
      <p:sp>
        <p:nvSpPr>
          <p:cNvPr id="13" name="estado-planificado">
            <a:extLst xmlns:a="http://schemas.openxmlformats.org/drawingml/2006/main">
              <a:ext uri="{FF2B5EF4-FFF2-40B4-BE49-F238E27FC236}">
                <a16:creationId xmlns:a16="http://schemas.microsoft.com/office/drawing/2014/main" id="{AFD27A48-4D8C-4073-A421-5E7413FD2295}"/>
              </a:ext>
            </a:extLst>
          </p:cNvPr>
          <p:cNvSpPr>
            <a:spLocks xmlns:a="http://schemas.openxmlformats.org/drawingml/2006/main" noGrp="1"/>
          </p:cNvSpPr>
          <p:nvPr/>
        </p:nvSpPr>
        <p:spPr>
          <a:xfrm xmlns:a="http://schemas.openxmlformats.org/drawingml/2006/main">
            <a:off x="9277350" y="4810125"/>
            <a:ext cx="2495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182C30"/>
                </a:solidFill>
                <a:latin typeface="Arial"/>
                <a:ea typeface="Arial"/>
                <a:cs typeface="Arial"/>
              </a:defRPr>
            </a:pPr>
            <a:r>
              <a:rPr sz="1050" b="0">
                <a:solidFill>
                  <a:srgbClr val="182C30"/>
                </a:solidFill>
                <a:latin typeface="Arial"/>
                <a:ea typeface="Arial"/>
                <a:cs typeface="Arial"/>
              </a:rPr>
              <a:t>Estado: 0%. Inicio previsto S10, aún no exigible en S8/S9.</a:t>
            </a:r>
          </a:p>
        </p:txBody>
      </p:sp>
      <p:sp>
        <p:nvSpPr>
          <p:cNvPr id="14" name="siguiente-paso">
            <a:extLst xmlns:a="http://schemas.openxmlformats.org/drawingml/2006/main">
              <a:ext uri="{FF2B5EF4-FFF2-40B4-BE49-F238E27FC236}">
                <a16:creationId xmlns:a16="http://schemas.microsoft.com/office/drawing/2014/main" id="{F7AA8322-5BD9-4541-919E-6DD21AD06284}"/>
              </a:ext>
            </a:extLst>
          </p:cNvPr>
          <p:cNvSpPr>
            <a:spLocks xmlns:a="http://schemas.openxmlformats.org/drawingml/2006/main" noGrp="1"/>
          </p:cNvSpPr>
          <p:nvPr/>
        </p:nvSpPr>
        <p:spPr>
          <a:xfrm xmlns:a="http://schemas.openxmlformats.org/drawingml/2006/main">
            <a:off x="9277350" y="5353050"/>
            <a:ext cx="24955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182C30"/>
                </a:solidFill>
                <a:latin typeface="Arial"/>
                <a:ea typeface="Arial"/>
                <a:cs typeface="Arial"/>
              </a:defRPr>
            </a:pPr>
            <a:r>
              <a:rPr sz="1050" b="0">
                <a:solidFill>
                  <a:srgbClr val="182C30"/>
                </a:solidFill>
                <a:latin typeface="Arial"/>
                <a:ea typeface="Arial"/>
                <a:cs typeface="Arial"/>
              </a:rPr>
              <a:t>Próximo paso: iniciar interfaz/asistente después de EV2, según planificación.</a:t>
            </a:r>
          </a:p>
        </p:txBody>
      </p:sp>
      <p:sp>
        <p:nvSpPr>
          <p:cNvPr id="15" name="porcentaje-nota">
            <a:extLst xmlns:a="http://schemas.openxmlformats.org/drawingml/2006/main">
              <a:ext uri="{FF2B5EF4-FFF2-40B4-BE49-F238E27FC236}">
                <a16:creationId xmlns:a16="http://schemas.microsoft.com/office/drawing/2014/main" id="{07CED9A5-2EA8-4E77-B852-8E6A21AF7FE8}"/>
              </a:ext>
            </a:extLst>
          </p:cNvPr>
          <p:cNvSpPr>
            <a:spLocks xmlns:a="http://schemas.openxmlformats.org/drawingml/2006/main" noGrp="1"/>
          </p:cNvSpPr>
          <p:nvPr/>
        </p:nvSpPr>
        <p:spPr>
          <a:xfrm xmlns:a="http://schemas.openxmlformats.org/drawingml/2006/main">
            <a:off x="419100" y="6315075"/>
            <a:ext cx="8667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0">
                <a:solidFill>
                  <a:srgbClr val="52686D"/>
                </a:solidFill>
                <a:latin typeface="Arial"/>
                <a:ea typeface="Arial"/>
                <a:cs typeface="Arial"/>
              </a:defRPr>
            </a:pPr>
            <a:r>
              <a:rPr sz="825" b="0">
                <a:solidFill>
                  <a:srgbClr val="52686D"/>
                </a:solidFill>
                <a:latin typeface="Arial"/>
                <a:ea typeface="Arial"/>
                <a:cs typeface="Arial"/>
              </a:rPr>
              <a:t>* Estimación de la actividad completa; validación final pendiente.</a:t>
            </a:r>
          </a:p>
        </p:txBody>
      </p:sp>
      <p:sp>
        <p:nvSpPr>
          <p:cNvPr id="16" name="referencia-semanal">
            <a:extLst xmlns:a="http://schemas.openxmlformats.org/drawingml/2006/main">
              <a:ext uri="{FF2B5EF4-FFF2-40B4-BE49-F238E27FC236}">
                <a16:creationId xmlns:a16="http://schemas.microsoft.com/office/drawing/2014/main" id="{B426949C-EE12-4442-BD40-FA0BE1461F5F}"/>
              </a:ext>
            </a:extLst>
          </p:cNvPr>
          <p:cNvSpPr>
            <a:spLocks xmlns:a="http://schemas.openxmlformats.org/drawingml/2006/main" noGrp="1"/>
          </p:cNvSpPr>
          <p:nvPr/>
        </p:nvSpPr>
        <p:spPr>
          <a:xfrm xmlns:a="http://schemas.openxmlformats.org/drawingml/2006/main">
            <a:off x="9277350" y="6019800"/>
            <a:ext cx="249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03" b="0">
                <a:solidFill>
                  <a:srgbClr val="52686D"/>
                </a:solidFill>
                <a:latin typeface="Arial"/>
                <a:ea typeface="Arial"/>
                <a:cs typeface="Arial"/>
              </a:defRPr>
            </a:pPr>
            <a:r>
              <a:rPr sz="803" b="0">
                <a:solidFill>
                  <a:srgbClr val="52686D"/>
                </a:solidFill>
                <a:latin typeface="Arial"/>
                <a:ea typeface="Arial"/>
                <a:cs typeface="Arial"/>
              </a:rPr>
              <a:t>Referencia: S8 en transición a S9.</a:t>
            </a:r>
          </a:p>
          <a:p xmlns:a="http://schemas.openxmlformats.org/drawingml/2006/main">
            <a:pPr algn="l">
              <a:defRPr sz="803" b="0">
                <a:solidFill>
                  <a:srgbClr val="52686D"/>
                </a:solidFill>
                <a:latin typeface="Arial"/>
                <a:ea typeface="Arial"/>
                <a:cs typeface="Arial"/>
              </a:defRPr>
            </a:pPr>
            <a:r>
              <a:rPr sz="803" b="0">
                <a:solidFill>
                  <a:srgbClr val="52686D"/>
                </a:solidFill>
                <a:latin typeface="Arial"/>
                <a:ea typeface="Arial"/>
                <a:cs typeface="Arial"/>
              </a:rPr>
              <a:t>Línea aproximada, sin calendarizar S1.</a:t>
            </a:r>
          </a:p>
        </p:txBody>
      </p:sp>
    </p:spTree>
    <p:extLst>
      <p:ext uri="{BB962C8B-B14F-4D97-AF65-F5344CB8AC3E}">
        <p14:creationId xmlns:p14="http://schemas.microsoft.com/office/powerpoint/2010/main" val="17059736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cion">
            <a:extLst xmlns:a="http://schemas.openxmlformats.org/drawingml/2006/main">
              <a:ext uri="{FF2B5EF4-FFF2-40B4-BE49-F238E27FC236}">
                <a16:creationId xmlns:a16="http://schemas.microsoft.com/office/drawing/2014/main" id="{18CF672D-AC51-494A-A515-6C9AD446006B}"/>
              </a:ext>
            </a:extLst>
          </p:cNvPr>
          <p:cNvSpPr>
            <a:spLocks xmlns:a="http://schemas.openxmlformats.org/drawingml/2006/main" noGrp="1"/>
          </p:cNvSpPr>
          <p:nvPr/>
        </p:nvSpPr>
        <p:spPr>
          <a:xfrm xmlns:a="http://schemas.openxmlformats.org/drawingml/2006/main">
            <a:off x="419100" y="228600"/>
            <a:ext cx="847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16776B"/>
                </a:solidFill>
                <a:latin typeface="Arial"/>
                <a:ea typeface="Arial"/>
                <a:cs typeface="Arial"/>
              </a:defRPr>
            </a:pPr>
            <a:r>
              <a:rPr sz="1050" b="1">
                <a:solidFill>
                  <a:srgbClr val="16776B"/>
                </a:solidFill>
                <a:latin typeface="Arial"/>
                <a:ea typeface="Arial"/>
                <a:cs typeface="Arial"/>
              </a:rPr>
              <a:t>02 · ENTREGABLES</a:t>
            </a:r>
          </a:p>
        </p:txBody>
      </p:sp>
      <p:sp>
        <p:nvSpPr>
          <p:cNvPr id="2" name="titulo">
            <a:extLst xmlns:a="http://schemas.openxmlformats.org/drawingml/2006/main">
              <a:ext uri="{FF2B5EF4-FFF2-40B4-BE49-F238E27FC236}">
                <a16:creationId xmlns:a16="http://schemas.microsoft.com/office/drawing/2014/main" id="{51C8CD94-07E9-4CA5-8F3A-1B6A7A6B46E7}"/>
              </a:ext>
            </a:extLst>
          </p:cNvPr>
          <p:cNvSpPr>
            <a:spLocks xmlns:a="http://schemas.openxmlformats.org/drawingml/2006/main" noGrp="1"/>
          </p:cNvSpPr>
          <p:nvPr/>
        </p:nvSpPr>
        <p:spPr>
          <a:xfrm xmlns:a="http://schemas.openxmlformats.org/drawingml/2006/main">
            <a:off x="419100" y="523875"/>
            <a:ext cx="11353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82C30"/>
                </a:solidFill>
                <a:latin typeface="Arial"/>
                <a:ea typeface="Arial"/>
                <a:cs typeface="Arial"/>
              </a:defRPr>
            </a:pPr>
            <a:r>
              <a:rPr sz="2550" b="1">
                <a:solidFill>
                  <a:srgbClr val="182C30"/>
                </a:solidFill>
                <a:latin typeface="Arial"/>
                <a:ea typeface="Arial"/>
                <a:cs typeface="Arial"/>
              </a:rPr>
              <a:t>Entregables y criterios de éxito</a:t>
            </a:r>
          </a:p>
        </p:txBody>
      </p:sp>
      <p:sp>
        <p:nvSpPr>
          <p:cNvPr id="3" name="identidad">
            <a:extLst xmlns:a="http://schemas.openxmlformats.org/drawingml/2006/main">
              <a:ext uri="{FF2B5EF4-FFF2-40B4-BE49-F238E27FC236}">
                <a16:creationId xmlns:a16="http://schemas.microsoft.com/office/drawing/2014/main" id="{502E0DB2-E96E-4620-9C02-6683C7BFEC49}"/>
              </a:ext>
            </a:extLst>
          </p:cNvPr>
          <p:cNvSpPr>
            <a:spLocks xmlns:a="http://schemas.openxmlformats.org/drawingml/2006/main" noGrp="1"/>
          </p:cNvSpPr>
          <p:nvPr/>
        </p:nvSpPr>
        <p:spPr>
          <a:xfrm xmlns:a="http://schemas.openxmlformats.org/drawingml/2006/main">
            <a:off x="9191625" y="228600"/>
            <a:ext cx="2581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75" b="0">
                <a:solidFill>
                  <a:srgbClr val="52686D"/>
                </a:solidFill>
                <a:latin typeface="Arial"/>
                <a:ea typeface="Arial"/>
                <a:cs typeface="Arial"/>
              </a:defRPr>
            </a:pPr>
            <a:r>
              <a:rPr sz="975" b="0">
                <a:solidFill>
                  <a:srgbClr val="52686D"/>
                </a:solidFill>
                <a:latin typeface="Arial"/>
                <a:ea typeface="Arial"/>
                <a:cs typeface="Arial"/>
              </a:rPr>
              <a:t>NetAudit · Evaluación 2 APT</a:t>
            </a:r>
          </a:p>
        </p:txBody>
      </p:sp>
      <p:sp>
        <p:nvSpPr>
          <p:cNvPr id="4" name="pie">
            <a:extLst xmlns:a="http://schemas.openxmlformats.org/drawingml/2006/main">
              <a:ext uri="{FF2B5EF4-FFF2-40B4-BE49-F238E27FC236}">
                <a16:creationId xmlns:a16="http://schemas.microsoft.com/office/drawing/2014/main" id="{C258A661-356C-4C95-BE05-A23C21002F47}"/>
              </a:ext>
            </a:extLst>
          </p:cNvPr>
          <p:cNvSpPr>
            <a:spLocks xmlns:a="http://schemas.openxmlformats.org/drawingml/2006/main" noGrp="1"/>
          </p:cNvSpPr>
          <p:nvPr/>
        </p:nvSpPr>
        <p:spPr>
          <a:xfrm xmlns:a="http://schemas.openxmlformats.org/drawingml/2006/main">
            <a:off x="419100" y="6572250"/>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0">
                <a:solidFill>
                  <a:srgbClr val="52686D"/>
                </a:solidFill>
                <a:latin typeface="Arial"/>
                <a:ea typeface="Arial"/>
                <a:cs typeface="Arial"/>
              </a:defRPr>
            </a:pPr>
            <a:r>
              <a:rPr sz="825" b="0">
                <a:solidFill>
                  <a:srgbClr val="52686D"/>
                </a:solidFill>
                <a:latin typeface="Arial"/>
                <a:ea typeface="Arial"/>
                <a:cs typeface="Arial"/>
              </a:rPr>
              <a:t>Ingeniería en Conectividad y Redes · Martes 6 de octubre de 2026</a:t>
            </a:r>
          </a:p>
        </p:txBody>
      </p:sp>
      <p:sp>
        <p:nvSpPr>
          <p:cNvPr id="5" name="numero">
            <a:extLst xmlns:a="http://schemas.openxmlformats.org/drawingml/2006/main">
              <a:ext uri="{FF2B5EF4-FFF2-40B4-BE49-F238E27FC236}">
                <a16:creationId xmlns:a16="http://schemas.microsoft.com/office/drawing/2014/main" id="{05130802-2BA6-415D-BA98-7EEF4BB0F454}"/>
              </a:ext>
            </a:extLst>
          </p:cNvPr>
          <p:cNvSpPr>
            <a:spLocks xmlns:a="http://schemas.openxmlformats.org/drawingml/2006/main" noGrp="1"/>
          </p:cNvSpPr>
          <p:nvPr/>
        </p:nvSpPr>
        <p:spPr>
          <a:xfrm xmlns:a="http://schemas.openxmlformats.org/drawingml/2006/main">
            <a:off x="11334750" y="65627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1">
                <a:solidFill>
                  <a:srgbClr val="16776B"/>
                </a:solidFill>
                <a:latin typeface="Arial"/>
                <a:ea typeface="Arial"/>
                <a:cs typeface="Arial"/>
              </a:defRPr>
            </a:pPr>
            <a:r>
              <a:rPr sz="900" b="1">
                <a:solidFill>
                  <a:srgbClr val="16776B"/>
                </a:solidFill>
                <a:latin typeface="Arial"/>
                <a:ea typeface="Arial"/>
                <a:cs typeface="Arial"/>
              </a:rPr>
              <a:t>02</a:t>
            </a:r>
          </a:p>
        </p:txBody>
      </p:sp>
      <p:graphicFrame>
        <p:nvGraphicFramePr>
          <p:cNvPr id="28" name=""/>
          <p:cNvGraphicFramePr/>
          <p:nvPr/>
        </p:nvGraphicFramePr>
        <p:xfrm>
          <a:off xmlns:a="http://schemas.openxmlformats.org/drawingml/2006/main" x="419100" y="1085850"/>
          <a:ext xmlns:a="http://schemas.openxmlformats.org/drawingml/2006/main" cx="11353800" cy="2419350"/>
        </p:xfrm>
        <a:graphic xmlns:a="http://schemas.openxmlformats.org/drawingml/2006/main">
          <a:graphicData uri="http://schemas.openxmlformats.org/drawingml/2006/table">
            <a:tbl>
              <a:tblPr firstRow="0" bandRow="0"/>
              <a:tblGrid>
                <a:gridCol w="2476500"/>
                <a:gridCol w="1828800"/>
                <a:gridCol w="5048250"/>
                <a:gridCol w="2000250"/>
              </a:tblGrid>
              <a:tr h="323850">
                <a:tc>
                  <a:txBody>
                    <a:bodyPr>
                      <a:noAutofit/>
                    </a:bodyPr>
                    <a:lstStyle/>
                    <a:p>
                      <a:pPr algn="l">
                        <a:defRPr sz="1050">
                          <a:latin typeface="Arial"/>
                        </a:defRPr>
                      </a:pPr>
                      <a:r>
                        <a:rPr sz="1050" b="1">
                          <a:solidFill>
                            <a:srgbClr val="FFFFFF"/>
                          </a:solidFill>
                          <a:latin typeface="Arial"/>
                          <a:ea typeface="Arial"/>
                          <a:cs typeface="Arial"/>
                        </a:rPr>
                        <a:t>Entregable</a:t>
                      </a:r>
                      <a:endParaRPr sz="1050">
                        <a:latin typeface="Arial"/>
                      </a:endParaRPr>
                    </a:p>
                  </a:txBody>
                  <a:tcPr marL="66675" marR="66675" marT="28575" marB="28575" anchor="ctr">
                    <a:solidFill>
                      <a:srgbClr val="173F3B"/>
                    </a:solidFill>
                  </a:tcPr>
                </a:tc>
                <a:tc>
                  <a:txBody>
                    <a:bodyPr>
                      <a:noAutofit/>
                    </a:bodyPr>
                    <a:lstStyle/>
                    <a:p>
                      <a:pPr algn="l">
                        <a:defRPr sz="1050">
                          <a:latin typeface="Arial"/>
                        </a:defRPr>
                      </a:pPr>
                      <a:r>
                        <a:rPr sz="1050" b="1">
                          <a:solidFill>
                            <a:srgbClr val="FFFFFF"/>
                          </a:solidFill>
                          <a:latin typeface="Arial"/>
                          <a:ea typeface="Arial"/>
                          <a:cs typeface="Arial"/>
                        </a:rPr>
                        <a:t>Tareas asociadas</a:t>
                      </a:r>
                      <a:endParaRPr sz="1050">
                        <a:latin typeface="Arial"/>
                      </a:endParaRPr>
                    </a:p>
                  </a:txBody>
                  <a:tcPr marL="66675" marR="66675" marT="28575" marB="28575" anchor="ctr">
                    <a:solidFill>
                      <a:srgbClr val="173F3B"/>
                    </a:solidFill>
                  </a:tcPr>
                </a:tc>
                <a:tc>
                  <a:txBody>
                    <a:bodyPr>
                      <a:noAutofit/>
                    </a:bodyPr>
                    <a:lstStyle/>
                    <a:p>
                      <a:pPr algn="l">
                        <a:defRPr sz="1050">
                          <a:latin typeface="Arial"/>
                        </a:defRPr>
                      </a:pPr>
                      <a:r>
                        <a:rPr sz="1050" b="1">
                          <a:solidFill>
                            <a:srgbClr val="FFFFFF"/>
                          </a:solidFill>
                          <a:latin typeface="Arial"/>
                          <a:ea typeface="Arial"/>
                          <a:cs typeface="Arial"/>
                        </a:rPr>
                        <a:t>Criterio de aceptación medible</a:t>
                      </a:r>
                      <a:endParaRPr sz="1050">
                        <a:latin typeface="Arial"/>
                      </a:endParaRPr>
                    </a:p>
                  </a:txBody>
                  <a:tcPr marL="66675" marR="66675" marT="28575" marB="28575" anchor="ctr">
                    <a:solidFill>
                      <a:srgbClr val="173F3B"/>
                    </a:solidFill>
                  </a:tcPr>
                </a:tc>
                <a:tc>
                  <a:txBody>
                    <a:bodyPr>
                      <a:noAutofit/>
                    </a:bodyPr>
                    <a:lstStyle/>
                    <a:p>
                      <a:pPr algn="l">
                        <a:defRPr sz="1050">
                          <a:latin typeface="Arial"/>
                        </a:defRPr>
                      </a:pPr>
                      <a:r>
                        <a:rPr sz="1050" b="1">
                          <a:solidFill>
                            <a:srgbClr val="FFFFFF"/>
                          </a:solidFill>
                          <a:latin typeface="Arial"/>
                          <a:ea typeface="Arial"/>
                          <a:cs typeface="Arial"/>
                        </a:rPr>
                        <a:t>Fecha comprometida</a:t>
                      </a:r>
                      <a:endParaRPr sz="1050">
                        <a:latin typeface="Arial"/>
                      </a:endParaRPr>
                    </a:p>
                  </a:txBody>
                  <a:tcPr marL="66675" marR="66675" marT="28575" marB="28575" anchor="ctr">
                    <a:solidFill>
                      <a:srgbClr val="173F3B"/>
                    </a:solidFill>
                  </a:tcPr>
                </a:tc>
              </a:tr>
              <a:tr h="419100">
                <a:tc>
                  <a:txBody>
                    <a:bodyPr>
                      <a:noAutofit/>
                    </a:bodyPr>
                    <a:lstStyle/>
                    <a:p>
                      <a:pPr algn="l">
                        <a:defRPr sz="1050">
                          <a:latin typeface="Arial"/>
                        </a:defRPr>
                      </a:pPr>
                      <a:r>
                        <a:rPr sz="1050" b="1">
                          <a:solidFill>
                            <a:srgbClr val="182C30"/>
                          </a:solidFill>
                          <a:latin typeface="Arial"/>
                          <a:ea typeface="Arial"/>
                          <a:cs typeface="Arial"/>
                        </a:rPr>
                        <a:t>Recolección integral Cisco IOS/XE</a:t>
                      </a:r>
                      <a:endParaRPr sz="1050">
                        <a:latin typeface="Arial"/>
                      </a:endParaRPr>
                    </a:p>
                  </a:txBody>
                  <a:tcPr marL="66675" marR="66675" marT="28575" marB="28575" anchor="ctr">
                    <a:solidFill>
                      <a:srgbClr val="FFFFFF"/>
                    </a:solidFill>
                  </a:tcPr>
                </a:tc>
                <a:tc>
                  <a:txBody>
                    <a:bodyPr>
                      <a:noAutofit/>
                    </a:bodyPr>
                    <a:lstStyle/>
                    <a:p>
                      <a:pPr algn="l">
                        <a:defRPr sz="1050">
                          <a:latin typeface="Arial"/>
                        </a:defRPr>
                      </a:pPr>
                      <a:r>
                        <a:rPr sz="1050" b="0">
                          <a:solidFill>
                            <a:srgbClr val="182C30"/>
                          </a:solidFill>
                          <a:latin typeface="Arial"/>
                          <a:ea typeface="Arial"/>
                          <a:cs typeface="Arial"/>
                        </a:rPr>
                        <a:t>Recolección y parsing</a:t>
                      </a:r>
                      <a:endParaRPr sz="1050">
                        <a:latin typeface="Arial"/>
                      </a:endParaRPr>
                    </a:p>
                  </a:txBody>
                  <a:tcPr marL="66675" marR="66675" marT="28575" marB="28575" anchor="ctr">
                    <a:solidFill>
                      <a:srgbClr val="FFFFFF"/>
                    </a:solidFill>
                  </a:tcPr>
                </a:tc>
                <a:tc>
                  <a:txBody>
                    <a:bodyPr>
                      <a:noAutofit/>
                    </a:bodyPr>
                    <a:lstStyle/>
                    <a:p>
                      <a:pPr algn="l">
                        <a:defRPr sz="1050">
                          <a:latin typeface="Arial"/>
                        </a:defRPr>
                      </a:pPr>
                      <a:r>
                        <a:rPr sz="1050" b="0">
                          <a:solidFill>
                            <a:srgbClr val="182C30"/>
                          </a:solidFill>
                          <a:latin typeface="Arial"/>
                          <a:ea typeface="Arial"/>
                          <a:cs typeface="Arial"/>
                        </a:rPr>
                        <a:t>1 sesión SSH; 8/8 comandos; 8 evidencias; desconexión correcta; 0 comandos de configuración</a:t>
                      </a:r>
                      <a:endParaRPr sz="1050">
                        <a:latin typeface="Arial"/>
                      </a:endParaRPr>
                    </a:p>
                  </a:txBody>
                  <a:tcPr marL="66675" marR="66675" marT="28575" marB="28575" anchor="ctr">
                    <a:solidFill>
                      <a:srgbClr val="FFFFFF"/>
                    </a:solidFill>
                  </a:tcPr>
                </a:tc>
                <a:tc>
                  <a:txBody>
                    <a:bodyPr>
                      <a:noAutofit/>
                    </a:bodyPr>
                    <a:lstStyle/>
                    <a:p>
                      <a:pPr algn="l">
                        <a:defRPr sz="1050">
                          <a:latin typeface="Arial"/>
                        </a:defRPr>
                      </a:pPr>
                      <a:r>
                        <a:rPr sz="1050" b="0">
                          <a:solidFill>
                            <a:srgbClr val="182C30"/>
                          </a:solidFill>
                          <a:latin typeface="Arial"/>
                          <a:ea typeface="Arial"/>
                          <a:cs typeface="Arial"/>
                        </a:rPr>
                        <a:t>S5–S7 (Gantt)</a:t>
                      </a:r>
                      <a:endParaRPr sz="1050">
                        <a:latin typeface="Arial"/>
                      </a:endParaRPr>
                    </a:p>
                  </a:txBody>
                  <a:tcPr marL="66675" marR="66675" marT="28575" marB="28575" anchor="ctr">
                    <a:solidFill>
                      <a:srgbClr val="FFFFFF"/>
                    </a:solidFill>
                  </a:tcPr>
                </a:tc>
              </a:tr>
              <a:tr h="419100">
                <a:tc>
                  <a:txBody>
                    <a:bodyPr>
                      <a:noAutofit/>
                    </a:bodyPr>
                    <a:lstStyle/>
                    <a:p>
                      <a:pPr algn="l">
                        <a:defRPr sz="1050">
                          <a:latin typeface="Arial"/>
                        </a:defRPr>
                      </a:pPr>
                      <a:r>
                        <a:rPr sz="1050" b="1">
                          <a:solidFill>
                            <a:srgbClr val="182C30"/>
                          </a:solidFill>
                          <a:latin typeface="Arial"/>
                          <a:ea typeface="Arial"/>
                          <a:cs typeface="Arial"/>
                        </a:rPr>
                        <a:t>Motor determinista ampliado</a:t>
                      </a:r>
                      <a:endParaRPr sz="1050">
                        <a:latin typeface="Arial"/>
                      </a:endParaRPr>
                    </a:p>
                  </a:txBody>
                  <a:tcPr marL="66675" marR="66675" marT="28575" marB="28575" anchor="ctr">
                    <a:solidFill>
                      <a:srgbClr val="F0F5F5"/>
                    </a:solidFill>
                  </a:tcPr>
                </a:tc>
                <a:tc>
                  <a:txBody>
                    <a:bodyPr>
                      <a:noAutofit/>
                    </a:bodyPr>
                    <a:lstStyle/>
                    <a:p>
                      <a:pPr algn="l">
                        <a:defRPr sz="1050">
                          <a:latin typeface="Arial"/>
                        </a:defRPr>
                      </a:pPr>
                      <a:r>
                        <a:rPr sz="1050" b="0">
                          <a:solidFill>
                            <a:srgbClr val="182C30"/>
                          </a:solidFill>
                          <a:latin typeface="Arial"/>
                          <a:ea typeface="Arial"/>
                          <a:cs typeface="Arial"/>
                        </a:rPr>
                        <a:t>Motor y catálogo</a:t>
                      </a:r>
                      <a:endParaRPr sz="1050">
                        <a:latin typeface="Arial"/>
                      </a:endParaRPr>
                    </a:p>
                  </a:txBody>
                  <a:tcPr marL="66675" marR="66675" marT="28575" marB="28575" anchor="ctr">
                    <a:solidFill>
                      <a:srgbClr val="F0F5F5"/>
                    </a:solidFill>
                  </a:tcPr>
                </a:tc>
                <a:tc>
                  <a:txBody>
                    <a:bodyPr>
                      <a:noAutofit/>
                    </a:bodyPr>
                    <a:lstStyle/>
                    <a:p>
                      <a:pPr algn="l">
                        <a:defRPr sz="1050">
                          <a:latin typeface="Arial"/>
                        </a:defRPr>
                      </a:pPr>
                      <a:r>
                        <a:rPr sz="1050" b="0">
                          <a:solidFill>
                            <a:srgbClr val="182C30"/>
                          </a:solidFill>
                          <a:latin typeface="Arial"/>
                          <a:ea typeface="Arial"/>
                          <a:cs typeface="Arial"/>
                        </a:rPr>
                        <a:t>21 evaluaciones con estados deterministas; Finding exclusivamente desde FAIL</a:t>
                      </a:r>
                      <a:endParaRPr sz="1050">
                        <a:latin typeface="Arial"/>
                      </a:endParaRPr>
                    </a:p>
                  </a:txBody>
                  <a:tcPr marL="66675" marR="66675" marT="28575" marB="28575" anchor="ctr">
                    <a:solidFill>
                      <a:srgbClr val="F0F5F5"/>
                    </a:solidFill>
                  </a:tcPr>
                </a:tc>
                <a:tc>
                  <a:txBody>
                    <a:bodyPr>
                      <a:noAutofit/>
                    </a:bodyPr>
                    <a:lstStyle/>
                    <a:p>
                      <a:pPr algn="l">
                        <a:defRPr sz="1050">
                          <a:latin typeface="Arial"/>
                        </a:defRPr>
                      </a:pPr>
                      <a:r>
                        <a:rPr sz="1050" b="0">
                          <a:solidFill>
                            <a:srgbClr val="182C30"/>
                          </a:solidFill>
                          <a:latin typeface="Arial"/>
                          <a:ea typeface="Arial"/>
                          <a:cs typeface="Arial"/>
                        </a:rPr>
                        <a:t>S6–S10 (Gantt)</a:t>
                      </a:r>
                      <a:endParaRPr sz="1050">
                        <a:latin typeface="Arial"/>
                      </a:endParaRPr>
                    </a:p>
                  </a:txBody>
                  <a:tcPr marL="66675" marR="66675" marT="28575" marB="28575" anchor="ctr">
                    <a:solidFill>
                      <a:srgbClr val="F0F5F5"/>
                    </a:solidFill>
                  </a:tcPr>
                </a:tc>
              </a:tr>
              <a:tr h="419100">
                <a:tc>
                  <a:txBody>
                    <a:bodyPr>
                      <a:noAutofit/>
                    </a:bodyPr>
                    <a:lstStyle/>
                    <a:p>
                      <a:pPr algn="l">
                        <a:defRPr sz="1050">
                          <a:latin typeface="Arial"/>
                        </a:defRPr>
                      </a:pPr>
                      <a:r>
                        <a:rPr sz="1050" b="1">
                          <a:solidFill>
                            <a:srgbClr val="182C30"/>
                          </a:solidFill>
                          <a:latin typeface="Arial"/>
                          <a:ea typeface="Arial"/>
                          <a:cs typeface="Arial"/>
                        </a:rPr>
                        <a:t>Validación automatizada</a:t>
                      </a:r>
                      <a:endParaRPr sz="1050">
                        <a:latin typeface="Arial"/>
                      </a:endParaRPr>
                    </a:p>
                  </a:txBody>
                  <a:tcPr marL="66675" marR="66675" marT="28575" marB="28575" anchor="ctr">
                    <a:solidFill>
                      <a:srgbClr val="FFFFFF"/>
                    </a:solidFill>
                  </a:tcPr>
                </a:tc>
                <a:tc>
                  <a:txBody>
                    <a:bodyPr>
                      <a:noAutofit/>
                    </a:bodyPr>
                    <a:lstStyle/>
                    <a:p>
                      <a:pPr algn="l">
                        <a:defRPr sz="1050">
                          <a:latin typeface="Arial"/>
                        </a:defRPr>
                      </a:pPr>
                      <a:r>
                        <a:rPr sz="1050" b="0">
                          <a:solidFill>
                            <a:srgbClr val="182C30"/>
                          </a:solidFill>
                          <a:latin typeface="Arial"/>
                          <a:ea typeface="Arial"/>
                          <a:cs typeface="Arial"/>
                        </a:rPr>
                        <a:t>Pruebas y validación</a:t>
                      </a:r>
                      <a:endParaRPr sz="1050">
                        <a:latin typeface="Arial"/>
                      </a:endParaRPr>
                    </a:p>
                  </a:txBody>
                  <a:tcPr marL="66675" marR="66675" marT="28575" marB="28575" anchor="ctr">
                    <a:solidFill>
                      <a:srgbClr val="FFFFFF"/>
                    </a:solidFill>
                  </a:tcPr>
                </a:tc>
                <a:tc>
                  <a:txBody>
                    <a:bodyPr>
                      <a:noAutofit/>
                    </a:bodyPr>
                    <a:lstStyle/>
                    <a:p>
                      <a:pPr algn="l">
                        <a:defRPr sz="1050">
                          <a:latin typeface="Arial"/>
                        </a:defRPr>
                      </a:pPr>
                      <a:r>
                        <a:rPr sz="1050" b="0">
                          <a:solidFill>
                            <a:srgbClr val="182C30"/>
                          </a:solidFill>
                          <a:latin typeface="Arial"/>
                          <a:ea typeface="Arial"/>
                          <a:cs typeface="Arial"/>
                        </a:rPr>
                        <a:t>Suite completa sin fallos. Resultado: 703 passed + 1 warning externo</a:t>
                      </a:r>
                      <a:endParaRPr sz="1050">
                        <a:latin typeface="Arial"/>
                      </a:endParaRPr>
                    </a:p>
                  </a:txBody>
                  <a:tcPr marL="66675" marR="66675" marT="28575" marB="28575" anchor="ctr">
                    <a:solidFill>
                      <a:srgbClr val="FFFFFF"/>
                    </a:solidFill>
                  </a:tcPr>
                </a:tc>
                <a:tc>
                  <a:txBody>
                    <a:bodyPr>
                      <a:noAutofit/>
                    </a:bodyPr>
                    <a:lstStyle/>
                    <a:p>
                      <a:pPr algn="l">
                        <a:defRPr sz="1050">
                          <a:latin typeface="Arial"/>
                        </a:defRPr>
                      </a:pPr>
                      <a:r>
                        <a:rPr sz="1050" b="0">
                          <a:solidFill>
                            <a:srgbClr val="182C30"/>
                          </a:solidFill>
                          <a:latin typeface="Arial"/>
                          <a:ea typeface="Arial"/>
                          <a:cs typeface="Arial"/>
                        </a:rPr>
                        <a:t>S11–S15 (Gantt)</a:t>
                      </a:r>
                      <a:endParaRPr sz="1050">
                        <a:latin typeface="Arial"/>
                      </a:endParaRPr>
                    </a:p>
                  </a:txBody>
                  <a:tcPr marL="66675" marR="66675" marT="28575" marB="28575" anchor="ctr">
                    <a:solidFill>
                      <a:srgbClr val="FFFFFF"/>
                    </a:solidFill>
                  </a:tcPr>
                </a:tc>
              </a:tr>
              <a:tr h="419100">
                <a:tc>
                  <a:txBody>
                    <a:bodyPr>
                      <a:noAutofit/>
                    </a:bodyPr>
                    <a:lstStyle/>
                    <a:p>
                      <a:pPr algn="l">
                        <a:defRPr sz="1050">
                          <a:latin typeface="Arial"/>
                        </a:defRPr>
                      </a:pPr>
                      <a:r>
                        <a:rPr sz="1050" b="1">
                          <a:solidFill>
                            <a:srgbClr val="182C30"/>
                          </a:solidFill>
                          <a:latin typeface="Arial"/>
                          <a:ea typeface="Arial"/>
                          <a:cs typeface="Arial"/>
                        </a:rPr>
                        <a:t>Campaña reproducible</a:t>
                      </a:r>
                      <a:endParaRPr sz="1050">
                        <a:latin typeface="Arial"/>
                      </a:endParaRPr>
                    </a:p>
                  </a:txBody>
                  <a:tcPr marL="66675" marR="66675" marT="28575" marB="28575" anchor="ctr">
                    <a:solidFill>
                      <a:srgbClr val="F0F5F5"/>
                    </a:solidFill>
                  </a:tcPr>
                </a:tc>
                <a:tc>
                  <a:txBody>
                    <a:bodyPr>
                      <a:noAutofit/>
                    </a:bodyPr>
                    <a:lstStyle/>
                    <a:p>
                      <a:pPr algn="l">
                        <a:defRPr sz="1050">
                          <a:latin typeface="Arial"/>
                        </a:defRPr>
                      </a:pPr>
                      <a:r>
                        <a:rPr sz="1050" b="0">
                          <a:solidFill>
                            <a:srgbClr val="182C30"/>
                          </a:solidFill>
                          <a:latin typeface="Arial"/>
                          <a:ea typeface="Arial"/>
                          <a:cs typeface="Arial"/>
                        </a:rPr>
                        <a:t>Pruebas y validación</a:t>
                      </a:r>
                      <a:endParaRPr sz="1050">
                        <a:latin typeface="Arial"/>
                      </a:endParaRPr>
                    </a:p>
                  </a:txBody>
                  <a:tcPr marL="66675" marR="66675" marT="28575" marB="28575" anchor="ctr">
                    <a:solidFill>
                      <a:srgbClr val="F0F5F5"/>
                    </a:solidFill>
                  </a:tcPr>
                </a:tc>
                <a:tc>
                  <a:txBody>
                    <a:bodyPr>
                      <a:noAutofit/>
                    </a:bodyPr>
                    <a:lstStyle/>
                    <a:p>
                      <a:pPr algn="l">
                        <a:defRPr sz="1050">
                          <a:latin typeface="Arial"/>
                        </a:defRPr>
                      </a:pPr>
                      <a:r>
                        <a:rPr sz="1050" b="0">
                          <a:solidFill>
                            <a:srgbClr val="182C30"/>
                          </a:solidFill>
                          <a:latin typeface="Arial"/>
                          <a:ea typeface="Arial"/>
                          <a:cs typeface="Arial"/>
                        </a:rPr>
                        <a:t>Esperado = obtenido: 63/63; 0 diferencias; 0 errores de contrato</a:t>
                      </a:r>
                      <a:endParaRPr sz="1050">
                        <a:latin typeface="Arial"/>
                      </a:endParaRPr>
                    </a:p>
                  </a:txBody>
                  <a:tcPr marL="66675" marR="66675" marT="28575" marB="28575" anchor="ctr">
                    <a:solidFill>
                      <a:srgbClr val="F0F5F5"/>
                    </a:solidFill>
                  </a:tcPr>
                </a:tc>
                <a:tc>
                  <a:txBody>
                    <a:bodyPr>
                      <a:noAutofit/>
                    </a:bodyPr>
                    <a:lstStyle/>
                    <a:p>
                      <a:pPr algn="l">
                        <a:defRPr sz="1050">
                          <a:latin typeface="Arial"/>
                        </a:defRPr>
                      </a:pPr>
                      <a:r>
                        <a:rPr sz="1050" b="0">
                          <a:solidFill>
                            <a:srgbClr val="182C30"/>
                          </a:solidFill>
                          <a:latin typeface="Arial"/>
                          <a:ea typeface="Arial"/>
                          <a:cs typeface="Arial"/>
                        </a:rPr>
                        <a:t>S11–S15 (Gantt)</a:t>
                      </a:r>
                      <a:endParaRPr sz="1050">
                        <a:latin typeface="Arial"/>
                      </a:endParaRPr>
                    </a:p>
                  </a:txBody>
                  <a:tcPr marL="66675" marR="66675" marT="28575" marB="28575" anchor="ctr">
                    <a:solidFill>
                      <a:srgbClr val="F0F5F5"/>
                    </a:solidFill>
                  </a:tcPr>
                </a:tc>
              </a:tr>
              <a:tr h="419100">
                <a:tc>
                  <a:txBody>
                    <a:bodyPr>
                      <a:noAutofit/>
                    </a:bodyPr>
                    <a:lstStyle/>
                    <a:p>
                      <a:pPr algn="l">
                        <a:defRPr sz="1050">
                          <a:latin typeface="Arial"/>
                        </a:defRPr>
                      </a:pPr>
                      <a:r>
                        <a:rPr sz="1050" b="1">
                          <a:solidFill>
                            <a:srgbClr val="182C30"/>
                          </a:solidFill>
                          <a:latin typeface="Arial"/>
                          <a:ea typeface="Arial"/>
                          <a:cs typeface="Arial"/>
                        </a:rPr>
                        <a:t>Validación real de laboratorio</a:t>
                      </a:r>
                      <a:endParaRPr sz="1050">
                        <a:latin typeface="Arial"/>
                      </a:endParaRPr>
                    </a:p>
                  </a:txBody>
                  <a:tcPr marL="66675" marR="66675" marT="28575" marB="28575" anchor="ctr">
                    <a:solidFill>
                      <a:srgbClr val="FFFFFF"/>
                    </a:solidFill>
                  </a:tcPr>
                </a:tc>
                <a:tc>
                  <a:txBody>
                    <a:bodyPr>
                      <a:noAutofit/>
                    </a:bodyPr>
                    <a:lstStyle/>
                    <a:p>
                      <a:pPr algn="l">
                        <a:defRPr sz="1050">
                          <a:latin typeface="Arial"/>
                        </a:defRPr>
                      </a:pPr>
                      <a:r>
                        <a:rPr sz="1050" b="0">
                          <a:solidFill>
                            <a:srgbClr val="182C30"/>
                          </a:solidFill>
                          <a:latin typeface="Arial"/>
                          <a:ea typeface="Arial"/>
                          <a:cs typeface="Arial"/>
                        </a:rPr>
                        <a:t>Pruebas y validación</a:t>
                      </a:r>
                      <a:endParaRPr sz="1050">
                        <a:latin typeface="Arial"/>
                      </a:endParaRPr>
                    </a:p>
                  </a:txBody>
                  <a:tcPr marL="66675" marR="66675" marT="28575" marB="28575" anchor="ctr">
                    <a:solidFill>
                      <a:srgbClr val="FFFFFF"/>
                    </a:solidFill>
                  </a:tcPr>
                </a:tc>
                <a:tc>
                  <a:txBody>
                    <a:bodyPr>
                      <a:noAutofit/>
                    </a:bodyPr>
                    <a:lstStyle/>
                    <a:p>
                      <a:pPr algn="l">
                        <a:defRPr sz="1050">
                          <a:latin typeface="Arial"/>
                        </a:defRPr>
                      </a:pPr>
                      <a:r>
                        <a:rPr sz="1050" b="0">
                          <a:solidFill>
                            <a:srgbClr val="182C30"/>
                          </a:solidFill>
                          <a:latin typeface="Arial"/>
                          <a:ea typeface="Arial"/>
                          <a:cs typeface="Arial"/>
                        </a:rPr>
                        <a:t>CSR1000v sin modificación: 1 sesión, 1 desconexión, 8/8 comandos, 8 evidencias, 21 evaluaciones, 3 findings</a:t>
                      </a:r>
                      <a:endParaRPr sz="1050">
                        <a:latin typeface="Arial"/>
                      </a:endParaRPr>
                    </a:p>
                  </a:txBody>
                  <a:tcPr marL="66675" marR="66675" marT="28575" marB="28575" anchor="ctr">
                    <a:solidFill>
                      <a:srgbClr val="FFFFFF"/>
                    </a:solidFill>
                  </a:tcPr>
                </a:tc>
                <a:tc>
                  <a:txBody>
                    <a:bodyPr>
                      <a:noAutofit/>
                    </a:bodyPr>
                    <a:lstStyle/>
                    <a:p>
                      <a:pPr algn="l">
                        <a:defRPr sz="1050">
                          <a:latin typeface="Arial"/>
                        </a:defRPr>
                      </a:pPr>
                      <a:r>
                        <a:rPr sz="1050" b="0">
                          <a:solidFill>
                            <a:srgbClr val="182C30"/>
                          </a:solidFill>
                          <a:latin typeface="Arial"/>
                          <a:ea typeface="Arial"/>
                          <a:cs typeface="Arial"/>
                        </a:rPr>
                        <a:t>S11–S15 (Gantt)</a:t>
                      </a:r>
                      <a:endParaRPr sz="1050">
                        <a:latin typeface="Arial"/>
                      </a:endParaRPr>
                    </a:p>
                  </a:txBody>
                  <a:tcPr marL="66675" marR="66675" marT="28575" marB="28575" anchor="ctr">
                    <a:solidFill>
                      <a:srgbClr val="FFFFFF"/>
                    </a:solidFill>
                  </a:tcPr>
                </a:tc>
              </a:tr>
            </a:tbl>
          </a:graphicData>
        </a:graphic>
      </p:graphicFrame>
      <p:sp>
        <p:nvSpPr>
          <p:cNvPr id="7" name="ajustes-titulo">
            <a:extLst xmlns:a="http://schemas.openxmlformats.org/drawingml/2006/main">
              <a:ext uri="{FF2B5EF4-FFF2-40B4-BE49-F238E27FC236}">
                <a16:creationId xmlns:a16="http://schemas.microsoft.com/office/drawing/2014/main" id="{4ACBD286-1E20-4426-B612-2558C81B8FD3}"/>
              </a:ext>
            </a:extLst>
          </p:cNvPr>
          <p:cNvSpPr>
            <a:spLocks xmlns:a="http://schemas.openxmlformats.org/drawingml/2006/main" noGrp="1"/>
          </p:cNvSpPr>
          <p:nvPr/>
        </p:nvSpPr>
        <p:spPr>
          <a:xfrm xmlns:a="http://schemas.openxmlformats.org/drawingml/2006/main">
            <a:off x="419100" y="3705225"/>
            <a:ext cx="37814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6776B"/>
                </a:solidFill>
                <a:latin typeface="Arial"/>
                <a:ea typeface="Arial"/>
                <a:cs typeface="Arial"/>
              </a:defRPr>
            </a:pPr>
            <a:r>
              <a:rPr sz="1200" b="1">
                <a:solidFill>
                  <a:srgbClr val="16776B"/>
                </a:solidFill>
                <a:latin typeface="Arial"/>
                <a:ea typeface="Arial"/>
                <a:cs typeface="Arial"/>
              </a:rPr>
              <a:t>AJUSTES DESDE FASE 1 / EV1</a:t>
            </a:r>
          </a:p>
        </p:txBody>
      </p:sp>
      <p:sp>
        <p:nvSpPr>
          <p:cNvPr id="8" name="ajuste1">
            <a:extLst xmlns:a="http://schemas.openxmlformats.org/drawingml/2006/main">
              <a:ext uri="{FF2B5EF4-FFF2-40B4-BE49-F238E27FC236}">
                <a16:creationId xmlns:a16="http://schemas.microsoft.com/office/drawing/2014/main" id="{EABA71EE-A22C-48FD-B297-087BE3531C3B}"/>
              </a:ext>
            </a:extLst>
          </p:cNvPr>
          <p:cNvSpPr>
            <a:spLocks xmlns:a="http://schemas.openxmlformats.org/drawingml/2006/main" noGrp="1"/>
          </p:cNvSpPr>
          <p:nvPr/>
        </p:nvSpPr>
        <p:spPr>
          <a:xfrm xmlns:a="http://schemas.openxmlformats.org/drawingml/2006/main">
            <a:off x="419100" y="4095750"/>
            <a:ext cx="3762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82C30"/>
                </a:solidFill>
                <a:latin typeface="Arial"/>
                <a:ea typeface="Arial"/>
                <a:cs typeface="Arial"/>
              </a:defRPr>
            </a:pPr>
            <a:r>
              <a:rPr sz="1725" b="1">
                <a:solidFill>
                  <a:srgbClr val="182C30"/>
                </a:solidFill>
                <a:latin typeface="Arial"/>
                <a:ea typeface="Arial"/>
                <a:cs typeface="Arial"/>
              </a:rPr>
              <a:t>4 → 8 comandos</a:t>
            </a:r>
          </a:p>
        </p:txBody>
      </p:sp>
      <p:sp>
        <p:nvSpPr>
          <p:cNvPr id="9" name="ajuste1-exp">
            <a:extLst xmlns:a="http://schemas.openxmlformats.org/drawingml/2006/main">
              <a:ext uri="{FF2B5EF4-FFF2-40B4-BE49-F238E27FC236}">
                <a16:creationId xmlns:a16="http://schemas.microsoft.com/office/drawing/2014/main" id="{7E5E42B1-A141-4DF2-9655-3663D4A14311}"/>
              </a:ext>
            </a:extLst>
          </p:cNvPr>
          <p:cNvSpPr>
            <a:spLocks xmlns:a="http://schemas.openxmlformats.org/drawingml/2006/main" noGrp="1"/>
          </p:cNvSpPr>
          <p:nvPr/>
        </p:nvSpPr>
        <p:spPr>
          <a:xfrm xmlns:a="http://schemas.openxmlformats.org/drawingml/2006/main">
            <a:off x="419100" y="4391025"/>
            <a:ext cx="36957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63" b="0">
                <a:solidFill>
                  <a:srgbClr val="182C30"/>
                </a:solidFill>
                <a:latin typeface="Arial"/>
                <a:ea typeface="Arial"/>
                <a:cs typeface="Arial"/>
              </a:defRPr>
            </a:pPr>
            <a:r>
              <a:rPr sz="1163" b="0">
                <a:solidFill>
                  <a:srgbClr val="182C30"/>
                </a:solidFill>
                <a:latin typeface="Arial"/>
                <a:ea typeface="Arial"/>
                <a:cs typeface="Arial"/>
              </a:rPr>
              <a:t>Más evidencia operacional: interfaces, ACL, NTP y OSPF.</a:t>
            </a:r>
          </a:p>
        </p:txBody>
      </p:sp>
      <p:sp>
        <p:nvSpPr>
          <p:cNvPr id="10" name="ajuste2">
            <a:extLst xmlns:a="http://schemas.openxmlformats.org/drawingml/2006/main">
              <a:ext uri="{FF2B5EF4-FFF2-40B4-BE49-F238E27FC236}">
                <a16:creationId xmlns:a16="http://schemas.microsoft.com/office/drawing/2014/main" id="{7961E523-A7B6-4B3A-A1A1-7633439EFF77}"/>
              </a:ext>
            </a:extLst>
          </p:cNvPr>
          <p:cNvSpPr>
            <a:spLocks xmlns:a="http://schemas.openxmlformats.org/drawingml/2006/main" noGrp="1"/>
          </p:cNvSpPr>
          <p:nvPr/>
        </p:nvSpPr>
        <p:spPr>
          <a:xfrm xmlns:a="http://schemas.openxmlformats.org/drawingml/2006/main">
            <a:off x="419100" y="4914900"/>
            <a:ext cx="3762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82C30"/>
                </a:solidFill>
                <a:latin typeface="Arial"/>
                <a:ea typeface="Arial"/>
                <a:cs typeface="Arial"/>
              </a:defRPr>
            </a:pPr>
            <a:r>
              <a:rPr sz="1725" b="1">
                <a:solidFill>
                  <a:srgbClr val="182C30"/>
                </a:solidFill>
                <a:latin typeface="Arial"/>
                <a:ea typeface="Arial"/>
                <a:cs typeface="Arial"/>
              </a:rPr>
              <a:t>8 → 21 controles</a:t>
            </a:r>
          </a:p>
        </p:txBody>
      </p:sp>
      <p:sp>
        <p:nvSpPr>
          <p:cNvPr id="11" name="ajuste2-exp">
            <a:extLst xmlns:a="http://schemas.openxmlformats.org/drawingml/2006/main">
              <a:ext uri="{FF2B5EF4-FFF2-40B4-BE49-F238E27FC236}">
                <a16:creationId xmlns:a16="http://schemas.microsoft.com/office/drawing/2014/main" id="{1A25E20F-0592-4147-80EB-9579DEB60EC0}"/>
              </a:ext>
            </a:extLst>
          </p:cNvPr>
          <p:cNvSpPr>
            <a:spLocks xmlns:a="http://schemas.openxmlformats.org/drawingml/2006/main" noGrp="1"/>
          </p:cNvSpPr>
          <p:nvPr/>
        </p:nvSpPr>
        <p:spPr>
          <a:xfrm xmlns:a="http://schemas.openxmlformats.org/drawingml/2006/main">
            <a:off x="419100" y="521970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63" b="0">
                <a:solidFill>
                  <a:srgbClr val="182C30"/>
                </a:solidFill>
                <a:latin typeface="Arial"/>
                <a:ea typeface="Arial"/>
                <a:cs typeface="Arial"/>
              </a:defRPr>
            </a:pPr>
            <a:r>
              <a:rPr sz="1163" b="0">
                <a:solidFill>
                  <a:srgbClr val="182C30"/>
                </a:solidFill>
                <a:latin typeface="Arial"/>
                <a:ea typeface="Arial"/>
                <a:cs typeface="Arial"/>
              </a:rPr>
              <a:t>Cobertura determinista acotada antes de la capa de IA.</a:t>
            </a:r>
          </a:p>
        </p:txBody>
      </p:sp>
      <p:sp>
        <p:nvSpPr>
          <p:cNvPr id="12" name="ajuste3">
            <a:extLst xmlns:a="http://schemas.openxmlformats.org/drawingml/2006/main">
              <a:ext uri="{FF2B5EF4-FFF2-40B4-BE49-F238E27FC236}">
                <a16:creationId xmlns:a16="http://schemas.microsoft.com/office/drawing/2014/main" id="{280F643A-92EC-465D-8E09-7A132CEA12AE}"/>
              </a:ext>
            </a:extLst>
          </p:cNvPr>
          <p:cNvSpPr>
            <a:spLocks xmlns:a="http://schemas.openxmlformats.org/drawingml/2006/main" noGrp="1"/>
          </p:cNvSpPr>
          <p:nvPr/>
        </p:nvSpPr>
        <p:spPr>
          <a:xfrm xmlns:a="http://schemas.openxmlformats.org/drawingml/2006/main">
            <a:off x="419100" y="5762625"/>
            <a:ext cx="3743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 b="1">
                <a:solidFill>
                  <a:srgbClr val="16776B"/>
                </a:solidFill>
                <a:latin typeface="Arial"/>
                <a:ea typeface="Arial"/>
                <a:cs typeface="Arial"/>
              </a:defRPr>
            </a:pPr>
            <a:r>
              <a:rPr sz="1185" b="1">
                <a:solidFill>
                  <a:srgbClr val="16776B"/>
                </a:solidFill>
                <a:latin typeface="Arial"/>
                <a:ea typeface="Arial"/>
                <a:cs typeface="Arial"/>
              </a:rPr>
              <a:t>IA NO IMPLEMENTADA · fuera de EV2</a:t>
            </a:r>
          </a:p>
        </p:txBody>
      </p:sp>
      <p:sp>
        <p:nvSpPr>
          <p:cNvPr id="13" name="ajuste3-exp">
            <a:extLst xmlns:a="http://schemas.openxmlformats.org/drawingml/2006/main">
              <a:ext uri="{FF2B5EF4-FFF2-40B4-BE49-F238E27FC236}">
                <a16:creationId xmlns:a16="http://schemas.microsoft.com/office/drawing/2014/main" id="{E08DE9FD-810A-477D-A917-FD14193F8073}"/>
              </a:ext>
            </a:extLst>
          </p:cNvPr>
          <p:cNvSpPr>
            <a:spLocks xmlns:a="http://schemas.openxmlformats.org/drawingml/2006/main" noGrp="1"/>
          </p:cNvSpPr>
          <p:nvPr/>
        </p:nvSpPr>
        <p:spPr>
          <a:xfrm xmlns:a="http://schemas.openxmlformats.org/drawingml/2006/main">
            <a:off x="419100" y="6076950"/>
            <a:ext cx="3743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73" b="0">
                <a:solidFill>
                  <a:srgbClr val="182C30"/>
                </a:solidFill>
                <a:latin typeface="Arial"/>
                <a:ea typeface="Arial"/>
                <a:cs typeface="Arial"/>
              </a:defRPr>
            </a:pPr>
            <a:r>
              <a:rPr sz="1073" b="0">
                <a:solidFill>
                  <a:srgbClr val="182C30"/>
                </a:solidFill>
                <a:latin typeface="Arial"/>
                <a:ea typeface="Arial"/>
                <a:cs typeface="Arial"/>
              </a:rPr>
              <a:t>EV3: explicar/resumir findings ya validados. Persistencia no implementada.</a:t>
            </a:r>
          </a:p>
        </p:txBody>
      </p:sp>
      <p:sp>
        <p:nvSpPr>
          <p:cNvPr id="14" name="separador">
            <a:extLst xmlns:a="http://schemas.openxmlformats.org/drawingml/2006/main">
              <a:ext uri="{FF2B5EF4-FFF2-40B4-BE49-F238E27FC236}">
                <a16:creationId xmlns:a16="http://schemas.microsoft.com/office/drawing/2014/main" id="{E3671BC4-C038-4C74-A8B8-966C351E3393}"/>
              </a:ext>
            </a:extLst>
          </p:cNvPr>
          <p:cNvSpPr>
            <a:spLocks xmlns:a="http://schemas.openxmlformats.org/drawingml/2006/main" noGrp="1"/>
          </p:cNvSpPr>
          <p:nvPr/>
        </p:nvSpPr>
        <p:spPr>
          <a:xfrm xmlns:a="http://schemas.openxmlformats.org/drawingml/2006/main">
            <a:off x="4457700" y="3743325"/>
            <a:ext cx="0" cy="2686050"/>
          </a:xfrm>
          <a:prstGeom xmlns:a="http://schemas.openxmlformats.org/drawingml/2006/main" prst="line">
            <a:avLst/>
          </a:prstGeom>
          <a:noFill xmlns:a="http://schemas.openxmlformats.org/drawingml/2006/main"/>
          <a:ln xmlns:a="http://schemas.openxmlformats.org/drawingml/2006/main" w="9525">
            <a:solidFill>
              <a:srgbClr val="D4DFE1"/>
            </a:solidFill>
          </a:ln>
        </p:spPr>
      </p:sp>
      <p:sp>
        <p:nvSpPr>
          <p:cNvPr id="15" name="obstaculo">
            <a:extLst xmlns:a="http://schemas.openxmlformats.org/drawingml/2006/main">
              <a:ext uri="{FF2B5EF4-FFF2-40B4-BE49-F238E27FC236}">
                <a16:creationId xmlns:a16="http://schemas.microsoft.com/office/drawing/2014/main" id="{14F532FF-3650-48E6-89C6-415033333B12}"/>
              </a:ext>
            </a:extLst>
          </p:cNvPr>
          <p:cNvSpPr>
            <a:spLocks xmlns:a="http://schemas.openxmlformats.org/drawingml/2006/main" noGrp="1"/>
          </p:cNvSpPr>
          <p:nvPr/>
        </p:nvSpPr>
        <p:spPr>
          <a:xfrm xmlns:a="http://schemas.openxmlformats.org/drawingml/2006/main">
            <a:off x="4695825" y="3705225"/>
            <a:ext cx="706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B43B33"/>
                </a:solidFill>
                <a:latin typeface="Arial"/>
                <a:ea typeface="Arial"/>
                <a:cs typeface="Arial"/>
              </a:defRPr>
            </a:pPr>
            <a:r>
              <a:rPr sz="1350" b="1">
                <a:solidFill>
                  <a:srgbClr val="B43B33"/>
                </a:solidFill>
                <a:latin typeface="Arial"/>
                <a:ea typeface="Arial"/>
                <a:cs typeface="Arial"/>
              </a:rPr>
              <a:t>INCOMPATIBILIDAD SSH/KEX DEL LABORATORIO</a:t>
            </a:r>
          </a:p>
        </p:txBody>
      </p:sp>
      <p:sp>
        <p:nvSpPr>
          <p:cNvPr id="16" name="problema">
            <a:extLst xmlns:a="http://schemas.openxmlformats.org/drawingml/2006/main">
              <a:ext uri="{FF2B5EF4-FFF2-40B4-BE49-F238E27FC236}">
                <a16:creationId xmlns:a16="http://schemas.microsoft.com/office/drawing/2014/main" id="{F4248ED5-F4F8-471E-80C6-4899B1E8DF67}"/>
              </a:ext>
            </a:extLst>
          </p:cNvPr>
          <p:cNvSpPr>
            <a:spLocks xmlns:a="http://schemas.openxmlformats.org/drawingml/2006/main" noGrp="1"/>
          </p:cNvSpPr>
          <p:nvPr/>
        </p:nvSpPr>
        <p:spPr>
          <a:xfrm xmlns:a="http://schemas.openxmlformats.org/drawingml/2006/main">
            <a:off x="4695825" y="4086225"/>
            <a:ext cx="7067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82C30"/>
                </a:solidFill>
                <a:latin typeface="Arial"/>
                <a:ea typeface="Arial"/>
                <a:cs typeface="Arial"/>
              </a:defRPr>
            </a:pPr>
            <a:r>
              <a:rPr sz="1200" b="1">
                <a:solidFill>
                  <a:srgbClr val="182C30"/>
                </a:solidFill>
                <a:latin typeface="Arial"/>
                <a:ea typeface="Arial"/>
                <a:cs typeface="Arial"/>
              </a:rPr>
              <a:t>Problema: Paramiko 5.0.0 falló antes de autenticarse.</a:t>
            </a:r>
          </a:p>
        </p:txBody>
      </p:sp>
      <p:sp>
        <p:nvSpPr>
          <p:cNvPr id="17" name="error">
            <a:extLst xmlns:a="http://schemas.openxmlformats.org/drawingml/2006/main">
              <a:ext uri="{FF2B5EF4-FFF2-40B4-BE49-F238E27FC236}">
                <a16:creationId xmlns:a16="http://schemas.microsoft.com/office/drawing/2014/main" id="{17131F65-D6A5-4EC3-A693-B45E8962604F}"/>
              </a:ext>
            </a:extLst>
          </p:cNvPr>
          <p:cNvSpPr>
            <a:spLocks xmlns:a="http://schemas.openxmlformats.org/drawingml/2006/main" noGrp="1"/>
          </p:cNvSpPr>
          <p:nvPr/>
        </p:nvSpPr>
        <p:spPr>
          <a:xfrm xmlns:a="http://schemas.openxmlformats.org/drawingml/2006/main">
            <a:off x="4695825" y="4343400"/>
            <a:ext cx="7067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63" b="0">
                <a:solidFill>
                  <a:srgbClr val="B43B33"/>
                </a:solidFill>
                <a:latin typeface="Arial"/>
                <a:ea typeface="Arial"/>
                <a:cs typeface="Arial"/>
              </a:defRPr>
            </a:pPr>
            <a:r>
              <a:rPr sz="1163" b="0">
                <a:solidFill>
                  <a:srgbClr val="B43B33"/>
                </a:solidFill>
                <a:latin typeface="Arial"/>
                <a:ea typeface="Arial"/>
                <a:cs typeface="Arial"/>
              </a:rPr>
              <a:t>“Incompatible ssh peer (no acceptable kex algorithm)”</a:t>
            </a:r>
          </a:p>
        </p:txBody>
      </p:sp>
      <p:sp>
        <p:nvSpPr>
          <p:cNvPr id="18" name="diagnostico">
            <a:extLst xmlns:a="http://schemas.openxmlformats.org/drawingml/2006/main">
              <a:ext uri="{FF2B5EF4-FFF2-40B4-BE49-F238E27FC236}">
                <a16:creationId xmlns:a16="http://schemas.microsoft.com/office/drawing/2014/main" id="{58D6012B-BD57-4C0A-A4EA-2CFE00D6D100}"/>
              </a:ext>
            </a:extLst>
          </p:cNvPr>
          <p:cNvSpPr>
            <a:spLocks xmlns:a="http://schemas.openxmlformats.org/drawingml/2006/main" noGrp="1"/>
          </p:cNvSpPr>
          <p:nvPr/>
        </p:nvSpPr>
        <p:spPr>
          <a:xfrm xmlns:a="http://schemas.openxmlformats.org/drawingml/2006/main">
            <a:off x="4695825" y="4638675"/>
            <a:ext cx="7067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63" b="0">
                <a:solidFill>
                  <a:srgbClr val="182C30"/>
                </a:solidFill>
                <a:latin typeface="Arial"/>
                <a:ea typeface="Arial"/>
                <a:cs typeface="Arial"/>
              </a:defRPr>
            </a:pPr>
            <a:r>
              <a:rPr sz="1163" b="0">
                <a:solidFill>
                  <a:srgbClr val="182C30"/>
                </a:solidFill>
                <a:latin typeface="Arial"/>
                <a:ea typeface="Arial"/>
                <a:cs typeface="Arial"/>
              </a:rPr>
              <a:t>Diagnóstico: IOS XE 16.9.5 ofrecía únicamente KEX heredados SHA-1.</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f2df8b4b193444d"/>
          <a:stretch xmlns:a="http://schemas.openxmlformats.org/drawingml/2006/main"/>
        </p:blipFill>
        <p:spPr>
          <a:xfrm xmlns:a="http://schemas.openxmlformats.org/drawingml/2006/main">
            <a:off x="4695825" y="4933950"/>
            <a:ext cx="6667500" cy="190500"/>
          </a:xfrm>
          <a:prstGeom xmlns:a="http://schemas.openxmlformats.org/drawingml/2006/main" prst="rect">
            <a:avLst/>
          </a:prstGeom>
        </p:spPr>
      </p:pic>
      <p:sp>
        <p:nvSpPr>
          <p:cNvPr id="20" name="accion-kex">
            <a:extLst xmlns:a="http://schemas.openxmlformats.org/drawingml/2006/main">
              <a:ext uri="{FF2B5EF4-FFF2-40B4-BE49-F238E27FC236}">
                <a16:creationId xmlns:a16="http://schemas.microsoft.com/office/drawing/2014/main" id="{7A93654C-AED8-495D-A8A8-53EC4AC2BA2E}"/>
              </a:ext>
            </a:extLst>
          </p:cNvPr>
          <p:cNvSpPr>
            <a:spLocks xmlns:a="http://schemas.openxmlformats.org/drawingml/2006/main" noGrp="1"/>
          </p:cNvSpPr>
          <p:nvPr/>
        </p:nvSpPr>
        <p:spPr>
          <a:xfrm xmlns:a="http://schemas.openxmlformats.org/drawingml/2006/main">
            <a:off x="4695825" y="5267325"/>
            <a:ext cx="7067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16776B"/>
                </a:solidFill>
                <a:latin typeface="Arial"/>
                <a:ea typeface="Arial"/>
                <a:cs typeface="Arial"/>
              </a:defRPr>
            </a:pPr>
            <a:r>
              <a:rPr sz="1500" b="1">
                <a:solidFill>
                  <a:srgbClr val="16776B"/>
                </a:solidFill>
                <a:latin typeface="Arial"/>
                <a:ea typeface="Arial"/>
                <a:cs typeface="Arial"/>
              </a:rPr>
              <a:t>Acción: paramiko&gt;=4,&lt;5 · versión validada 4.0.0</a:t>
            </a:r>
          </a:p>
        </p:txBody>
      </p:sp>
      <p:sp>
        <p:nvSpPr>
          <p:cNvPr id="21" name="resultado-kex">
            <a:extLst xmlns:a="http://schemas.openxmlformats.org/drawingml/2006/main">
              <a:ext uri="{FF2B5EF4-FFF2-40B4-BE49-F238E27FC236}">
                <a16:creationId xmlns:a16="http://schemas.microsoft.com/office/drawing/2014/main" id="{77AC9528-65A9-4874-9C68-6FECF145B9C3}"/>
              </a:ext>
            </a:extLst>
          </p:cNvPr>
          <p:cNvSpPr>
            <a:spLocks xmlns:a="http://schemas.openxmlformats.org/drawingml/2006/main" noGrp="1"/>
          </p:cNvSpPr>
          <p:nvPr/>
        </p:nvSpPr>
        <p:spPr>
          <a:xfrm xmlns:a="http://schemas.openxmlformats.org/drawingml/2006/main">
            <a:off x="4695825" y="5591175"/>
            <a:ext cx="706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63" b="0">
                <a:solidFill>
                  <a:srgbClr val="182C30"/>
                </a:solidFill>
                <a:latin typeface="Arial"/>
                <a:ea typeface="Arial"/>
                <a:cs typeface="Arial"/>
              </a:defRPr>
            </a:pPr>
            <a:r>
              <a:rPr sz="1163" b="0">
                <a:solidFill>
                  <a:srgbClr val="182C30"/>
                </a:solidFill>
                <a:latin typeface="Arial"/>
                <a:ea typeface="Arial"/>
                <a:cs typeface="Arial"/>
              </a:rPr>
              <a:t>Resultado: 1 sesión / 1 desconexión · 8/8 comandos · 8 evidencias</a:t>
            </a:r>
          </a:p>
          <a:p xmlns:a="http://schemas.openxmlformats.org/drawingml/2006/main">
            <a:pPr algn="l">
              <a:defRPr sz="1163" b="0">
                <a:solidFill>
                  <a:srgbClr val="182C30"/>
                </a:solidFill>
                <a:latin typeface="Arial"/>
                <a:ea typeface="Arial"/>
                <a:cs typeface="Arial"/>
              </a:defRPr>
            </a:pPr>
            <a:r>
              <a:rPr sz="1163" b="0">
                <a:solidFill>
                  <a:srgbClr val="182C30"/>
                </a:solidFill>
                <a:latin typeface="Arial"/>
                <a:ea typeface="Arial"/>
                <a:cs typeface="Arial"/>
              </a:rPr>
              <a:t>21 evaluaciones · 3 findings · sin modificar el router</a:t>
            </a:r>
          </a:p>
        </p:txBody>
      </p:sp>
      <p:sp>
        <p:nvSpPr>
          <p:cNvPr id="22" name="limite-produccion">
            <a:extLst xmlns:a="http://schemas.openxmlformats.org/drawingml/2006/main">
              <a:ext uri="{FF2B5EF4-FFF2-40B4-BE49-F238E27FC236}">
                <a16:creationId xmlns:a16="http://schemas.microsoft.com/office/drawing/2014/main" id="{40300BBE-A0B6-4CE6-8CDC-F3CB546EB101}"/>
              </a:ext>
            </a:extLst>
          </p:cNvPr>
          <p:cNvSpPr>
            <a:spLocks xmlns:a="http://schemas.openxmlformats.org/drawingml/2006/main" noGrp="1"/>
          </p:cNvSpPr>
          <p:nvPr/>
        </p:nvSpPr>
        <p:spPr>
          <a:xfrm xmlns:a="http://schemas.openxmlformats.org/drawingml/2006/main">
            <a:off x="4695825" y="6153150"/>
            <a:ext cx="7067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8" b="1">
                <a:solidFill>
                  <a:srgbClr val="B43B33"/>
                </a:solidFill>
                <a:latin typeface="Arial"/>
                <a:ea typeface="Arial"/>
                <a:cs typeface="Arial"/>
              </a:defRPr>
            </a:pPr>
            <a:r>
              <a:rPr sz="1058" b="1">
                <a:solidFill>
                  <a:srgbClr val="B43B33"/>
                </a:solidFill>
                <a:latin typeface="Arial"/>
                <a:ea typeface="Arial"/>
                <a:cs typeface="Arial"/>
              </a:rPr>
              <a:t>SOLO LABORATORIO LEGACY. Paramiko 4 / SHA-1 no se recomienda para producción.</a:t>
            </a:r>
          </a:p>
        </p:txBody>
      </p:sp>
    </p:spTree>
    <p:extLst>
      <p:ext uri="{BB962C8B-B14F-4D97-AF65-F5344CB8AC3E}">
        <p14:creationId xmlns:p14="http://schemas.microsoft.com/office/powerpoint/2010/main" val="7079078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seccion">
            <a:extLst xmlns:a="http://schemas.openxmlformats.org/drawingml/2006/main">
              <a:ext uri="{FF2B5EF4-FFF2-40B4-BE49-F238E27FC236}">
                <a16:creationId xmlns:a16="http://schemas.microsoft.com/office/drawing/2014/main" id="{A3041E02-9011-4C94-8B38-2A906F0E6041}"/>
              </a:ext>
            </a:extLst>
          </p:cNvPr>
          <p:cNvSpPr>
            <a:spLocks xmlns:a="http://schemas.openxmlformats.org/drawingml/2006/main" noGrp="1"/>
          </p:cNvSpPr>
          <p:nvPr/>
        </p:nvSpPr>
        <p:spPr>
          <a:xfrm xmlns:a="http://schemas.openxmlformats.org/drawingml/2006/main">
            <a:off x="419100" y="228600"/>
            <a:ext cx="847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16776B"/>
                </a:solidFill>
                <a:latin typeface="Arial"/>
                <a:ea typeface="Arial"/>
                <a:cs typeface="Arial"/>
              </a:defRPr>
            </a:pPr>
            <a:r>
              <a:rPr sz="1050" b="1">
                <a:solidFill>
                  <a:srgbClr val="16776B"/>
                </a:solidFill>
                <a:latin typeface="Arial"/>
                <a:ea typeface="Arial"/>
                <a:cs typeface="Arial"/>
              </a:rPr>
              <a:t>03 · EVIDENCIAS DE AVANCE</a:t>
            </a:r>
          </a:p>
        </p:txBody>
      </p:sp>
      <p:sp>
        <p:nvSpPr>
          <p:cNvPr id="2" name="titulo">
            <a:extLst xmlns:a="http://schemas.openxmlformats.org/drawingml/2006/main">
              <a:ext uri="{FF2B5EF4-FFF2-40B4-BE49-F238E27FC236}">
                <a16:creationId xmlns:a16="http://schemas.microsoft.com/office/drawing/2014/main" id="{158B72E2-AFC3-4D02-80C6-B40D93C7030B}"/>
              </a:ext>
            </a:extLst>
          </p:cNvPr>
          <p:cNvSpPr>
            <a:spLocks xmlns:a="http://schemas.openxmlformats.org/drawingml/2006/main" noGrp="1"/>
          </p:cNvSpPr>
          <p:nvPr/>
        </p:nvSpPr>
        <p:spPr>
          <a:xfrm xmlns:a="http://schemas.openxmlformats.org/drawingml/2006/main">
            <a:off x="419100" y="523875"/>
            <a:ext cx="11353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82C30"/>
                </a:solidFill>
                <a:latin typeface="Arial"/>
                <a:ea typeface="Arial"/>
                <a:cs typeface="Arial"/>
              </a:defRPr>
            </a:pPr>
            <a:r>
              <a:rPr sz="2550" b="1">
                <a:solidFill>
                  <a:srgbClr val="182C30"/>
                </a:solidFill>
                <a:latin typeface="Arial"/>
                <a:ea typeface="Arial"/>
                <a:cs typeface="Arial"/>
              </a:rPr>
              <a:t>Laboratorio Cisco y pruebas de verificación</a:t>
            </a:r>
          </a:p>
        </p:txBody>
      </p:sp>
      <p:sp>
        <p:nvSpPr>
          <p:cNvPr id="3" name="identidad">
            <a:extLst xmlns:a="http://schemas.openxmlformats.org/drawingml/2006/main">
              <a:ext uri="{FF2B5EF4-FFF2-40B4-BE49-F238E27FC236}">
                <a16:creationId xmlns:a16="http://schemas.microsoft.com/office/drawing/2014/main" id="{ADB3A292-08A5-4CC0-A3CB-ADFF801F5F6D}"/>
              </a:ext>
            </a:extLst>
          </p:cNvPr>
          <p:cNvSpPr>
            <a:spLocks xmlns:a="http://schemas.openxmlformats.org/drawingml/2006/main" noGrp="1"/>
          </p:cNvSpPr>
          <p:nvPr/>
        </p:nvSpPr>
        <p:spPr>
          <a:xfrm xmlns:a="http://schemas.openxmlformats.org/drawingml/2006/main">
            <a:off x="9191625" y="228600"/>
            <a:ext cx="2581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75" b="0">
                <a:solidFill>
                  <a:srgbClr val="52686D"/>
                </a:solidFill>
                <a:latin typeface="Arial"/>
                <a:ea typeface="Arial"/>
                <a:cs typeface="Arial"/>
              </a:defRPr>
            </a:pPr>
            <a:r>
              <a:rPr sz="975" b="0">
                <a:solidFill>
                  <a:srgbClr val="52686D"/>
                </a:solidFill>
                <a:latin typeface="Arial"/>
                <a:ea typeface="Arial"/>
                <a:cs typeface="Arial"/>
              </a:rPr>
              <a:t>NetAudit · Evaluación 2 APT</a:t>
            </a:r>
          </a:p>
        </p:txBody>
      </p:sp>
      <p:sp>
        <p:nvSpPr>
          <p:cNvPr id="4" name="pie">
            <a:extLst xmlns:a="http://schemas.openxmlformats.org/drawingml/2006/main">
              <a:ext uri="{FF2B5EF4-FFF2-40B4-BE49-F238E27FC236}">
                <a16:creationId xmlns:a16="http://schemas.microsoft.com/office/drawing/2014/main" id="{02CF13E7-28CA-45CE-B23D-E67FFAFE1095}"/>
              </a:ext>
            </a:extLst>
          </p:cNvPr>
          <p:cNvSpPr>
            <a:spLocks xmlns:a="http://schemas.openxmlformats.org/drawingml/2006/main" noGrp="1"/>
          </p:cNvSpPr>
          <p:nvPr/>
        </p:nvSpPr>
        <p:spPr>
          <a:xfrm xmlns:a="http://schemas.openxmlformats.org/drawingml/2006/main">
            <a:off x="419100" y="6572250"/>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0">
                <a:solidFill>
                  <a:srgbClr val="52686D"/>
                </a:solidFill>
                <a:latin typeface="Arial"/>
                <a:ea typeface="Arial"/>
                <a:cs typeface="Arial"/>
              </a:defRPr>
            </a:pPr>
            <a:r>
              <a:rPr sz="825" b="0">
                <a:solidFill>
                  <a:srgbClr val="52686D"/>
                </a:solidFill>
                <a:latin typeface="Arial"/>
                <a:ea typeface="Arial"/>
                <a:cs typeface="Arial"/>
              </a:rPr>
              <a:t>Ingeniería en Conectividad y Redes · Martes 6 de octubre de 2026</a:t>
            </a:r>
          </a:p>
        </p:txBody>
      </p:sp>
      <p:sp>
        <p:nvSpPr>
          <p:cNvPr id="5" name="numero">
            <a:extLst xmlns:a="http://schemas.openxmlformats.org/drawingml/2006/main">
              <a:ext uri="{FF2B5EF4-FFF2-40B4-BE49-F238E27FC236}">
                <a16:creationId xmlns:a16="http://schemas.microsoft.com/office/drawing/2014/main" id="{CB3A8EE4-7AC8-45DD-AEE9-7A0F5BB44CE2}"/>
              </a:ext>
            </a:extLst>
          </p:cNvPr>
          <p:cNvSpPr>
            <a:spLocks xmlns:a="http://schemas.openxmlformats.org/drawingml/2006/main" noGrp="1"/>
          </p:cNvSpPr>
          <p:nvPr/>
        </p:nvSpPr>
        <p:spPr>
          <a:xfrm xmlns:a="http://schemas.openxmlformats.org/drawingml/2006/main">
            <a:off x="11334750" y="65627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1">
                <a:solidFill>
                  <a:srgbClr val="16776B"/>
                </a:solidFill>
                <a:latin typeface="Arial"/>
                <a:ea typeface="Arial"/>
                <a:cs typeface="Arial"/>
              </a:defRPr>
            </a:pPr>
            <a:r>
              <a:rPr sz="900" b="1">
                <a:solidFill>
                  <a:srgbClr val="16776B"/>
                </a:solidFill>
                <a:latin typeface="Arial"/>
                <a:ea typeface="Arial"/>
                <a:cs typeface="Arial"/>
              </a:rPr>
              <a:t>03</a:t>
            </a:r>
          </a:p>
        </p:txBody>
      </p:sp>
      <p:sp>
        <p:nvSpPr>
          <p:cNvPr id="6" name="flujo-titulo">
            <a:extLst xmlns:a="http://schemas.openxmlformats.org/drawingml/2006/main">
              <a:ext uri="{FF2B5EF4-FFF2-40B4-BE49-F238E27FC236}">
                <a16:creationId xmlns:a16="http://schemas.microsoft.com/office/drawing/2014/main" id="{9BAA54FF-7EB8-4DD7-988A-11F277087FB1}"/>
              </a:ext>
            </a:extLst>
          </p:cNvPr>
          <p:cNvSpPr>
            <a:spLocks xmlns:a="http://schemas.openxmlformats.org/drawingml/2006/main" noGrp="1"/>
          </p:cNvSpPr>
          <p:nvPr/>
        </p:nvSpPr>
        <p:spPr>
          <a:xfrm xmlns:a="http://schemas.openxmlformats.org/drawingml/2006/main">
            <a:off x="419100" y="1152525"/>
            <a:ext cx="22764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13" b="1">
                <a:solidFill>
                  <a:srgbClr val="16776B"/>
                </a:solidFill>
                <a:latin typeface="Arial"/>
                <a:ea typeface="Arial"/>
                <a:cs typeface="Arial"/>
              </a:defRPr>
            </a:pPr>
            <a:r>
              <a:rPr sz="1013" b="1">
                <a:solidFill>
                  <a:srgbClr val="16776B"/>
                </a:solidFill>
                <a:latin typeface="Arial"/>
                <a:ea typeface="Arial"/>
                <a:cs typeface="Arial"/>
              </a:rPr>
              <a:t>FLUJO REAL · SOLO LECTURA</a:t>
            </a:r>
          </a:p>
        </p:txBody>
      </p:sp>
      <p:sp>
        <p:nvSpPr>
          <p:cNvPr id="7" name="netaudit">
            <a:extLst xmlns:a="http://schemas.openxmlformats.org/drawingml/2006/main">
              <a:ext uri="{FF2B5EF4-FFF2-40B4-BE49-F238E27FC236}">
                <a16:creationId xmlns:a16="http://schemas.microsoft.com/office/drawing/2014/main" id="{6FEF3D9E-3529-496F-9613-AECBF1FFE44F}"/>
              </a:ext>
            </a:extLst>
          </p:cNvPr>
          <p:cNvSpPr>
            <a:spLocks xmlns:a="http://schemas.openxmlformats.org/drawingml/2006/main" noGrp="1"/>
          </p:cNvSpPr>
          <p:nvPr/>
        </p:nvSpPr>
        <p:spPr>
          <a:xfrm xmlns:a="http://schemas.openxmlformats.org/drawingml/2006/main">
            <a:off x="419100" y="1552575"/>
            <a:ext cx="219075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16776B"/>
            </a:solidFill>
          </a:ln>
        </p:spPr>
      </p:sp>
      <p:sp>
        <p:nvSpPr>
          <p:cNvPr id="8" name="netaudit-titulo">
            <a:extLst xmlns:a="http://schemas.openxmlformats.org/drawingml/2006/main">
              <a:ext uri="{FF2B5EF4-FFF2-40B4-BE49-F238E27FC236}">
                <a16:creationId xmlns:a16="http://schemas.microsoft.com/office/drawing/2014/main" id="{538B5E4F-1E77-422C-A24F-E611CBD95C47}"/>
              </a:ext>
            </a:extLst>
          </p:cNvPr>
          <p:cNvSpPr>
            <a:spLocks xmlns:a="http://schemas.openxmlformats.org/drawingml/2006/main" noGrp="1"/>
          </p:cNvSpPr>
          <p:nvPr/>
        </p:nvSpPr>
        <p:spPr>
          <a:xfrm xmlns:a="http://schemas.openxmlformats.org/drawingml/2006/main">
            <a:off x="533400" y="1619250"/>
            <a:ext cx="1962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182C30"/>
                </a:solidFill>
                <a:latin typeface="Arial"/>
                <a:ea typeface="Arial"/>
                <a:cs typeface="Arial"/>
              </a:defRPr>
            </a:pPr>
            <a:r>
              <a:rPr sz="1275" b="1">
                <a:solidFill>
                  <a:srgbClr val="182C30"/>
                </a:solidFill>
                <a:latin typeface="Arial"/>
                <a:ea typeface="Arial"/>
                <a:cs typeface="Arial"/>
              </a:rPr>
              <a:t>NetAudit</a:t>
            </a:r>
          </a:p>
        </p:txBody>
      </p:sp>
      <p:sp>
        <p:nvSpPr>
          <p:cNvPr id="9" name="netaudit-sub">
            <a:extLst xmlns:a="http://schemas.openxmlformats.org/drawingml/2006/main">
              <a:ext uri="{FF2B5EF4-FFF2-40B4-BE49-F238E27FC236}">
                <a16:creationId xmlns:a16="http://schemas.microsoft.com/office/drawing/2014/main" id="{8CB3222A-37A0-47D6-A6B9-B92F3FD42E56}"/>
              </a:ext>
            </a:extLst>
          </p:cNvPr>
          <p:cNvSpPr>
            <a:spLocks xmlns:a="http://schemas.openxmlformats.org/drawingml/2006/main" noGrp="1"/>
          </p:cNvSpPr>
          <p:nvPr/>
        </p:nvSpPr>
        <p:spPr>
          <a:xfrm xmlns:a="http://schemas.openxmlformats.org/drawingml/2006/main">
            <a:off x="533400" y="1847850"/>
            <a:ext cx="1962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23" b="0">
                <a:solidFill>
                  <a:srgbClr val="52686D"/>
                </a:solidFill>
                <a:latin typeface="Arial"/>
                <a:ea typeface="Arial"/>
                <a:cs typeface="Arial"/>
              </a:defRPr>
            </a:pPr>
            <a:r>
              <a:rPr sz="923" b="0">
                <a:solidFill>
                  <a:srgbClr val="52686D"/>
                </a:solidFill>
                <a:latin typeface="Arial"/>
                <a:ea typeface="Arial"/>
                <a:cs typeface="Arial"/>
              </a:rPr>
              <a:t>Python / Netmiko</a:t>
            </a:r>
          </a:p>
        </p:txBody>
      </p:sp>
      <p:sp>
        <p:nvSpPr>
          <p:cNvPr id="10" name="ssh-flujo">
            <a:extLst xmlns:a="http://schemas.openxmlformats.org/drawingml/2006/main">
              <a:ext uri="{FF2B5EF4-FFF2-40B4-BE49-F238E27FC236}">
                <a16:creationId xmlns:a16="http://schemas.microsoft.com/office/drawing/2014/main" id="{E2417026-735A-4D7C-A967-7E64BD23C35C}"/>
              </a:ext>
            </a:extLst>
          </p:cNvPr>
          <p:cNvSpPr>
            <a:spLocks xmlns:a="http://schemas.openxmlformats.org/drawingml/2006/main" noGrp="1"/>
          </p:cNvSpPr>
          <p:nvPr/>
        </p:nvSpPr>
        <p:spPr>
          <a:xfrm xmlns:a="http://schemas.openxmlformats.org/drawingml/2006/main">
            <a:off x="419100" y="220980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78" b="1">
                <a:solidFill>
                  <a:srgbClr val="16776B"/>
                </a:solidFill>
                <a:latin typeface="Arial"/>
                <a:ea typeface="Arial"/>
                <a:cs typeface="Arial"/>
              </a:defRPr>
            </a:pPr>
            <a:r>
              <a:rPr sz="878" b="1">
                <a:solidFill>
                  <a:srgbClr val="16776B"/>
                </a:solidFill>
                <a:latin typeface="Arial"/>
                <a:ea typeface="Arial"/>
                <a:cs typeface="Arial"/>
              </a:rPr>
              <a:t>SSH solo lectura</a:t>
            </a:r>
          </a:p>
          <a:p xmlns:a="http://schemas.openxmlformats.org/drawingml/2006/main">
            <a:pPr algn="l">
              <a:defRPr sz="878" b="1">
                <a:solidFill>
                  <a:srgbClr val="16776B"/>
                </a:solidFill>
                <a:latin typeface="Arial"/>
                <a:ea typeface="Arial"/>
                <a:cs typeface="Arial"/>
              </a:defRPr>
            </a:pPr>
            <a:r>
              <a:rPr sz="878" b="1">
                <a:solidFill>
                  <a:srgbClr val="16776B"/>
                </a:solidFill>
                <a:latin typeface="Arial"/>
                <a:ea typeface="Arial"/>
                <a:cs typeface="Arial"/>
              </a:rPr>
              <a:t>8 comandos</a:t>
            </a:r>
          </a:p>
        </p:txBody>
      </p:sp>
      <p:sp>
        <p:nvSpPr>
          <p:cNvPr id="11" name="csr1000v">
            <a:extLst xmlns:a="http://schemas.openxmlformats.org/drawingml/2006/main">
              <a:ext uri="{FF2B5EF4-FFF2-40B4-BE49-F238E27FC236}">
                <a16:creationId xmlns:a16="http://schemas.microsoft.com/office/drawing/2014/main" id="{5785205E-7097-437A-8F76-3D0D406E9AC1}"/>
              </a:ext>
            </a:extLst>
          </p:cNvPr>
          <p:cNvSpPr>
            <a:spLocks xmlns:a="http://schemas.openxmlformats.org/drawingml/2006/main" noGrp="1"/>
          </p:cNvSpPr>
          <p:nvPr/>
        </p:nvSpPr>
        <p:spPr>
          <a:xfrm xmlns:a="http://schemas.openxmlformats.org/drawingml/2006/main">
            <a:off x="419100" y="2609850"/>
            <a:ext cx="21907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16776B"/>
            </a:solidFill>
          </a:ln>
        </p:spPr>
      </p:sp>
      <p:sp>
        <p:nvSpPr>
          <p:cNvPr id="12" name="csr1000v-titulo">
            <a:extLst xmlns:a="http://schemas.openxmlformats.org/drawingml/2006/main">
              <a:ext uri="{FF2B5EF4-FFF2-40B4-BE49-F238E27FC236}">
                <a16:creationId xmlns:a16="http://schemas.microsoft.com/office/drawing/2014/main" id="{370ACD0B-7FBF-4EE7-A858-7A149700D3D5}"/>
              </a:ext>
            </a:extLst>
          </p:cNvPr>
          <p:cNvSpPr>
            <a:spLocks xmlns:a="http://schemas.openxmlformats.org/drawingml/2006/main" noGrp="1"/>
          </p:cNvSpPr>
          <p:nvPr/>
        </p:nvSpPr>
        <p:spPr>
          <a:xfrm xmlns:a="http://schemas.openxmlformats.org/drawingml/2006/main">
            <a:off x="533400" y="2676525"/>
            <a:ext cx="1962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182C30"/>
                </a:solidFill>
                <a:latin typeface="Arial"/>
                <a:ea typeface="Arial"/>
                <a:cs typeface="Arial"/>
              </a:defRPr>
            </a:pPr>
            <a:r>
              <a:rPr sz="1275" b="1">
                <a:solidFill>
                  <a:srgbClr val="182C30"/>
                </a:solidFill>
                <a:latin typeface="Arial"/>
                <a:ea typeface="Arial"/>
                <a:cs typeface="Arial"/>
              </a:rPr>
              <a:t>CSR1000v</a:t>
            </a:r>
          </a:p>
        </p:txBody>
      </p:sp>
      <p:sp>
        <p:nvSpPr>
          <p:cNvPr id="13" name="csr1000v-sub">
            <a:extLst xmlns:a="http://schemas.openxmlformats.org/drawingml/2006/main">
              <a:ext uri="{FF2B5EF4-FFF2-40B4-BE49-F238E27FC236}">
                <a16:creationId xmlns:a16="http://schemas.microsoft.com/office/drawing/2014/main" id="{37821266-B950-487F-8189-89AA00B57B62}"/>
              </a:ext>
            </a:extLst>
          </p:cNvPr>
          <p:cNvSpPr>
            <a:spLocks xmlns:a="http://schemas.openxmlformats.org/drawingml/2006/main" noGrp="1"/>
          </p:cNvSpPr>
          <p:nvPr/>
        </p:nvSpPr>
        <p:spPr>
          <a:xfrm xmlns:a="http://schemas.openxmlformats.org/drawingml/2006/main">
            <a:off x="533400" y="2905125"/>
            <a:ext cx="1962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23" b="0">
                <a:solidFill>
                  <a:srgbClr val="52686D"/>
                </a:solidFill>
                <a:latin typeface="Arial"/>
                <a:ea typeface="Arial"/>
                <a:cs typeface="Arial"/>
              </a:defRPr>
            </a:pPr>
            <a:r>
              <a:rPr sz="923" b="0">
                <a:solidFill>
                  <a:srgbClr val="52686D"/>
                </a:solidFill>
                <a:latin typeface="Arial"/>
                <a:ea typeface="Arial"/>
                <a:cs typeface="Arial"/>
              </a:rPr>
              <a:t>Cisco IOS XE 16.9.5</a:t>
            </a:r>
          </a:p>
          <a:p xmlns:a="http://schemas.openxmlformats.org/drawingml/2006/main">
            <a:pPr algn="l">
              <a:defRPr sz="923" b="0">
                <a:solidFill>
                  <a:srgbClr val="52686D"/>
                </a:solidFill>
                <a:latin typeface="Arial"/>
                <a:ea typeface="Arial"/>
                <a:cs typeface="Arial"/>
              </a:defRPr>
            </a:pPr>
            <a:r>
              <a:rPr sz="923" b="0">
                <a:solidFill>
                  <a:srgbClr val="52686D"/>
                </a:solidFill>
                <a:latin typeface="Arial"/>
                <a:ea typeface="Arial"/>
                <a:cs typeface="Arial"/>
              </a:rPr>
              <a:t>Oracle VirtualBox</a:t>
            </a:r>
          </a:p>
        </p:txBody>
      </p:sp>
      <p:sp>
        <p:nvSpPr>
          <p:cNvPr id="14" name="parsing">
            <a:extLst xmlns:a="http://schemas.openxmlformats.org/drawingml/2006/main">
              <a:ext uri="{FF2B5EF4-FFF2-40B4-BE49-F238E27FC236}">
                <a16:creationId xmlns:a16="http://schemas.microsoft.com/office/drawing/2014/main" id="{EA497502-AF4B-4893-B239-96AEE48EFA17}"/>
              </a:ext>
            </a:extLst>
          </p:cNvPr>
          <p:cNvSpPr>
            <a:spLocks xmlns:a="http://schemas.openxmlformats.org/drawingml/2006/main" noGrp="1"/>
          </p:cNvSpPr>
          <p:nvPr/>
        </p:nvSpPr>
        <p:spPr>
          <a:xfrm xmlns:a="http://schemas.openxmlformats.org/drawingml/2006/main">
            <a:off x="419100" y="3705225"/>
            <a:ext cx="21907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16776B"/>
            </a:solidFill>
          </a:ln>
        </p:spPr>
      </p:sp>
      <p:sp>
        <p:nvSpPr>
          <p:cNvPr id="15" name="parsing-titulo">
            <a:extLst xmlns:a="http://schemas.openxmlformats.org/drawingml/2006/main">
              <a:ext uri="{FF2B5EF4-FFF2-40B4-BE49-F238E27FC236}">
                <a16:creationId xmlns:a16="http://schemas.microsoft.com/office/drawing/2014/main" id="{724009F3-6020-423F-99AC-EA87C1B877F3}"/>
              </a:ext>
            </a:extLst>
          </p:cNvPr>
          <p:cNvSpPr>
            <a:spLocks xmlns:a="http://schemas.openxmlformats.org/drawingml/2006/main" noGrp="1"/>
          </p:cNvSpPr>
          <p:nvPr/>
        </p:nvSpPr>
        <p:spPr>
          <a:xfrm xmlns:a="http://schemas.openxmlformats.org/drawingml/2006/main">
            <a:off x="533400" y="3771900"/>
            <a:ext cx="1962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182C30"/>
                </a:solidFill>
                <a:latin typeface="Arial"/>
                <a:ea typeface="Arial"/>
                <a:cs typeface="Arial"/>
              </a:defRPr>
            </a:pPr>
            <a:r>
              <a:rPr sz="1275" b="1">
                <a:solidFill>
                  <a:srgbClr val="182C30"/>
                </a:solidFill>
                <a:latin typeface="Arial"/>
                <a:ea typeface="Arial"/>
                <a:cs typeface="Arial"/>
              </a:rPr>
              <a:t>Parsing</a:t>
            </a:r>
          </a:p>
        </p:txBody>
      </p:sp>
      <p:sp>
        <p:nvSpPr>
          <p:cNvPr id="16" name="parsing-sub">
            <a:extLst xmlns:a="http://schemas.openxmlformats.org/drawingml/2006/main">
              <a:ext uri="{FF2B5EF4-FFF2-40B4-BE49-F238E27FC236}">
                <a16:creationId xmlns:a16="http://schemas.microsoft.com/office/drawing/2014/main" id="{9EA920FE-A86A-45EA-AC04-AEA004FA1533}"/>
              </a:ext>
            </a:extLst>
          </p:cNvPr>
          <p:cNvSpPr>
            <a:spLocks xmlns:a="http://schemas.openxmlformats.org/drawingml/2006/main" noGrp="1"/>
          </p:cNvSpPr>
          <p:nvPr/>
        </p:nvSpPr>
        <p:spPr>
          <a:xfrm xmlns:a="http://schemas.openxmlformats.org/drawingml/2006/main">
            <a:off x="533400" y="4000500"/>
            <a:ext cx="1962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23" b="0">
                <a:solidFill>
                  <a:srgbClr val="52686D"/>
                </a:solidFill>
                <a:latin typeface="Arial"/>
                <a:ea typeface="Arial"/>
                <a:cs typeface="Arial"/>
              </a:defRPr>
            </a:pPr>
            <a:r>
              <a:rPr sz="923" b="0">
                <a:solidFill>
                  <a:srgbClr val="52686D"/>
                </a:solidFill>
                <a:latin typeface="Arial"/>
                <a:ea typeface="Arial"/>
                <a:cs typeface="Arial"/>
              </a:rPr>
              <a:t>CiscoConfParse / TextFSM</a:t>
            </a:r>
          </a:p>
          <a:p xmlns:a="http://schemas.openxmlformats.org/drawingml/2006/main">
            <a:pPr algn="l">
              <a:defRPr sz="923" b="0">
                <a:solidFill>
                  <a:srgbClr val="52686D"/>
                </a:solidFill>
                <a:latin typeface="Arial"/>
                <a:ea typeface="Arial"/>
                <a:cs typeface="Arial"/>
              </a:defRPr>
            </a:pPr>
            <a:r>
              <a:rPr sz="923" b="0">
                <a:solidFill>
                  <a:srgbClr val="52686D"/>
                </a:solidFill>
                <a:latin typeface="Arial"/>
                <a:ea typeface="Arial"/>
                <a:cs typeface="Arial"/>
              </a:rPr>
              <a:t>7 contextos operacionales</a:t>
            </a:r>
          </a:p>
        </p:txBody>
      </p:sp>
      <p:sp>
        <p:nvSpPr>
          <p:cNvPr id="17" name="motor">
            <a:extLst xmlns:a="http://schemas.openxmlformats.org/drawingml/2006/main">
              <a:ext uri="{FF2B5EF4-FFF2-40B4-BE49-F238E27FC236}">
                <a16:creationId xmlns:a16="http://schemas.microsoft.com/office/drawing/2014/main" id="{B5CC25B7-E483-4CAA-8AB2-EE22DBA3B569}"/>
              </a:ext>
            </a:extLst>
          </p:cNvPr>
          <p:cNvSpPr>
            <a:spLocks xmlns:a="http://schemas.openxmlformats.org/drawingml/2006/main" noGrp="1"/>
          </p:cNvSpPr>
          <p:nvPr/>
        </p:nvSpPr>
        <p:spPr>
          <a:xfrm xmlns:a="http://schemas.openxmlformats.org/drawingml/2006/main">
            <a:off x="419100" y="4619625"/>
            <a:ext cx="219075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16776B"/>
            </a:solidFill>
          </a:ln>
        </p:spPr>
      </p:sp>
      <p:sp>
        <p:nvSpPr>
          <p:cNvPr id="18" name="motor-titulo">
            <a:extLst xmlns:a="http://schemas.openxmlformats.org/drawingml/2006/main">
              <a:ext uri="{FF2B5EF4-FFF2-40B4-BE49-F238E27FC236}">
                <a16:creationId xmlns:a16="http://schemas.microsoft.com/office/drawing/2014/main" id="{2DFF1E39-1BB4-413B-8F86-4973C8FD2A51}"/>
              </a:ext>
            </a:extLst>
          </p:cNvPr>
          <p:cNvSpPr>
            <a:spLocks xmlns:a="http://schemas.openxmlformats.org/drawingml/2006/main" noGrp="1"/>
          </p:cNvSpPr>
          <p:nvPr/>
        </p:nvSpPr>
        <p:spPr>
          <a:xfrm xmlns:a="http://schemas.openxmlformats.org/drawingml/2006/main">
            <a:off x="533400" y="4686300"/>
            <a:ext cx="1962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182C30"/>
                </a:solidFill>
                <a:latin typeface="Arial"/>
                <a:ea typeface="Arial"/>
                <a:cs typeface="Arial"/>
              </a:defRPr>
            </a:pPr>
            <a:r>
              <a:rPr sz="1275" b="1">
                <a:solidFill>
                  <a:srgbClr val="182C30"/>
                </a:solidFill>
                <a:latin typeface="Arial"/>
                <a:ea typeface="Arial"/>
                <a:cs typeface="Arial"/>
              </a:rPr>
              <a:t>Motor determinista</a:t>
            </a:r>
          </a:p>
        </p:txBody>
      </p:sp>
      <p:sp>
        <p:nvSpPr>
          <p:cNvPr id="19" name="motor-sub">
            <a:extLst xmlns:a="http://schemas.openxmlformats.org/drawingml/2006/main">
              <a:ext uri="{FF2B5EF4-FFF2-40B4-BE49-F238E27FC236}">
                <a16:creationId xmlns:a16="http://schemas.microsoft.com/office/drawing/2014/main" id="{74594B86-3213-47C1-BAD5-9B9663AAC898}"/>
              </a:ext>
            </a:extLst>
          </p:cNvPr>
          <p:cNvSpPr>
            <a:spLocks xmlns:a="http://schemas.openxmlformats.org/drawingml/2006/main" noGrp="1"/>
          </p:cNvSpPr>
          <p:nvPr/>
        </p:nvSpPr>
        <p:spPr>
          <a:xfrm xmlns:a="http://schemas.openxmlformats.org/drawingml/2006/main">
            <a:off x="533400" y="4914900"/>
            <a:ext cx="1962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23" b="0">
                <a:solidFill>
                  <a:srgbClr val="52686D"/>
                </a:solidFill>
                <a:latin typeface="Arial"/>
                <a:ea typeface="Arial"/>
                <a:cs typeface="Arial"/>
              </a:defRPr>
            </a:pPr>
            <a:r>
              <a:rPr sz="923" b="0">
                <a:solidFill>
                  <a:srgbClr val="52686D"/>
                </a:solidFill>
                <a:latin typeface="Arial"/>
                <a:ea typeface="Arial"/>
                <a:cs typeface="Arial"/>
              </a:rPr>
              <a:t>21 controles</a:t>
            </a:r>
          </a:p>
        </p:txBody>
      </p:sp>
      <p:cxnSp>
        <p:nvCxnSpPr>
          <p:cNvPr id="70" name=""/>
          <p:cNvCxnSpPr>
            <a:stCxn xmlns:a="http://schemas.openxmlformats.org/drawingml/2006/main" id="7" idx="2"/>
            <a:endCxn xmlns:a="http://schemas.openxmlformats.org/drawingml/2006/main" id="11" idx="0"/>
          </p:cNvCxnSpPr>
          <p:nvPr/>
        </p:nvCxnSpPr>
        <p:spPr>
          <a:xfrm xmlns:a="http://schemas.openxmlformats.org/drawingml/2006/main">
            <a:off x="1514475" y="2114550"/>
            <a:ext cx="0" cy="495300"/>
          </a:xfrm>
          <a:prstGeom xmlns:a="http://schemas.openxmlformats.org/drawingml/2006/main" prst="straightConnector1">
            <a:avLst/>
          </a:prstGeom>
          <a:ln xmlns:a="http://schemas.openxmlformats.org/drawingml/2006/main" w="16193">
            <a:solidFill>
              <a:srgbClr val="16776B"/>
            </a:solidFill>
            <a:tailEnd type="arrow" w="med" len="med"/>
          </a:ln>
        </p:spPr>
      </p:cxnSp>
      <p:cxnSp>
        <p:nvCxnSpPr>
          <p:cNvPr id="71" name=""/>
          <p:cNvCxnSpPr>
            <a:stCxn xmlns:a="http://schemas.openxmlformats.org/drawingml/2006/main" id="11" idx="2"/>
            <a:endCxn xmlns:a="http://schemas.openxmlformats.org/drawingml/2006/main" id="14" idx="0"/>
          </p:cNvCxnSpPr>
          <p:nvPr/>
        </p:nvCxnSpPr>
        <p:spPr>
          <a:xfrm xmlns:a="http://schemas.openxmlformats.org/drawingml/2006/main">
            <a:off x="1514475" y="3333750"/>
            <a:ext cx="0" cy="371475"/>
          </a:xfrm>
          <a:prstGeom xmlns:a="http://schemas.openxmlformats.org/drawingml/2006/main" prst="straightConnector1">
            <a:avLst/>
          </a:prstGeom>
          <a:ln xmlns:a="http://schemas.openxmlformats.org/drawingml/2006/main" w="16193">
            <a:solidFill>
              <a:srgbClr val="16776B"/>
            </a:solidFill>
            <a:tailEnd type="arrow" w="med" len="med"/>
          </a:ln>
        </p:spPr>
      </p:cxnSp>
      <p:cxnSp>
        <p:nvCxnSpPr>
          <p:cNvPr id="72" name=""/>
          <p:cNvCxnSpPr>
            <a:stCxn xmlns:a="http://schemas.openxmlformats.org/drawingml/2006/main" id="14" idx="2"/>
            <a:endCxn xmlns:a="http://schemas.openxmlformats.org/drawingml/2006/main" id="17" idx="0"/>
          </p:cNvCxnSpPr>
          <p:nvPr/>
        </p:nvCxnSpPr>
        <p:spPr>
          <a:xfrm xmlns:a="http://schemas.openxmlformats.org/drawingml/2006/main">
            <a:off x="1514475" y="4429125"/>
            <a:ext cx="0" cy="190500"/>
          </a:xfrm>
          <a:prstGeom xmlns:a="http://schemas.openxmlformats.org/drawingml/2006/main" prst="straightConnector1">
            <a:avLst/>
          </a:prstGeom>
          <a:ln xmlns:a="http://schemas.openxmlformats.org/drawingml/2006/main" w="16193">
            <a:solidFill>
              <a:srgbClr val="16776B"/>
            </a:solidFill>
            <a:tailEnd type="arrow" w="med" len="med"/>
          </a:ln>
        </p:spPr>
      </p:cxnSp>
      <p:sp>
        <p:nvSpPr>
          <p:cNvPr id="23" name="salida">
            <a:extLst xmlns:a="http://schemas.openxmlformats.org/drawingml/2006/main">
              <a:ext uri="{FF2B5EF4-FFF2-40B4-BE49-F238E27FC236}">
                <a16:creationId xmlns:a16="http://schemas.microsoft.com/office/drawing/2014/main" id="{D0096F96-DCA8-407B-8510-0E353C3B7A9E}"/>
              </a:ext>
            </a:extLst>
          </p:cNvPr>
          <p:cNvSpPr>
            <a:spLocks xmlns:a="http://schemas.openxmlformats.org/drawingml/2006/main" noGrp="1"/>
          </p:cNvSpPr>
          <p:nvPr/>
        </p:nvSpPr>
        <p:spPr>
          <a:xfrm xmlns:a="http://schemas.openxmlformats.org/drawingml/2006/main">
            <a:off x="419100" y="55054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60" b="1">
                <a:solidFill>
                  <a:srgbClr val="16776B"/>
                </a:solidFill>
                <a:latin typeface="Arial"/>
                <a:ea typeface="Arial"/>
                <a:cs typeface="Arial"/>
              </a:defRPr>
            </a:pPr>
            <a:r>
              <a:rPr sz="1260" b="1">
                <a:solidFill>
                  <a:srgbClr val="16776B"/>
                </a:solidFill>
                <a:latin typeface="Arial"/>
                <a:ea typeface="Arial"/>
                <a:cs typeface="Arial"/>
              </a:rPr>
              <a:t>Evaluaciones + Findings</a:t>
            </a:r>
          </a:p>
        </p:txBody>
      </p:sp>
      <p:sp>
        <p:nvSpPr>
          <p:cNvPr id="24" name="salida-conector">
            <a:extLst xmlns:a="http://schemas.openxmlformats.org/drawingml/2006/main">
              <a:ext uri="{FF2B5EF4-FFF2-40B4-BE49-F238E27FC236}">
                <a16:creationId xmlns:a16="http://schemas.microsoft.com/office/drawing/2014/main" id="{7DFD909D-D914-452C-8528-B49850F04898}"/>
              </a:ext>
            </a:extLst>
          </p:cNvPr>
          <p:cNvSpPr>
            <a:spLocks xmlns:a="http://schemas.openxmlformats.org/drawingml/2006/main" noGrp="1"/>
          </p:cNvSpPr>
          <p:nvPr/>
        </p:nvSpPr>
        <p:spPr>
          <a:xfrm xmlns:a="http://schemas.openxmlformats.org/drawingml/2006/main">
            <a:off x="1514475" y="5191125"/>
            <a:ext cx="0" cy="228600"/>
          </a:xfrm>
          <a:prstGeom xmlns:a="http://schemas.openxmlformats.org/drawingml/2006/main" prst="line">
            <a:avLst/>
          </a:prstGeom>
          <a:noFill xmlns:a="http://schemas.openxmlformats.org/drawingml/2006/main"/>
          <a:ln xmlns:a="http://schemas.openxmlformats.org/drawingml/2006/main" w="16193">
            <a:solidFill>
              <a:srgbClr val="16776B"/>
            </a:solidFill>
          </a:ln>
        </p:spPr>
      </p:sp>
      <p:sp>
        <p:nvSpPr>
          <p:cNvPr id="25" name="sin-ia">
            <a:extLst xmlns:a="http://schemas.openxmlformats.org/drawingml/2006/main">
              <a:ext uri="{FF2B5EF4-FFF2-40B4-BE49-F238E27FC236}">
                <a16:creationId xmlns:a16="http://schemas.microsoft.com/office/drawing/2014/main" id="{0564441B-F6A4-4AC4-A39F-0DF49C8A9A63}"/>
              </a:ext>
            </a:extLst>
          </p:cNvPr>
          <p:cNvSpPr>
            <a:spLocks xmlns:a="http://schemas.openxmlformats.org/drawingml/2006/main" noGrp="1"/>
          </p:cNvSpPr>
          <p:nvPr/>
        </p:nvSpPr>
        <p:spPr>
          <a:xfrm xmlns:a="http://schemas.openxmlformats.org/drawingml/2006/main">
            <a:off x="419100" y="58578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3" b="0">
                <a:solidFill>
                  <a:srgbClr val="52686D"/>
                </a:solidFill>
                <a:latin typeface="Arial"/>
                <a:ea typeface="Arial"/>
                <a:cs typeface="Arial"/>
              </a:defRPr>
            </a:pPr>
            <a:r>
              <a:rPr sz="923" b="0">
                <a:solidFill>
                  <a:srgbClr val="52686D"/>
                </a:solidFill>
                <a:latin typeface="Arial"/>
                <a:ea typeface="Arial"/>
                <a:cs typeface="Arial"/>
              </a:rPr>
              <a:t>Sin IA en el flujo actual</a:t>
            </a:r>
          </a:p>
        </p:txBody>
      </p:sp>
      <p:sp>
        <p:nvSpPr>
          <p:cNvPr id="26" name="divisor-flujo">
            <a:extLst xmlns:a="http://schemas.openxmlformats.org/drawingml/2006/main">
              <a:ext uri="{FF2B5EF4-FFF2-40B4-BE49-F238E27FC236}">
                <a16:creationId xmlns:a16="http://schemas.microsoft.com/office/drawing/2014/main" id="{BD672416-02AF-49A9-8A95-EF4CB7A4C65C}"/>
              </a:ext>
            </a:extLst>
          </p:cNvPr>
          <p:cNvSpPr>
            <a:spLocks xmlns:a="http://schemas.openxmlformats.org/drawingml/2006/main" noGrp="1"/>
          </p:cNvSpPr>
          <p:nvPr/>
        </p:nvSpPr>
        <p:spPr>
          <a:xfrm xmlns:a="http://schemas.openxmlformats.org/drawingml/2006/main">
            <a:off x="2847975" y="1152525"/>
            <a:ext cx="0" cy="4895850"/>
          </a:xfrm>
          <a:prstGeom xmlns:a="http://schemas.openxmlformats.org/drawingml/2006/main" prst="line">
            <a:avLst/>
          </a:prstGeom>
          <a:noFill xmlns:a="http://schemas.openxmlformats.org/drawingml/2006/main"/>
          <a:ln xmlns:a="http://schemas.openxmlformats.org/drawingml/2006/main" w="9525">
            <a:solidFill>
              <a:srgbClr val="D4DFE1"/>
            </a:solidFill>
          </a:ln>
        </p:spPr>
      </p:sp>
      <p:sp>
        <p:nvSpPr>
          <p:cNvPr id="27" name="prueba1-titulo">
            <a:extLst xmlns:a="http://schemas.openxmlformats.org/drawingml/2006/main">
              <a:ext uri="{FF2B5EF4-FFF2-40B4-BE49-F238E27FC236}">
                <a16:creationId xmlns:a16="http://schemas.microsoft.com/office/drawing/2014/main" id="{5C5C2AFB-3721-4415-A3B5-A9FEF1BC1BE9}"/>
              </a:ext>
            </a:extLst>
          </p:cNvPr>
          <p:cNvSpPr>
            <a:spLocks xmlns:a="http://schemas.openxmlformats.org/drawingml/2006/main" noGrp="1"/>
          </p:cNvSpPr>
          <p:nvPr/>
        </p:nvSpPr>
        <p:spPr>
          <a:xfrm xmlns:a="http://schemas.openxmlformats.org/drawingml/2006/main">
            <a:off x="3124200" y="1152525"/>
            <a:ext cx="862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16776B"/>
                </a:solidFill>
                <a:latin typeface="Arial"/>
                <a:ea typeface="Arial"/>
                <a:cs typeface="Arial"/>
              </a:defRPr>
            </a:pPr>
            <a:r>
              <a:rPr sz="1275" b="1">
                <a:solidFill>
                  <a:srgbClr val="16776B"/>
                </a:solidFill>
                <a:latin typeface="Arial"/>
                <a:ea typeface="Arial"/>
                <a:cs typeface="Arial"/>
              </a:rPr>
              <a:t>PRUEBA 1 · RECOLECCIÓN REAL</a:t>
            </a:r>
          </a:p>
        </p:txBody>
      </p:sp>
      <p:sp>
        <p:nvSpPr>
          <p:cNvPr id="28" name="prueba1">
            <a:extLst xmlns:a="http://schemas.openxmlformats.org/drawingml/2006/main">
              <a:ext uri="{FF2B5EF4-FFF2-40B4-BE49-F238E27FC236}">
                <a16:creationId xmlns:a16="http://schemas.microsoft.com/office/drawing/2014/main" id="{43988063-3A6B-4CB3-9738-0B4DE559665F}"/>
              </a:ext>
            </a:extLst>
          </p:cNvPr>
          <p:cNvSpPr>
            <a:spLocks xmlns:a="http://schemas.openxmlformats.org/drawingml/2006/main" noGrp="1"/>
          </p:cNvSpPr>
          <p:nvPr/>
        </p:nvSpPr>
        <p:spPr>
          <a:xfrm xmlns:a="http://schemas.openxmlformats.org/drawingml/2006/main">
            <a:off x="3124200" y="1485900"/>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77" b="0">
                <a:solidFill>
                  <a:srgbClr val="182C30"/>
                </a:solidFill>
                <a:latin typeface="Arial"/>
                <a:ea typeface="Arial"/>
                <a:cs typeface="Arial"/>
              </a:defRPr>
            </a:pPr>
            <a:r>
              <a:rPr sz="1177" b="0">
                <a:solidFill>
                  <a:srgbClr val="182C30"/>
                </a:solidFill>
                <a:latin typeface="Arial"/>
                <a:ea typeface="Arial"/>
                <a:cs typeface="Arial"/>
              </a:rPr>
              <a:t>Prueba: análisis integral por SSH contra CSR1000v.</a:t>
            </a:r>
          </a:p>
          <a:p xmlns:a="http://schemas.openxmlformats.org/drawingml/2006/main">
            <a:pPr algn="l">
              <a:defRPr sz="1177" b="0">
                <a:solidFill>
                  <a:srgbClr val="182C30"/>
                </a:solidFill>
                <a:latin typeface="Arial"/>
                <a:ea typeface="Arial"/>
                <a:cs typeface="Arial"/>
              </a:defRPr>
            </a:pPr>
            <a:r>
              <a:rPr sz="1177" b="0">
                <a:solidFill>
                  <a:srgbClr val="182C30"/>
                </a:solidFill>
                <a:latin typeface="Arial"/>
                <a:ea typeface="Arial"/>
                <a:cs typeface="Arial"/>
              </a:rPr>
              <a:t>Esperado: 1 sesión, 8 consultas autorizadas y desconexión.</a:t>
            </a:r>
          </a:p>
        </p:txBody>
      </p:sp>
      <p:sp>
        <p:nvSpPr>
          <p:cNvPr id="29" name="prueba1-obtenido">
            <a:extLst xmlns:a="http://schemas.openxmlformats.org/drawingml/2006/main">
              <a:ext uri="{FF2B5EF4-FFF2-40B4-BE49-F238E27FC236}">
                <a16:creationId xmlns:a16="http://schemas.microsoft.com/office/drawing/2014/main" id="{47815DE9-B938-4B1E-9F75-36C3BF030BD9}"/>
              </a:ext>
            </a:extLst>
          </p:cNvPr>
          <p:cNvSpPr>
            <a:spLocks xmlns:a="http://schemas.openxmlformats.org/drawingml/2006/main" noGrp="1"/>
          </p:cNvSpPr>
          <p:nvPr/>
        </p:nvSpPr>
        <p:spPr>
          <a:xfrm xmlns:a="http://schemas.openxmlformats.org/drawingml/2006/main">
            <a:off x="3124200" y="2085975"/>
            <a:ext cx="4191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82C30"/>
                </a:solidFill>
                <a:latin typeface="Arial"/>
                <a:ea typeface="Arial"/>
                <a:cs typeface="Arial"/>
              </a:defRPr>
            </a:pPr>
            <a:r>
              <a:rPr sz="1650" b="1">
                <a:solidFill>
                  <a:srgbClr val="182C30"/>
                </a:solidFill>
                <a:latin typeface="Arial"/>
                <a:ea typeface="Arial"/>
                <a:cs typeface="Arial"/>
              </a:rPr>
              <a:t>Obtenido: 1 sesión + 1 desconexión</a:t>
            </a:r>
          </a:p>
          <a:p xmlns:a="http://schemas.openxmlformats.org/drawingml/2006/main">
            <a:pPr algn="l">
              <a:defRPr sz="1650" b="1">
                <a:solidFill>
                  <a:srgbClr val="182C30"/>
                </a:solidFill>
                <a:latin typeface="Arial"/>
                <a:ea typeface="Arial"/>
                <a:cs typeface="Arial"/>
              </a:defRPr>
            </a:pPr>
            <a:r>
              <a:rPr sz="1650" b="1">
                <a:solidFill>
                  <a:srgbClr val="182C30"/>
                </a:solidFill>
                <a:latin typeface="Arial"/>
                <a:ea typeface="Arial"/>
                <a:cs typeface="Arial"/>
              </a:rPr>
              <a:t>8/8 comandos · 8 evidencias</a:t>
            </a:r>
          </a:p>
        </p:txBody>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680a44a8e5574a05"/>
          <a:stretch xmlns:a="http://schemas.openxmlformats.org/drawingml/2006/main"/>
        </p:blipFill>
        <p:spPr>
          <a:xfrm xmlns:a="http://schemas.openxmlformats.org/drawingml/2006/main">
            <a:off x="7543800" y="1485900"/>
            <a:ext cx="4057650" cy="1200150"/>
          </a:xfrm>
          <a:prstGeom xmlns:a="http://schemas.openxmlformats.org/drawingml/2006/main" prst="rect">
            <a:avLst/>
          </a:prstGeom>
        </p:spPr>
      </p:pic>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73ef0a4d20414d35"/>
          <a:stretch xmlns:a="http://schemas.openxmlformats.org/drawingml/2006/main"/>
        </p:blipFill>
        <p:spPr>
          <a:xfrm xmlns:a="http://schemas.openxmlformats.org/drawingml/2006/main">
            <a:off x="7543800" y="2734771"/>
            <a:ext cx="4057650" cy="264507"/>
          </a:xfrm>
          <a:prstGeom xmlns:a="http://schemas.openxmlformats.org/drawingml/2006/main" prst="rect">
            <a:avLst/>
          </a:prstGeom>
        </p:spPr>
      </p:pic>
      <p:sp>
        <p:nvSpPr>
          <p:cNvPr id="32" name="divisor1">
            <a:extLst xmlns:a="http://schemas.openxmlformats.org/drawingml/2006/main">
              <a:ext uri="{FF2B5EF4-FFF2-40B4-BE49-F238E27FC236}">
                <a16:creationId xmlns:a16="http://schemas.microsoft.com/office/drawing/2014/main" id="{087172CF-4227-45C1-91BE-42543C5910B0}"/>
              </a:ext>
            </a:extLst>
          </p:cNvPr>
          <p:cNvSpPr>
            <a:spLocks xmlns:a="http://schemas.openxmlformats.org/drawingml/2006/main" noGrp="1"/>
          </p:cNvSpPr>
          <p:nvPr/>
        </p:nvSpPr>
        <p:spPr>
          <a:xfrm xmlns:a="http://schemas.openxmlformats.org/drawingml/2006/main">
            <a:off x="3124200" y="3086100"/>
            <a:ext cx="8648700" cy="0"/>
          </a:xfrm>
          <a:prstGeom xmlns:a="http://schemas.openxmlformats.org/drawingml/2006/main" prst="line">
            <a:avLst/>
          </a:prstGeom>
          <a:noFill xmlns:a="http://schemas.openxmlformats.org/drawingml/2006/main"/>
          <a:ln xmlns:a="http://schemas.openxmlformats.org/drawingml/2006/main" w="9525">
            <a:solidFill>
              <a:srgbClr val="D4DFE1"/>
            </a:solidFill>
          </a:ln>
        </p:spPr>
      </p:sp>
      <p:sp>
        <p:nvSpPr>
          <p:cNvPr id="33" name="prueba2-titulo">
            <a:extLst xmlns:a="http://schemas.openxmlformats.org/drawingml/2006/main">
              <a:ext uri="{FF2B5EF4-FFF2-40B4-BE49-F238E27FC236}">
                <a16:creationId xmlns:a16="http://schemas.microsoft.com/office/drawing/2014/main" id="{E3952CA9-C2A2-4599-82FB-2C90472C8AFF}"/>
              </a:ext>
            </a:extLst>
          </p:cNvPr>
          <p:cNvSpPr>
            <a:spLocks xmlns:a="http://schemas.openxmlformats.org/drawingml/2006/main" noGrp="1"/>
          </p:cNvSpPr>
          <p:nvPr/>
        </p:nvSpPr>
        <p:spPr>
          <a:xfrm xmlns:a="http://schemas.openxmlformats.org/drawingml/2006/main">
            <a:off x="3124200" y="3200400"/>
            <a:ext cx="862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16776B"/>
                </a:solidFill>
                <a:latin typeface="Arial"/>
                <a:ea typeface="Arial"/>
                <a:cs typeface="Arial"/>
              </a:defRPr>
            </a:pPr>
            <a:r>
              <a:rPr sz="1275" b="1">
                <a:solidFill>
                  <a:srgbClr val="16776B"/>
                </a:solidFill>
                <a:latin typeface="Arial"/>
                <a:ea typeface="Arial"/>
                <a:cs typeface="Arial"/>
              </a:rPr>
              <a:t>PRUEBA 2 · MOTOR SOBRE ROUTER REAL</a:t>
            </a:r>
          </a:p>
        </p:txBody>
      </p:sp>
      <p:sp>
        <p:nvSpPr>
          <p:cNvPr id="34" name="prueba2">
            <a:extLst xmlns:a="http://schemas.openxmlformats.org/drawingml/2006/main">
              <a:ext uri="{FF2B5EF4-FFF2-40B4-BE49-F238E27FC236}">
                <a16:creationId xmlns:a16="http://schemas.microsoft.com/office/drawing/2014/main" id="{95C22B4A-53BF-46A1-9655-E37D458E28B3}"/>
              </a:ext>
            </a:extLst>
          </p:cNvPr>
          <p:cNvSpPr>
            <a:spLocks xmlns:a="http://schemas.openxmlformats.org/drawingml/2006/main" noGrp="1"/>
          </p:cNvSpPr>
          <p:nvPr/>
        </p:nvSpPr>
        <p:spPr>
          <a:xfrm xmlns:a="http://schemas.openxmlformats.org/drawingml/2006/main">
            <a:off x="3124200" y="3514725"/>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77" b="0">
                <a:solidFill>
                  <a:srgbClr val="182C30"/>
                </a:solidFill>
                <a:latin typeface="Arial"/>
                <a:ea typeface="Arial"/>
                <a:cs typeface="Arial"/>
              </a:defRPr>
            </a:pPr>
            <a:r>
              <a:rPr sz="1177" b="0">
                <a:solidFill>
                  <a:srgbClr val="182C30"/>
                </a:solidFill>
                <a:latin typeface="Arial"/>
                <a:ea typeface="Arial"/>
                <a:cs typeface="Arial"/>
              </a:rPr>
              <a:t>Prueba: procesar las 8 evidencias reales.</a:t>
            </a:r>
          </a:p>
          <a:p xmlns:a="http://schemas.openxmlformats.org/drawingml/2006/main">
            <a:pPr algn="l">
              <a:defRPr sz="1177" b="0">
                <a:solidFill>
                  <a:srgbClr val="182C30"/>
                </a:solidFill>
                <a:latin typeface="Arial"/>
                <a:ea typeface="Arial"/>
                <a:cs typeface="Arial"/>
              </a:defRPr>
            </a:pPr>
            <a:r>
              <a:rPr sz="1177" b="0">
                <a:solidFill>
                  <a:srgbClr val="182C30"/>
                </a:solidFill>
                <a:latin typeface="Arial"/>
                <a:ea typeface="Arial"/>
                <a:cs typeface="Arial"/>
              </a:rPr>
              <a:t>Esperado: 21 evaluaciones; Finding solo ante FAIL.</a:t>
            </a:r>
          </a:p>
        </p:txBody>
      </p:sp>
      <p:sp>
        <p:nvSpPr>
          <p:cNvPr id="35" name="prueba2-obtenido">
            <a:extLst xmlns:a="http://schemas.openxmlformats.org/drawingml/2006/main">
              <a:ext uri="{FF2B5EF4-FFF2-40B4-BE49-F238E27FC236}">
                <a16:creationId xmlns:a16="http://schemas.microsoft.com/office/drawing/2014/main" id="{A7D52BB2-8292-42EE-98B5-E3A90FEDC0CA}"/>
              </a:ext>
            </a:extLst>
          </p:cNvPr>
          <p:cNvSpPr>
            <a:spLocks xmlns:a="http://schemas.openxmlformats.org/drawingml/2006/main" noGrp="1"/>
          </p:cNvSpPr>
          <p:nvPr/>
        </p:nvSpPr>
        <p:spPr>
          <a:xfrm xmlns:a="http://schemas.openxmlformats.org/drawingml/2006/main">
            <a:off x="3124200" y="40767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82C30"/>
                </a:solidFill>
                <a:latin typeface="Arial"/>
                <a:ea typeface="Arial"/>
                <a:cs typeface="Arial"/>
              </a:defRPr>
            </a:pPr>
            <a:r>
              <a:rPr sz="1650" b="1">
                <a:solidFill>
                  <a:srgbClr val="182C30"/>
                </a:solidFill>
                <a:latin typeface="Arial"/>
                <a:ea typeface="Arial"/>
                <a:cs typeface="Arial"/>
              </a:rPr>
              <a:t>Obtenido: 21 evaluaciones</a:t>
            </a:r>
          </a:p>
          <a:p xmlns:a="http://schemas.openxmlformats.org/drawingml/2006/main">
            <a:pPr algn="l">
              <a:defRPr sz="1650" b="1">
                <a:solidFill>
                  <a:srgbClr val="182C30"/>
                </a:solidFill>
                <a:latin typeface="Arial"/>
                <a:ea typeface="Arial"/>
                <a:cs typeface="Arial"/>
              </a:defRPr>
            </a:pPr>
            <a:r>
              <a:rPr sz="1650" b="1">
                <a:solidFill>
                  <a:srgbClr val="182C30"/>
                </a:solidFill>
                <a:latin typeface="Arial"/>
                <a:ea typeface="Arial"/>
                <a:cs typeface="Arial"/>
              </a:rPr>
              <a:t>3 FAIL = 3 findings</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11c7b674eb9b44d0"/>
          <a:stretch xmlns:a="http://schemas.openxmlformats.org/drawingml/2006/main"/>
        </p:blipFill>
        <p:spPr>
          <a:xfrm xmlns:a="http://schemas.openxmlformats.org/drawingml/2006/main">
            <a:off x="7572375" y="3457575"/>
            <a:ext cx="4000500" cy="381000"/>
          </a:xfrm>
          <a:prstGeom xmlns:a="http://schemas.openxmlformats.org/drawingml/2006/main" prst="rect">
            <a:avLst/>
          </a:prstGeom>
        </p:spPr>
      </p:pic>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c5c7a341529f4de7"/>
          <a:stretch xmlns:a="http://schemas.openxmlformats.org/drawingml/2006/main"/>
        </p:blipFill>
        <p:spPr>
          <a:xfrm xmlns:a="http://schemas.openxmlformats.org/drawingml/2006/main">
            <a:off x="7543800" y="3905382"/>
            <a:ext cx="4057650" cy="199761"/>
          </a:xfrm>
          <a:prstGeom xmlns:a="http://schemas.openxmlformats.org/drawingml/2006/main" prst="rect">
            <a:avLst/>
          </a:prstGeom>
        </p:spPr>
      </p:pic>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4255e7621e444d28"/>
          <a:stretch xmlns:a="http://schemas.openxmlformats.org/drawingml/2006/main"/>
        </p:blipFill>
        <p:spPr>
          <a:xfrm xmlns:a="http://schemas.openxmlformats.org/drawingml/2006/main">
            <a:off x="7543800" y="4114844"/>
            <a:ext cx="4057650" cy="337097"/>
          </a:xfrm>
          <a:prstGeom xmlns:a="http://schemas.openxmlformats.org/drawingml/2006/main" prst="rect">
            <a:avLst/>
          </a:prstGeom>
        </p:spPr>
      </p:pic>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ead7098fd728468d"/>
          <a:stretch xmlns:a="http://schemas.openxmlformats.org/drawingml/2006/main"/>
        </p:blipFill>
        <p:spPr>
          <a:xfrm xmlns:a="http://schemas.openxmlformats.org/drawingml/2006/main">
            <a:off x="7543800" y="4495881"/>
            <a:ext cx="4057650" cy="212246"/>
          </a:xfrm>
          <a:prstGeom xmlns:a="http://schemas.openxmlformats.org/drawingml/2006/main" prst="rect">
            <a:avLst/>
          </a:prstGeom>
        </p:spPr>
      </p:pic>
      <p:sp>
        <p:nvSpPr>
          <p:cNvPr id="40" name="extractos">
            <a:extLst xmlns:a="http://schemas.openxmlformats.org/drawingml/2006/main">
              <a:ext uri="{FF2B5EF4-FFF2-40B4-BE49-F238E27FC236}">
                <a16:creationId xmlns:a16="http://schemas.microsoft.com/office/drawing/2014/main" id="{D25EA84B-1147-4ADE-8C13-70818227DAE3}"/>
              </a:ext>
            </a:extLst>
          </p:cNvPr>
          <p:cNvSpPr>
            <a:spLocks xmlns:a="http://schemas.openxmlformats.org/drawingml/2006/main" noGrp="1"/>
          </p:cNvSpPr>
          <p:nvPr/>
        </p:nvSpPr>
        <p:spPr>
          <a:xfrm xmlns:a="http://schemas.openxmlformats.org/drawingml/2006/main">
            <a:off x="7543800" y="4724400"/>
            <a:ext cx="405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03" b="0">
                <a:solidFill>
                  <a:srgbClr val="52686D"/>
                </a:solidFill>
                <a:latin typeface="Arial"/>
                <a:ea typeface="Arial"/>
                <a:cs typeface="Arial"/>
              </a:defRPr>
            </a:pPr>
            <a:r>
              <a:rPr sz="803" b="0">
                <a:solidFill>
                  <a:srgbClr val="52686D"/>
                </a:solidFill>
                <a:latin typeface="Arial"/>
                <a:ea typeface="Arial"/>
                <a:cs typeface="Arial"/>
              </a:rPr>
              <a:t>Extractos independientes de las filas FAIL reales</a:t>
            </a:r>
          </a:p>
        </p:txBody>
      </p:sp>
      <p:sp>
        <p:nvSpPr>
          <p:cNvPr id="41" name="divisor2">
            <a:extLst xmlns:a="http://schemas.openxmlformats.org/drawingml/2006/main">
              <a:ext uri="{FF2B5EF4-FFF2-40B4-BE49-F238E27FC236}">
                <a16:creationId xmlns:a16="http://schemas.microsoft.com/office/drawing/2014/main" id="{F2A2569D-FBC9-4B15-A18E-DA2AEAD4AA41}"/>
              </a:ext>
            </a:extLst>
          </p:cNvPr>
          <p:cNvSpPr>
            <a:spLocks xmlns:a="http://schemas.openxmlformats.org/drawingml/2006/main" noGrp="1"/>
          </p:cNvSpPr>
          <p:nvPr/>
        </p:nvSpPr>
        <p:spPr>
          <a:xfrm xmlns:a="http://schemas.openxmlformats.org/drawingml/2006/main">
            <a:off x="3124200" y="4914900"/>
            <a:ext cx="8648700" cy="0"/>
          </a:xfrm>
          <a:prstGeom xmlns:a="http://schemas.openxmlformats.org/drawingml/2006/main" prst="line">
            <a:avLst/>
          </a:prstGeom>
          <a:noFill xmlns:a="http://schemas.openxmlformats.org/drawingml/2006/main"/>
          <a:ln xmlns:a="http://schemas.openxmlformats.org/drawingml/2006/main" w="9525">
            <a:solidFill>
              <a:srgbClr val="D4DFE1"/>
            </a:solidFill>
          </a:ln>
        </p:spPr>
      </p:sp>
      <p:sp>
        <p:nvSpPr>
          <p:cNvPr id="42" name="prueba3-titulo">
            <a:extLst xmlns:a="http://schemas.openxmlformats.org/drawingml/2006/main">
              <a:ext uri="{FF2B5EF4-FFF2-40B4-BE49-F238E27FC236}">
                <a16:creationId xmlns:a16="http://schemas.microsoft.com/office/drawing/2014/main" id="{91F0CB56-B2CD-4D90-9B6E-06F28832E829}"/>
              </a:ext>
            </a:extLst>
          </p:cNvPr>
          <p:cNvSpPr>
            <a:spLocks xmlns:a="http://schemas.openxmlformats.org/drawingml/2006/main" noGrp="1"/>
          </p:cNvSpPr>
          <p:nvPr/>
        </p:nvSpPr>
        <p:spPr>
          <a:xfrm xmlns:a="http://schemas.openxmlformats.org/drawingml/2006/main">
            <a:off x="3124200" y="50387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38" b="1">
                <a:solidFill>
                  <a:srgbClr val="16776B"/>
                </a:solidFill>
                <a:latin typeface="Arial"/>
                <a:ea typeface="Arial"/>
                <a:cs typeface="Arial"/>
              </a:defRPr>
            </a:pPr>
            <a:r>
              <a:rPr sz="1238" b="1">
                <a:solidFill>
                  <a:srgbClr val="16776B"/>
                </a:solidFill>
                <a:latin typeface="Arial"/>
                <a:ea typeface="Arial"/>
                <a:cs typeface="Arial"/>
              </a:rPr>
              <a:t>PRUEBA 3 · VALIDACIÓN REPRODUCIBLE</a:t>
            </a:r>
          </a:p>
        </p:txBody>
      </p:sp>
      <p:sp>
        <p:nvSpPr>
          <p:cNvPr id="43" name="prueba3">
            <a:extLst xmlns:a="http://schemas.openxmlformats.org/drawingml/2006/main">
              <a:ext uri="{FF2B5EF4-FFF2-40B4-BE49-F238E27FC236}">
                <a16:creationId xmlns:a16="http://schemas.microsoft.com/office/drawing/2014/main" id="{463A108C-4BF6-4D4A-BCD7-EBF0B79B5297}"/>
              </a:ext>
            </a:extLst>
          </p:cNvPr>
          <p:cNvSpPr>
            <a:spLocks xmlns:a="http://schemas.openxmlformats.org/drawingml/2006/main" noGrp="1"/>
          </p:cNvSpPr>
          <p:nvPr/>
        </p:nvSpPr>
        <p:spPr>
          <a:xfrm xmlns:a="http://schemas.openxmlformats.org/drawingml/2006/main">
            <a:off x="3124200" y="5362575"/>
            <a:ext cx="4191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0">
                <a:solidFill>
                  <a:srgbClr val="182C30"/>
                </a:solidFill>
                <a:latin typeface="Arial"/>
                <a:ea typeface="Arial"/>
                <a:cs typeface="Arial"/>
              </a:defRPr>
            </a:pPr>
            <a:r>
              <a:rPr sz="1125" b="0">
                <a:solidFill>
                  <a:srgbClr val="182C30"/>
                </a:solidFill>
                <a:latin typeface="Arial"/>
                <a:ea typeface="Arial"/>
                <a:cs typeface="Arial"/>
              </a:rPr>
              <a:t>Prueba: 3 escenarios sintéticos.</a:t>
            </a:r>
          </a:p>
          <a:p xmlns:a="http://schemas.openxmlformats.org/drawingml/2006/main">
            <a:pPr algn="l">
              <a:defRPr sz="1125" b="0">
                <a:solidFill>
                  <a:srgbClr val="182C30"/>
                </a:solidFill>
                <a:latin typeface="Arial"/>
                <a:ea typeface="Arial"/>
                <a:cs typeface="Arial"/>
              </a:defRPr>
            </a:pPr>
            <a:r>
              <a:rPr sz="1125" b="0">
                <a:solidFill>
                  <a:srgbClr val="182C30"/>
                </a:solidFill>
                <a:latin typeface="Arial"/>
                <a:ea typeface="Arial"/>
                <a:cs typeface="Arial"/>
              </a:rPr>
              <a:t>Esperado: resultado declarado = obtenido.</a:t>
            </a:r>
          </a:p>
        </p:txBody>
      </p:sp>
      <p:sp>
        <p:nvSpPr>
          <p:cNvPr id="44" name="campana-metrica">
            <a:extLst xmlns:a="http://schemas.openxmlformats.org/drawingml/2006/main">
              <a:ext uri="{FF2B5EF4-FFF2-40B4-BE49-F238E27FC236}">
                <a16:creationId xmlns:a16="http://schemas.microsoft.com/office/drawing/2014/main" id="{53D365AD-681C-4E5B-B6CF-A96334092CCF}"/>
              </a:ext>
            </a:extLst>
          </p:cNvPr>
          <p:cNvSpPr>
            <a:spLocks xmlns:a="http://schemas.openxmlformats.org/drawingml/2006/main" noGrp="1"/>
          </p:cNvSpPr>
          <p:nvPr/>
        </p:nvSpPr>
        <p:spPr>
          <a:xfrm xmlns:a="http://schemas.openxmlformats.org/drawingml/2006/main">
            <a:off x="3124200" y="5819775"/>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6776B"/>
                </a:solidFill>
                <a:latin typeface="Arial"/>
                <a:ea typeface="Arial"/>
                <a:cs typeface="Arial"/>
              </a:defRPr>
            </a:pPr>
            <a:r>
              <a:rPr sz="2100" b="1">
                <a:solidFill>
                  <a:srgbClr val="16776B"/>
                </a:solidFill>
                <a:latin typeface="Arial"/>
                <a:ea typeface="Arial"/>
                <a:cs typeface="Arial"/>
              </a:rPr>
              <a:t>63/63</a:t>
            </a:r>
          </a:p>
        </p:txBody>
      </p:sp>
      <p:sp>
        <p:nvSpPr>
          <p:cNvPr id="45" name="campana-descripcion">
            <a:extLst xmlns:a="http://schemas.openxmlformats.org/drawingml/2006/main">
              <a:ext uri="{FF2B5EF4-FFF2-40B4-BE49-F238E27FC236}">
                <a16:creationId xmlns:a16="http://schemas.microsoft.com/office/drawing/2014/main" id="{E5B79578-263C-4B6C-A591-CD550E4D3CD5}"/>
              </a:ext>
            </a:extLst>
          </p:cNvPr>
          <p:cNvSpPr>
            <a:spLocks xmlns:a="http://schemas.openxmlformats.org/drawingml/2006/main" noGrp="1"/>
          </p:cNvSpPr>
          <p:nvPr/>
        </p:nvSpPr>
        <p:spPr>
          <a:xfrm xmlns:a="http://schemas.openxmlformats.org/drawingml/2006/main">
            <a:off x="3124200" y="6172200"/>
            <a:ext cx="419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05" b="1">
                <a:solidFill>
                  <a:srgbClr val="182C30"/>
                </a:solidFill>
                <a:latin typeface="Arial"/>
                <a:ea typeface="Arial"/>
                <a:cs typeface="Arial"/>
              </a:defRPr>
            </a:pPr>
            <a:r>
              <a:rPr sz="1005" b="1">
                <a:solidFill>
                  <a:srgbClr val="182C30"/>
                </a:solidFill>
                <a:latin typeface="Arial"/>
                <a:ea typeface="Arial"/>
                <a:cs typeface="Arial"/>
              </a:rPr>
              <a:t>0 diferencias · 0 errores de contrato</a:t>
            </a:r>
          </a:p>
        </p:txBody>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9a7a39fccd444fd1"/>
          <a:stretch xmlns:a="http://schemas.openxmlformats.org/drawingml/2006/main"/>
        </p:blipFill>
        <p:spPr>
          <a:xfrm xmlns:a="http://schemas.openxmlformats.org/drawingml/2006/main">
            <a:off x="4352925" y="5810307"/>
            <a:ext cx="3028950" cy="144666"/>
          </a:xfrm>
          <a:prstGeom xmlns:a="http://schemas.openxmlformats.org/drawingml/2006/main" prst="rect">
            <a:avLst/>
          </a:prstGeom>
        </p:spPr>
      </p:pic>
      <p:sp>
        <p:nvSpPr>
          <p:cNvPr id="47" name="software-label">
            <a:extLst xmlns:a="http://schemas.openxmlformats.org/drawingml/2006/main">
              <a:ext uri="{FF2B5EF4-FFF2-40B4-BE49-F238E27FC236}">
                <a16:creationId xmlns:a16="http://schemas.microsoft.com/office/drawing/2014/main" id="{3BA4308B-38A9-4E77-A1AF-5464D05CDFB7}"/>
              </a:ext>
            </a:extLst>
          </p:cNvPr>
          <p:cNvSpPr>
            <a:spLocks xmlns:a="http://schemas.openxmlformats.org/drawingml/2006/main" noGrp="1"/>
          </p:cNvSpPr>
          <p:nvPr/>
        </p:nvSpPr>
        <p:spPr>
          <a:xfrm xmlns:a="http://schemas.openxmlformats.org/drawingml/2006/main">
            <a:off x="4352925" y="6010275"/>
            <a:ext cx="30289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03" b="0">
                <a:solidFill>
                  <a:srgbClr val="52686D"/>
                </a:solidFill>
                <a:latin typeface="Arial"/>
                <a:ea typeface="Arial"/>
                <a:cs typeface="Arial"/>
              </a:defRPr>
            </a:pPr>
            <a:r>
              <a:rPr sz="803" b="0">
                <a:solidFill>
                  <a:srgbClr val="52686D"/>
                </a:solidFill>
                <a:latin typeface="Arial"/>
                <a:ea typeface="Arial"/>
                <a:cs typeface="Arial"/>
              </a:rPr>
              <a:t>Software · warning externo Starlette/AnyIO</a:t>
            </a:r>
          </a:p>
        </p:txBody>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95a5961830734a83"/>
          <a:stretch xmlns:a="http://schemas.openxmlformats.org/drawingml/2006/main"/>
        </p:blipFill>
        <p:spPr>
          <a:xfrm xmlns:a="http://schemas.openxmlformats.org/drawingml/2006/main">
            <a:off x="7543800" y="5067300"/>
            <a:ext cx="4067175" cy="1181100"/>
          </a:xfrm>
          <a:prstGeom xmlns:a="http://schemas.openxmlformats.org/drawingml/2006/main" prst="rect">
            <a:avLst/>
          </a:prstGeom>
        </p:spPr>
      </p:pic>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7a257498638d4103"/>
          <a:stretch xmlns:a="http://schemas.openxmlformats.org/drawingml/2006/main"/>
        </p:blipFill>
        <p:spPr>
          <a:xfrm xmlns:a="http://schemas.openxmlformats.org/drawingml/2006/main">
            <a:off x="7549795" y="6257925"/>
            <a:ext cx="4055185" cy="158115"/>
          </a:xfrm>
          <a:prstGeom xmlns:a="http://schemas.openxmlformats.org/drawingml/2006/main" prst="rect">
            <a:avLst/>
          </a:prstGeom>
        </p:spPr>
      </p:pic>
      <p:sp>
        <p:nvSpPr>
          <p:cNvPr id="50" name="limite-cierre">
            <a:extLst xmlns:a="http://schemas.openxmlformats.org/drawingml/2006/main">
              <a:ext uri="{FF2B5EF4-FFF2-40B4-BE49-F238E27FC236}">
                <a16:creationId xmlns:a16="http://schemas.microsoft.com/office/drawing/2014/main" id="{38501C60-D951-46FA-A27C-6B92CB3D0E2D}"/>
              </a:ext>
            </a:extLst>
          </p:cNvPr>
          <p:cNvSpPr>
            <a:spLocks xmlns:a="http://schemas.openxmlformats.org/drawingml/2006/main" noGrp="1"/>
          </p:cNvSpPr>
          <p:nvPr/>
        </p:nvSpPr>
        <p:spPr>
          <a:xfrm xmlns:a="http://schemas.openxmlformats.org/drawingml/2006/main">
            <a:off x="419100" y="6391275"/>
            <a:ext cx="11287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53" b="1">
                <a:solidFill>
                  <a:srgbClr val="173F3B"/>
                </a:solidFill>
                <a:latin typeface="Arial"/>
                <a:ea typeface="Arial"/>
                <a:cs typeface="Arial"/>
              </a:defRPr>
            </a:pPr>
            <a:r>
              <a:rPr sz="953" b="1">
                <a:solidFill>
                  <a:srgbClr val="173F3B"/>
                </a:solidFill>
                <a:latin typeface="Arial"/>
                <a:ea typeface="Arial"/>
                <a:cs typeface="Arial"/>
              </a:rPr>
              <a:t>Falta: interfaz/asistente conversacional con IA explicativa, validación final y cierre documental.</a:t>
            </a:r>
          </a:p>
        </p:txBody>
      </p:sp>
    </p:spTree>
    <p:extLst>
      <p:ext uri="{BB962C8B-B14F-4D97-AF65-F5344CB8AC3E}">
        <p14:creationId xmlns:p14="http://schemas.microsoft.com/office/powerpoint/2010/main" val="10960217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2026-10-02T02:09:42.9000000Z</dcterms:created>
  <dcterms:modified xsi:type="dcterms:W3CDTF">2026-10-02T02:09:42.9010000Z</dcterms:modified>
</coreProperties>
</file>